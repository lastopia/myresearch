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My project examines whether structural changes inside a Transformer can make its representations easier to understand, separate, and intervene on. I focused on four locations: positional encoding, sparse routing through Attention and the FFN, relevance-aware distance bias, and explicit concept slots projected from the FFN intermediate activation. The experiments did not all produce the result I initially expected, but together they narrowed the design space and identified one comparatively simple concept interface that is worth developing further.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interpretability, It is not enough to just draw an Attention map or attach a label to a neuron. I want an internal variable that can be read consistently, checked against the model's computation, changed in a controlled way, and audited by another researcher. This gives four practical requirements: the information must be observable, understandable, intervenable, and auditable. A probe score, an Attention heatmap, or a single SAE metric addresses only part of that problem.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set of criteria concerns the representation itself. Decodability asks whether a concept can be recovered. Human understanding asks whether the feature has a stable description. Monosemanticity and identity stability ask whether that description remains recognisable across contexts and random seeds. Hierarchy asks whether lower-level concepts can combine into higher-level ones through a traceable structure. These properties are related, but they are not interchangeable. A feature can be easy to decode and still be unstable, duplicated, or strongly dependent on the dataset used to find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second set asks whether the explanation matters to the model. Faithfulness requires the explanatory variable to participate in the original computation. Causal controllability requires a targeted intervention to change the intended output without large side effects. Auditability adds coverage, stability, and a reproducible record of the analysis. I also track engineering cost, because an interface that cannot be run is difficult to use, although efficiency is not itself interpretability. Sparsity is treated in the same way: it may help analysis, but it does not guarantee a clean semantic boundary.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diagram locates the interventions inside one Transformer block. Token embeddings and positional encoding establish the initial representation. Attention moves information across tokens. The FFN then expands each contextualised token, applies a nonlinearity, and writes the result back through the down-projection. Experiments 1 and 3 mainly change the positional and Attention path. Experiments 2 and 4 examine the relation between Attention and the FFN intermediate activation. I use this simplified flow throughout the talk so that each structural change can be tied to a specific part of the computation.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found it useful to separate the literature into two routes. Post-hoc methods train the language model first and then analyse it with probes, attribution, SAEs, Transcoders, or circuit tracing. They preserve the original model, but the resulting explanation is still an approximation. Intrinsic methods place a concept, codebook, modular route, or sparse unit inside the trained computation. That makes the interface more direct, but it can reduce capability or be bypassed. My experiments follow the intrinsic route, while post-hoc and causal tools are used to evaluate the proposed structures.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post-hoc side, the field can now recover information, describe features, test causal effects, and trace some cross-layer paths. Probes and concept directions test decodability. SAEs and automated interpretation provide candidate feature descriptions. Activation patching and causal tracing test whether those features affect the output. Transcoders extend the analysis across layers. The remaining difficulty is that reconstruction does not show that the original model used the reconstructed features as its own computational units. Feature splitting, absorption, and instability across seeds make that distinction important.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Intrinsic approaches place the explanatory interface at different points in the model. Concept Bottleneck Models predict human concepts before the task output. Codebooks create discrete internal addresses. Modular and sparse routing divide computation across units or experts. Other work changes Attention or positional priors. These methods are not direct substitutes because they intervene at different stages. What is still often missing is a controlled evaluation that checks language performance, semantic quality, causal behaviour, and practical cost together.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review left four questions that could be tested directly. Does separating content and position improve later SAE representations? Does structural sparsity improve semantic and causal properties rather than only compression? Can a relevant distant key be exempted from a monotonic distance penalty without creating new failure modes? And do FFN-derived concept slots benefit from an additional cross-token communication mechanism? For each question, I use matched baselines, independent model seeds where available, and a separate causal or semantic check rather than relying on one proxy metric.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four questions became four experiments. The first starts with positional encoding. The second changes sparse routing in Attention and the FFN. The third develops a relevance-aware version of CABLE. The fourth projects fixed-identity concept slots from the FFN intermediate activation and compares a simple projector with an additional concept Attention mechanism. The common rule is to add one main structural variable at a time. A more complicated mechanism is only useful if it produces a benefit that the simpler matched baseline does not already provide.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started with the relation between content and position. In RoPE, content phase and relative position contribute to the same trigonometric score. PoPE changes that relation so that content is retained in the magnitude while positional phase and head-specific offsets control direction. My hypothesis was that, if this coupling was an important source of feature mixing, PoPE would improve SAE reconstruction, cross-seed stability, and token-identity preservation. The experiment therefore tests not only whether the diagnostic correlation falls, but whether any downstream representation benefit appears.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compared five positional mechanisms under the same model scale, OpenWebText data, sequence length, training steps, and token budget. Three model seeds were trained, and SAEs were fitted at blocks 2, 6, and 10. I evaluated model loss and perplexity, content–position relationships, Attention-distance patterns, SAE reconstruction, cross-seed matching, and token-identity preservation. The success condition was deliberately strict: a lower content–position correlation would count only if it was accompanied by a language-model, reconstruction, or semantic-stability benefit.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result was clear. PoPE produced the lowest measured content–position score correlation, so the structural change did affect the diagnostic. However, its perplexity was worse than RoPE, and its SAE explained variance was also lower. In other words, the local separation did not survive as a useful downstream benefit. My interpretation is that position and content can mix again through later Attention, residual, and FFN computation. This makes positional encoding an indirect interpretability lever rather than a reliable intervention point on its own.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While comparing the positional mechanisms, I found a useful difference between ALiBi and CABLE. ALiBi fixes the relative slopes assigned to its heads, so the ordering of local and long-range heads stays almost unchanged across layers. CABLE allows those distance roles to reorganise with context and depth. Each panel uses its own vertical scale, so the point is the head ordering and cross-layer consistency, not the absolute bar height. This does not establish interpretability, but it motivated the next question about adaptive distance priors and remote information.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experiment also set a boundary on the conclusion. I measured final model and SAE outcomes, but I did not trace the exact layer at which content and position mixed again. The model is relatively small, the context length is 1024, and there are three model seeds. The correlation measure also covers only one part of semantic structure. The next step is therefore to trace position and content through Attention, the FFN, and the residual stream, and then repeat the comparison at longer context lengths and larger scales.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second experiment moves from position to structural sparsity. The working hypothesis is that fewer active routes and FFN units may reduce superposition and make features easier for an SAE to separate. I sparsify both cross-token routing and within-token FFN activation. Top-K selection creates an immediate risk, however: it can restrict capacity and introduce an expensive ranking step. For that reason, activation density is not treated as the final result. Compression, semantic quality, causal locality, language performance, and runtime are evaluated separately.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this experiment I used a three-by-two design. Base, SP, and fast-SP were each paired with RoPE and CABLE. Seeds 41, 42, and 43 produced 18 language models and 90 fitted SAEs. The primary SAE setting fixes k at 64. I report FFN activation density, SAE NMSE and loss recovery, concept AUPRC and hard negatives, causal necessity and sufficiency, validation cross-entropy, training time, and throughput. The statistical unit is the independently trained language-model seed, with FDR correction for multiple comparisons.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 did make the activation much sparser, and SAE NMSE improved relative to Base-RoPE. Under this SAE setting, the representation was easier to compress. The semantic and causal measures did not improve consistently, and the training time rose from 5,771 seconds to 19,161 seconds. The implementation still performs dense projections and ranking operations, so a lower non-zero rate did not become a speedup. I therefore separate five claims that are often conflated: sparsity, reconstruction, monosemanticity, causal locality, and acceleration.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three reasons not to overstate this result. First, each language model currently has only one SAE seed, so SAE-training variability is not estimated. Second, the sparse activations do not skip the dense matrix computation. Third, the training objective controls the number of active units rather than their semantic boundaries or causal side effects. A stronger follow-up would add both model and SAE seeds, replace global ranking with learnable thresholds or block predictors, use kernels that genuinely skip inactive units, and train against direct semantic and causal objectives.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ALiBi and CABLE comparison led to the third experiment. CABLE makes distance increments context-dependent, but the accumulated positional penalty remains monotonic. A distant key can still win through its content score, although it must overcome a larger penalty. RA-CABLE adds a relevance gate derived from the actual query–key score. When the gate is near zero, the CABLE penalty remains. When it approaches one, the penalty is relaxed towards zero; the positional mechanism never gives a positive reward. The central question is whether that exemption helps relevant remote information without creating false exemptions or Attention sinks.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runs are not yet complete, so I am only presenting the design and the success criteria here. The planned comparison covers RoPE, ALiBi, CABLE, and RA-CABLE at GPT-2 Small scale, with one billion tokens per model and eight seeds. Evaluation lengths range from 1024 to 8192 and include natural text, QASPER, and controlled remote retrieval with nearby distractors. RA-CABLE must beat Base-CABLE on retrieval and relevant Attention advantage while controlling false exemptions, sinks, short-context perplexity, runtime, and memory.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Because the experiment is unfinished, the next step is evidence collection rather than interpretation. The relevance gate may amplify spurious query–key correlations, frequent-token bias, or an existing Attention sink. Applying a gate to the full Attention matrix may also add elementwise computation and memory. I will therefore report correct and false exemptions together, not only average distance. The main comparison is RA-CABLE against Base-CABLE under matched initialisation and training, with Base-RoPE retained as a reference. The hypothesis is supported only if task, semantic, short-context, and cost criteria improve together.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fourth experiment started from a question about where a higher-level concept could be represented. A token such as bread does not have a fixed France attribute. COUNTRY equals France becomes relevant only after the surrounding tokens establish that relation. The representation must therefore include context. At the same time, the FFN intermediate activation U is wider than the residual stream and sits after nonlinear expansion but before down-projection. I use U as the candidate space from which fixed-identity concept slots are projected, then test whether those slots need controlled cross-token communication before write-back.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Traditional Attention has already contextualised each token in the residual stream. The FFN then expands that contextualised representation into U before compressing it back through the down-projection. I project two fixed slots, COUNTRY and COLOR, from the complete U. France is useful only when it is attached to the correct entity, and Red is useful only when it is bound to the correct object. This gives a concrete interface that can be read, zeroed, and swapped, while keeping the projection point tied to a specific stage of the model's computation.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used three matched variants to isolate the value of extra communication. Standard is an ordinary Transformer. Concept Projector produces 64-dimensional COUNTRY and COLOR slots from U and processes only the current token. Concept Bus V2 uses the same projections, slot widths, readouts, write-back, and training objectives, but adds per-slot causal Attention over current and previous tokens. Projector and V2 have the same parameter count. The main independent variable is therefore the cross-token communication added before the FFN down-projection.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DualTag lets me control COUNTRY, COLOR, and the evidence relation between them. Standard, Projector, and Bus V2 were trained with seeds 11, 22, and 33. Projector and V2 match in parameters, projections, and objectives. I evaluate Exact, COUNTRY, and COLOR accuracy; concept Macro-F1 and slot identity; causal necessity through zeroing; counterfactual swap success and side effects; and parameter, MAC, runtime, throughput, and memory cost. V2 is useful only if it improves the task, concept quality, or causal locality over the simpler Projector.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simplest model won this comparison. Mean Exact accuracy increased from 68.525 percent for Standard to 79.720 percent for Projector, while Bus V2 reached 71.623 percent. Relative to the matched Projector, V2 lost 8.097 percentage points on Exact, 8.873 on COUNTRY, and 6.011 on concept Macro-F1. COLOR changed very little. All three paired seeds moved in the same direction, although n equals three gives the exact tests low power, and none of the comparisons remains significant after Holm correction.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causal tests point in the same direction. Zeroing the complete concept interface reduced Exact accuracy by 12.900 points for Projector and 9.317 for V2, which shows stronger reliance on the Projector interface. COUNTRY swap success was 98.721 percent for Projector and 87.340 percent for V2. The non-target effect on COLOR was also smaller for Projector. The fixed slots therefore formed a readable, zeroable, and swappable interface, but the additional cross-token Attention did not improve necessity or locality in this configuration.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see the Projector result as the more useful outcome of Experiment 4. The present evidence comes from a controlled two-concept task and three model seeds, so it does not yet establish behaviour on open text or larger models. My next step would be to keep the simple Projector as the baseline, add more concepts and real-text evaluations, and test leakage, coverage, identity stability, and hierarchical composition. If the concept bus is revisited, communication range, slot width, and write-back should be added one at a time. Thank you, and I welcome your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6.sv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1714CD18-7F5E-4B4D-A6DA-8004E538E767}"/>
              </a:ext>
            </a:extLst>
          </p:cNvPr>
          <p:cNvSpPr>
            <a:spLocks noGrp="1"/>
          </p:cNvSpPr>
          <p:nvPr/>
        </p:nvSpPr>
        <p:spPr>
          <a:xfrm>
            <a:off x="0" y="0"/>
            <a:ext cx="3333750" cy="6858000"/>
          </a:xfrm>
          <a:prstGeom prst="rect">
            <a:avLst/>
          </a:prstGeom>
          <a:solidFill>
            <a:srgbClr val="111A2E"/>
          </a:solidFill>
          <a:ln w="0">
            <a:solidFill>
              <a:srgbClr val="111A2E"/>
            </a:solidFill>
            <a:prstDash val="solid"/>
          </a:ln>
        </p:spPr>
        <p:txBody>
          <a:bodyPr/>
          <a:lstStyle/>
          <a:p>
            <a:endParaRPr/>
          </a:p>
        </p:txBody>
      </p:sp>
      <p:sp>
        <p:nvSpPr>
          <p:cNvPr id="2" name="矩形 1">
            <a:extLst>
              <a:ext uri="{FF2B5EF4-FFF2-40B4-BE49-F238E27FC236}">
                <a16:creationId xmlns:a16="http://schemas.microsoft.com/office/drawing/2014/main" id="{A9CB2A31-AFDC-4520-B094-E5F1B85B3654}"/>
              </a:ext>
            </a:extLst>
          </p:cNvPr>
          <p:cNvSpPr>
            <a:spLocks noGrp="1"/>
          </p:cNvSpPr>
          <p:nvPr/>
        </p:nvSpPr>
        <p:spPr>
          <a:xfrm>
            <a:off x="533400" y="685800"/>
            <a:ext cx="704850" cy="66675"/>
          </a:xfrm>
          <a:prstGeom prst="rect">
            <a:avLst/>
          </a:prstGeom>
          <a:solidFill>
            <a:srgbClr val="6EA8FE"/>
          </a:solidFill>
          <a:ln w="0">
            <a:solidFill>
              <a:srgbClr val="6EA8FE"/>
            </a:solidFill>
            <a:prstDash val="solid"/>
          </a:ln>
        </p:spPr>
        <p:txBody>
          <a:bodyPr/>
          <a:lstStyle/>
          <a:p>
            <a:endParaRPr/>
          </a:p>
        </p:txBody>
      </p:sp>
      <p:sp>
        <p:nvSpPr>
          <p:cNvPr id="3" name="矩形 2">
            <a:extLst>
              <a:ext uri="{FF2B5EF4-FFF2-40B4-BE49-F238E27FC236}">
                <a16:creationId xmlns:a16="http://schemas.microsoft.com/office/drawing/2014/main" id="{F0BD0E01-0C39-4264-B398-54579994C22C}"/>
              </a:ext>
            </a:extLst>
          </p:cNvPr>
          <p:cNvSpPr>
            <a:spLocks noGrp="1"/>
          </p:cNvSpPr>
          <p:nvPr/>
        </p:nvSpPr>
        <p:spPr>
          <a:xfrm>
            <a:off x="533400" y="1028700"/>
            <a:ext cx="2286000" cy="666750"/>
          </a:xfrm>
          <a:prstGeom prst="rect">
            <a:avLst/>
          </a:prstGeom>
          <a:noFill/>
          <a:ln w="0">
            <a:noFill/>
            <a:prstDash val="solid"/>
          </a:ln>
        </p:spPr>
        <p:txBody>
          <a:bodyPr lIns="0" tIns="0" rIns="0" bIns="0" anchor="t">
            <a:normAutofit lnSpcReduction="10000"/>
          </a:bodyPr>
          <a:lstStyle/>
          <a:p>
            <a:pPr algn="l">
              <a:buNone/>
              <a:defRPr sz="1275" b="1">
                <a:solidFill>
                  <a:srgbClr val="C9D4E5"/>
                </a:solidFill>
                <a:latin typeface="Aptos"/>
                <a:ea typeface="Aptos"/>
                <a:cs typeface="Aptos"/>
              </a:defRPr>
            </a:pPr>
            <a:r>
              <a:rPr sz="1600" b="1">
                <a:solidFill>
                  <a:srgbClr val="C9D4E5"/>
                </a:solidFill>
                <a:latin typeface="Aptos"/>
                <a:ea typeface="Aptos"/>
                <a:cs typeface="Aptos"/>
              </a:rPr>
              <a:t>COMP9992</a:t>
            </a:r>
          </a:p>
          <a:p>
            <a:pPr algn="l">
              <a:buNone/>
              <a:defRPr sz="1275" b="1">
                <a:solidFill>
                  <a:srgbClr val="C9D4E5"/>
                </a:solidFill>
                <a:latin typeface="Aptos"/>
                <a:ea typeface="Aptos"/>
                <a:cs typeface="Aptos"/>
              </a:defRPr>
            </a:pPr>
            <a:r>
              <a:rPr sz="1600" b="1">
                <a:solidFill>
                  <a:srgbClr val="C9D4E5"/>
                </a:solidFill>
                <a:latin typeface="Aptos"/>
                <a:ea typeface="Aptos"/>
                <a:cs typeface="Aptos"/>
              </a:rPr>
              <a:t>Yutong Zhang</a:t>
            </a:r>
          </a:p>
          <a:p>
            <a:pPr algn="l">
              <a:buNone/>
              <a:defRPr sz="1275" b="1">
                <a:solidFill>
                  <a:srgbClr val="C9D4E5"/>
                </a:solidFill>
                <a:latin typeface="Aptos"/>
                <a:ea typeface="Aptos"/>
                <a:cs typeface="Aptos"/>
              </a:defRPr>
            </a:pPr>
            <a:r>
              <a:rPr sz="1600" b="1">
                <a:solidFill>
                  <a:srgbClr val="C9D4E5"/>
                </a:solidFill>
                <a:latin typeface="Aptos"/>
                <a:ea typeface="Aptos"/>
                <a:cs typeface="Aptos"/>
              </a:rPr>
              <a:t>Z5526932</a:t>
            </a:r>
          </a:p>
        </p:txBody>
      </p:sp>
      <p:sp>
        <p:nvSpPr>
          <p:cNvPr id="4" name="矩形 3">
            <a:extLst>
              <a:ext uri="{FF2B5EF4-FFF2-40B4-BE49-F238E27FC236}">
                <a16:creationId xmlns:a16="http://schemas.microsoft.com/office/drawing/2014/main" id="{31D41F2A-06B6-4706-B264-5ACB3FC17CE5}"/>
              </a:ext>
            </a:extLst>
          </p:cNvPr>
          <p:cNvSpPr>
            <a:spLocks noGrp="1"/>
          </p:cNvSpPr>
          <p:nvPr/>
        </p:nvSpPr>
        <p:spPr>
          <a:xfrm>
            <a:off x="3943350" y="1257299"/>
            <a:ext cx="7239000" cy="2298701"/>
          </a:xfrm>
          <a:prstGeom prst="rect">
            <a:avLst/>
          </a:prstGeom>
          <a:noFill/>
          <a:ln w="0">
            <a:noFill/>
            <a:prstDash val="solid"/>
          </a:ln>
        </p:spPr>
        <p:txBody>
          <a:bodyPr lIns="0" tIns="0" rIns="0" bIns="0" anchor="t">
            <a:normAutofit fontScale="98333"/>
          </a:bodyPr>
          <a:lstStyle/>
          <a:p>
            <a:pPr algn="l">
              <a:buNone/>
              <a:defRPr sz="3750" b="1">
                <a:solidFill>
                  <a:srgbClr val="111827"/>
                </a:solidFill>
                <a:latin typeface="Aptos"/>
                <a:ea typeface="Aptos"/>
                <a:cs typeface="Aptos"/>
              </a:defRPr>
            </a:pPr>
            <a:r>
              <a:rPr sz="4400">
                <a:solidFill>
                  <a:srgbClr val="111827"/>
                </a:solidFill>
                <a:latin typeface="Aptos"/>
                <a:ea typeface="Aptos"/>
                <a:cs typeface="Aptos"/>
              </a:rPr>
              <a:t>Structural Interventions for</a:t>
            </a:r>
          </a:p>
          <a:p>
            <a:pPr algn="l">
              <a:buNone/>
              <a:defRPr sz="3750" b="1">
                <a:solidFill>
                  <a:srgbClr val="111827"/>
                </a:solidFill>
                <a:latin typeface="Aptos"/>
                <a:ea typeface="Aptos"/>
                <a:cs typeface="Aptos"/>
              </a:defRPr>
            </a:pPr>
            <a:r>
              <a:rPr sz="4400">
                <a:solidFill>
                  <a:srgbClr val="111827"/>
                </a:solidFill>
                <a:latin typeface="Aptos"/>
                <a:ea typeface="Aptos"/>
                <a:cs typeface="Aptos"/>
              </a:rPr>
              <a:t>Intrinsic Interpretability</a:t>
            </a:r>
          </a:p>
          <a:p>
            <a:pPr algn="l">
              <a:buNone/>
              <a:defRPr sz="3750" b="1">
                <a:solidFill>
                  <a:srgbClr val="111827"/>
                </a:solidFill>
                <a:latin typeface="Aptos"/>
                <a:ea typeface="Aptos"/>
                <a:cs typeface="Aptos"/>
              </a:defRPr>
            </a:pPr>
            <a:r>
              <a:rPr sz="4400">
                <a:solidFill>
                  <a:srgbClr val="111827"/>
                </a:solidFill>
                <a:latin typeface="Aptos"/>
                <a:ea typeface="Aptos"/>
                <a:cs typeface="Aptos"/>
              </a:rPr>
              <a:t>in Language Models</a:t>
            </a:r>
          </a:p>
        </p:txBody>
      </p:sp>
      <p:sp>
        <p:nvSpPr>
          <p:cNvPr id="5" name="矩形 4">
            <a:extLst>
              <a:ext uri="{FF2B5EF4-FFF2-40B4-BE49-F238E27FC236}">
                <a16:creationId xmlns:a16="http://schemas.microsoft.com/office/drawing/2014/main" id="{13F6D9AC-B9D4-41AE-8891-830D2EA9E865}"/>
              </a:ext>
            </a:extLst>
          </p:cNvPr>
          <p:cNvSpPr>
            <a:spLocks noGrp="1"/>
          </p:cNvSpPr>
          <p:nvPr/>
        </p:nvSpPr>
        <p:spPr>
          <a:xfrm>
            <a:off x="4083050" y="4133274"/>
            <a:ext cx="6667500" cy="419100"/>
          </a:xfrm>
          <a:prstGeom prst="rect">
            <a:avLst/>
          </a:prstGeom>
          <a:noFill/>
          <a:ln w="0">
            <a:noFill/>
            <a:prstDash val="solid"/>
          </a:ln>
        </p:spPr>
        <p:txBody>
          <a:bodyPr lIns="0" tIns="0" rIns="0" bIns="0" anchor="t">
            <a:noAutofit/>
          </a:bodyPr>
          <a:lstStyle/>
          <a:p>
            <a:pPr algn="l">
              <a:buNone/>
              <a:defRPr sz="1875" b="1">
                <a:solidFill>
                  <a:srgbClr val="2457D6"/>
                </a:solidFill>
                <a:latin typeface="Aptos"/>
                <a:ea typeface="Aptos"/>
                <a:cs typeface="Aptos"/>
              </a:defRPr>
            </a:pPr>
            <a:r>
              <a:rPr sz="2400" b="1">
                <a:solidFill>
                  <a:srgbClr val="2457D6"/>
                </a:solidFill>
                <a:latin typeface="Aptos"/>
                <a:ea typeface="Aptos"/>
                <a:cs typeface="Aptos"/>
              </a:rPr>
              <a:t>From positional encoding and structural sparsity to explicit concept interfaces</a:t>
            </a:r>
          </a:p>
        </p:txBody>
      </p:sp>
    </p:spTree>
    <p:extLst>
      <p:ext uri="{BB962C8B-B14F-4D97-AF65-F5344CB8AC3E}">
        <p14:creationId xmlns:p14="http://schemas.microsoft.com/office/powerpoint/2010/main" val="274168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0283260C-B275-454B-8D61-66E591AB6CF3}"/>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125" b="1">
                <a:solidFill>
                  <a:srgbClr val="2457D6"/>
                </a:solidFill>
                <a:latin typeface="Aptos"/>
                <a:ea typeface="Aptos"/>
                <a:cs typeface="Aptos"/>
              </a:rPr>
              <a:t>Conceptual foundation</a:t>
            </a:r>
          </a:p>
        </p:txBody>
      </p:sp>
      <p:sp>
        <p:nvSpPr>
          <p:cNvPr id="2" name="矩形 1">
            <a:extLst>
              <a:ext uri="{FF2B5EF4-FFF2-40B4-BE49-F238E27FC236}">
                <a16:creationId xmlns:a16="http://schemas.microsoft.com/office/drawing/2014/main" id="{764D3C9A-D774-4A28-A361-4B9F4D110AA0}"/>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What does interpretability mean for a language model?</a:t>
            </a:r>
          </a:p>
        </p:txBody>
      </p:sp>
      <p:sp>
        <p:nvSpPr>
          <p:cNvPr id="3" name="直接连接符 2">
            <a:extLst>
              <a:ext uri="{FF2B5EF4-FFF2-40B4-BE49-F238E27FC236}">
                <a16:creationId xmlns:a16="http://schemas.microsoft.com/office/drawing/2014/main" id="{56BB943F-357E-4936-9D38-3824D289F1B2}"/>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01C1C5FD-0C19-49CD-B712-2853F949EBA0}"/>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02</a:t>
            </a:r>
          </a:p>
        </p:txBody>
      </p:sp>
      <p:sp>
        <p:nvSpPr>
          <p:cNvPr id="5" name="矩形 4">
            <a:extLst>
              <a:ext uri="{FF2B5EF4-FFF2-40B4-BE49-F238E27FC236}">
                <a16:creationId xmlns:a16="http://schemas.microsoft.com/office/drawing/2014/main" id="{843FBFD5-BF9B-44F2-97B7-073B8C642D55}"/>
              </a:ext>
            </a:extLst>
          </p:cNvPr>
          <p:cNvSpPr>
            <a:spLocks noGrp="1"/>
          </p:cNvSpPr>
          <p:nvPr/>
        </p:nvSpPr>
        <p:spPr>
          <a:xfrm>
            <a:off x="609600" y="1562100"/>
            <a:ext cx="10934700" cy="1066800"/>
          </a:xfrm>
          <a:prstGeom prst="rect">
            <a:avLst/>
          </a:prstGeom>
          <a:solidFill>
            <a:srgbClr val="111A2E"/>
          </a:solidFill>
          <a:ln w="0">
            <a:solidFill>
              <a:srgbClr val="111A2E"/>
            </a:solidFill>
            <a:prstDash val="solid"/>
          </a:ln>
        </p:spPr>
        <p:txBody>
          <a:bodyPr/>
          <a:lstStyle/>
          <a:p>
            <a:endParaRPr/>
          </a:p>
        </p:txBody>
      </p:sp>
      <p:sp>
        <p:nvSpPr>
          <p:cNvPr id="6" name="矩形 5">
            <a:extLst>
              <a:ext uri="{FF2B5EF4-FFF2-40B4-BE49-F238E27FC236}">
                <a16:creationId xmlns:a16="http://schemas.microsoft.com/office/drawing/2014/main" id="{FF124C76-1D68-4DE3-BE81-FD8E5959599A}"/>
              </a:ext>
            </a:extLst>
          </p:cNvPr>
          <p:cNvSpPr>
            <a:spLocks noGrp="1"/>
          </p:cNvSpPr>
          <p:nvPr/>
        </p:nvSpPr>
        <p:spPr>
          <a:xfrm>
            <a:off x="895350" y="1838325"/>
            <a:ext cx="10363200" cy="533400"/>
          </a:xfrm>
          <a:prstGeom prst="rect">
            <a:avLst/>
          </a:prstGeom>
          <a:noFill/>
          <a:ln w="0">
            <a:noFill/>
            <a:prstDash val="solid"/>
          </a:ln>
        </p:spPr>
        <p:txBody>
          <a:bodyPr lIns="0" tIns="0" rIns="0" bIns="0" anchor="t">
            <a:noAutofit/>
          </a:bodyPr>
          <a:lstStyle/>
          <a:p>
            <a:pPr algn="ctr">
              <a:buNone/>
              <a:defRPr sz="1875" b="1">
                <a:solidFill>
                  <a:srgbClr val="FFFFFF"/>
                </a:solidFill>
                <a:latin typeface="Aptos"/>
                <a:ea typeface="Aptos"/>
                <a:cs typeface="Aptos"/>
              </a:defRPr>
            </a:pPr>
            <a:r>
              <a:rPr b="1">
                <a:solidFill>
                  <a:srgbClr val="FFFFFF"/>
                </a:solidFill>
                <a:latin typeface="Aptos"/>
                <a:ea typeface="Aptos"/>
                <a:cs typeface="Aptos"/>
              </a:rPr>
              <a:t>Interpretability is not merely visualising internal values. It means turning model computation into variables and relations that can be understood, validated, intervened on, and audited.</a:t>
            </a:r>
          </a:p>
        </p:txBody>
      </p:sp>
      <p:sp>
        <p:nvSpPr>
          <p:cNvPr id="7" name="矩形 6">
            <a:extLst>
              <a:ext uri="{FF2B5EF4-FFF2-40B4-BE49-F238E27FC236}">
                <a16:creationId xmlns:a16="http://schemas.microsoft.com/office/drawing/2014/main" id="{19ED3928-C497-4601-A66B-D05F777DB81F}"/>
              </a:ext>
            </a:extLst>
          </p:cNvPr>
          <p:cNvSpPr>
            <a:spLocks noGrp="1"/>
          </p:cNvSpPr>
          <p:nvPr/>
        </p:nvSpPr>
        <p:spPr>
          <a:xfrm>
            <a:off x="628650" y="2996590"/>
            <a:ext cx="2495550" cy="2209800"/>
          </a:xfrm>
          <a:prstGeom prst="rect">
            <a:avLst/>
          </a:prstGeom>
          <a:solidFill>
            <a:srgbClr val="FFFFFF"/>
          </a:solidFill>
          <a:ln w="9525">
            <a:solidFill>
              <a:srgbClr val="D7DEE8"/>
            </a:solidFill>
            <a:prstDash val="solid"/>
          </a:ln>
        </p:spPr>
        <p:txBody>
          <a:bodyPr/>
          <a:lstStyle/>
          <a:p>
            <a:endParaRPr/>
          </a:p>
        </p:txBody>
      </p:sp>
      <p:sp>
        <p:nvSpPr>
          <p:cNvPr id="8" name="矩形 7">
            <a:extLst>
              <a:ext uri="{FF2B5EF4-FFF2-40B4-BE49-F238E27FC236}">
                <a16:creationId xmlns:a16="http://schemas.microsoft.com/office/drawing/2014/main" id="{46237C9C-8463-4413-9AAA-FEDDBE3AFDAC}"/>
              </a:ext>
            </a:extLst>
          </p:cNvPr>
          <p:cNvSpPr>
            <a:spLocks noGrp="1"/>
          </p:cNvSpPr>
          <p:nvPr/>
        </p:nvSpPr>
        <p:spPr>
          <a:xfrm>
            <a:off x="609600" y="3143250"/>
            <a:ext cx="2495550" cy="76200"/>
          </a:xfrm>
          <a:prstGeom prst="rect">
            <a:avLst/>
          </a:prstGeom>
          <a:solidFill>
            <a:srgbClr val="2457D6"/>
          </a:solidFill>
          <a:ln w="0">
            <a:solidFill>
              <a:srgbClr val="2457D6"/>
            </a:solidFill>
            <a:prstDash val="solid"/>
          </a:ln>
        </p:spPr>
        <p:txBody>
          <a:bodyPr/>
          <a:lstStyle/>
          <a:p>
            <a:endParaRPr/>
          </a:p>
        </p:txBody>
      </p:sp>
      <p:sp>
        <p:nvSpPr>
          <p:cNvPr id="9" name="矩形 8">
            <a:extLst>
              <a:ext uri="{FF2B5EF4-FFF2-40B4-BE49-F238E27FC236}">
                <a16:creationId xmlns:a16="http://schemas.microsoft.com/office/drawing/2014/main" id="{E07DA6A1-73E8-45C8-9600-496CEAB52014}"/>
              </a:ext>
            </a:extLst>
          </p:cNvPr>
          <p:cNvSpPr>
            <a:spLocks noGrp="1"/>
          </p:cNvSpPr>
          <p:nvPr/>
        </p:nvSpPr>
        <p:spPr>
          <a:xfrm>
            <a:off x="819150" y="3476625"/>
            <a:ext cx="2076450" cy="361950"/>
          </a:xfrm>
          <a:prstGeom prst="rect">
            <a:avLst/>
          </a:prstGeom>
          <a:noFill/>
          <a:ln w="0">
            <a:noFill/>
            <a:prstDash val="solid"/>
          </a:ln>
        </p:spPr>
        <p:txBody>
          <a:bodyPr lIns="0" tIns="0" rIns="0" bIns="0" anchor="t">
            <a:normAutofit/>
          </a:bodyPr>
          <a:lstStyle/>
          <a:p>
            <a:pPr algn="l">
              <a:buNone/>
              <a:defRPr sz="1875" b="1">
                <a:solidFill>
                  <a:srgbClr val="2457D6"/>
                </a:solidFill>
                <a:latin typeface="Aptos"/>
                <a:ea typeface="Aptos"/>
                <a:cs typeface="Aptos"/>
              </a:defRPr>
            </a:pPr>
            <a:r>
              <a:rPr sz="1875" b="1">
                <a:solidFill>
                  <a:srgbClr val="2457D6"/>
                </a:solidFill>
                <a:latin typeface="Aptos"/>
                <a:ea typeface="Aptos"/>
                <a:cs typeface="Aptos"/>
              </a:rPr>
              <a:t>Observable</a:t>
            </a:r>
          </a:p>
        </p:txBody>
      </p:sp>
      <p:sp>
        <p:nvSpPr>
          <p:cNvPr id="10" name="矩形 9">
            <a:extLst>
              <a:ext uri="{FF2B5EF4-FFF2-40B4-BE49-F238E27FC236}">
                <a16:creationId xmlns:a16="http://schemas.microsoft.com/office/drawing/2014/main" id="{C7F5174F-773A-4504-8633-823C5088752E}"/>
              </a:ext>
            </a:extLst>
          </p:cNvPr>
          <p:cNvSpPr>
            <a:spLocks noGrp="1"/>
          </p:cNvSpPr>
          <p:nvPr/>
        </p:nvSpPr>
        <p:spPr>
          <a:xfrm>
            <a:off x="838200" y="3965662"/>
            <a:ext cx="2076450" cy="800100"/>
          </a:xfrm>
          <a:prstGeom prst="rect">
            <a:avLst/>
          </a:prstGeom>
          <a:noFill/>
          <a:ln w="0">
            <a:noFill/>
            <a:prstDash val="solid"/>
          </a:ln>
        </p:spPr>
        <p:txBody>
          <a:bodyPr lIns="0" tIns="0" rIns="0" bIns="0" anchor="t">
            <a:noAutofit/>
          </a:bodyPr>
          <a:lstStyle/>
          <a:p>
            <a:pPr algn="l">
              <a:buNone/>
              <a:defRPr sz="1350" b="0">
                <a:solidFill>
                  <a:srgbClr val="5B6472"/>
                </a:solidFill>
                <a:latin typeface="Aptos"/>
                <a:ea typeface="Aptos"/>
                <a:cs typeface="Aptos"/>
              </a:defRPr>
            </a:pPr>
            <a:r>
              <a:rPr sz="1600" b="0">
                <a:solidFill>
                  <a:srgbClr val="5B6472"/>
                </a:solidFill>
                <a:latin typeface="Aptos"/>
                <a:ea typeface="Aptos"/>
                <a:cs typeface="Aptos"/>
              </a:rPr>
              <a:t>Information can be decoded, or a structural pattern can be observed</a:t>
            </a:r>
          </a:p>
        </p:txBody>
      </p:sp>
      <p:sp>
        <p:nvSpPr>
          <p:cNvPr id="11" name="矩形 10">
            <a:extLst>
              <a:ext uri="{FF2B5EF4-FFF2-40B4-BE49-F238E27FC236}">
                <a16:creationId xmlns:a16="http://schemas.microsoft.com/office/drawing/2014/main" id="{73E05D8B-DE3A-4F91-B983-B09B8992E217}"/>
              </a:ext>
            </a:extLst>
          </p:cNvPr>
          <p:cNvSpPr>
            <a:spLocks noGrp="1"/>
          </p:cNvSpPr>
          <p:nvPr/>
        </p:nvSpPr>
        <p:spPr>
          <a:xfrm>
            <a:off x="3352800" y="3143250"/>
            <a:ext cx="2495550" cy="2209800"/>
          </a:xfrm>
          <a:prstGeom prst="rect">
            <a:avLst/>
          </a:prstGeom>
          <a:solidFill>
            <a:srgbClr val="FFFFFF"/>
          </a:solidFill>
          <a:ln w="9525">
            <a:solidFill>
              <a:srgbClr val="D7DEE8"/>
            </a:solidFill>
            <a:prstDash val="solid"/>
          </a:ln>
        </p:spPr>
        <p:txBody>
          <a:bodyPr/>
          <a:lstStyle/>
          <a:p>
            <a:endParaRPr/>
          </a:p>
        </p:txBody>
      </p:sp>
      <p:sp>
        <p:nvSpPr>
          <p:cNvPr id="12" name="矩形 11">
            <a:extLst>
              <a:ext uri="{FF2B5EF4-FFF2-40B4-BE49-F238E27FC236}">
                <a16:creationId xmlns:a16="http://schemas.microsoft.com/office/drawing/2014/main" id="{1A7309EE-5CF6-4783-817D-4701C5A65916}"/>
              </a:ext>
            </a:extLst>
          </p:cNvPr>
          <p:cNvSpPr>
            <a:spLocks noGrp="1"/>
          </p:cNvSpPr>
          <p:nvPr/>
        </p:nvSpPr>
        <p:spPr>
          <a:xfrm>
            <a:off x="3352800" y="3143250"/>
            <a:ext cx="2495550" cy="76200"/>
          </a:xfrm>
          <a:prstGeom prst="rect">
            <a:avLst/>
          </a:prstGeom>
          <a:solidFill>
            <a:srgbClr val="0F766E"/>
          </a:solidFill>
          <a:ln w="0">
            <a:solidFill>
              <a:srgbClr val="0F766E"/>
            </a:solidFill>
            <a:prstDash val="solid"/>
          </a:ln>
        </p:spPr>
        <p:txBody>
          <a:bodyPr/>
          <a:lstStyle/>
          <a:p>
            <a:endParaRPr/>
          </a:p>
        </p:txBody>
      </p:sp>
      <p:sp>
        <p:nvSpPr>
          <p:cNvPr id="13" name="矩形 12">
            <a:extLst>
              <a:ext uri="{FF2B5EF4-FFF2-40B4-BE49-F238E27FC236}">
                <a16:creationId xmlns:a16="http://schemas.microsoft.com/office/drawing/2014/main" id="{C5BF8902-B43B-445E-AEE1-BE915F5838E7}"/>
              </a:ext>
            </a:extLst>
          </p:cNvPr>
          <p:cNvSpPr>
            <a:spLocks noGrp="1"/>
          </p:cNvSpPr>
          <p:nvPr/>
        </p:nvSpPr>
        <p:spPr>
          <a:xfrm>
            <a:off x="3562350" y="3476625"/>
            <a:ext cx="2076450" cy="361950"/>
          </a:xfrm>
          <a:prstGeom prst="rect">
            <a:avLst/>
          </a:prstGeom>
          <a:noFill/>
          <a:ln w="0">
            <a:noFill/>
            <a:prstDash val="solid"/>
          </a:ln>
        </p:spPr>
        <p:txBody>
          <a:bodyPr lIns="0" tIns="0" rIns="0" bIns="0" anchor="t">
            <a:normAutofit/>
          </a:bodyPr>
          <a:lstStyle/>
          <a:p>
            <a:pPr algn="l">
              <a:buNone/>
              <a:defRPr sz="1875" b="1">
                <a:solidFill>
                  <a:srgbClr val="0F766E"/>
                </a:solidFill>
                <a:latin typeface="Aptos"/>
                <a:ea typeface="Aptos"/>
                <a:cs typeface="Aptos"/>
              </a:defRPr>
            </a:pPr>
            <a:r>
              <a:rPr sz="1875" b="1">
                <a:solidFill>
                  <a:srgbClr val="0F766E"/>
                </a:solidFill>
                <a:latin typeface="Aptos"/>
                <a:ea typeface="Aptos"/>
                <a:cs typeface="Aptos"/>
              </a:rPr>
              <a:t>Understandable</a:t>
            </a:r>
          </a:p>
        </p:txBody>
      </p:sp>
      <p:sp>
        <p:nvSpPr>
          <p:cNvPr id="14" name="矩形 13">
            <a:extLst>
              <a:ext uri="{FF2B5EF4-FFF2-40B4-BE49-F238E27FC236}">
                <a16:creationId xmlns:a16="http://schemas.microsoft.com/office/drawing/2014/main" id="{2CFB77A0-E936-4FEC-A7EC-4334EF10F4FE}"/>
              </a:ext>
            </a:extLst>
          </p:cNvPr>
          <p:cNvSpPr>
            <a:spLocks noGrp="1"/>
          </p:cNvSpPr>
          <p:nvPr/>
        </p:nvSpPr>
        <p:spPr>
          <a:xfrm>
            <a:off x="3562350" y="3952875"/>
            <a:ext cx="2076450" cy="800100"/>
          </a:xfrm>
          <a:prstGeom prst="rect">
            <a:avLst/>
          </a:prstGeom>
          <a:noFill/>
          <a:ln w="0">
            <a:noFill/>
            <a:prstDash val="solid"/>
          </a:ln>
        </p:spPr>
        <p:txBody>
          <a:bodyPr lIns="0" tIns="0" rIns="0" bIns="0" anchor="t">
            <a:noAutofit/>
          </a:bodyPr>
          <a:lstStyle/>
          <a:p>
            <a:pPr algn="l">
              <a:buNone/>
              <a:defRPr sz="1350" b="0">
                <a:solidFill>
                  <a:srgbClr val="5B6472"/>
                </a:solidFill>
                <a:latin typeface="Aptos"/>
                <a:ea typeface="Aptos"/>
                <a:cs typeface="Aptos"/>
              </a:defRPr>
            </a:pPr>
            <a:r>
              <a:rPr sz="1600" b="0">
                <a:solidFill>
                  <a:srgbClr val="5B6472"/>
                </a:solidFill>
                <a:latin typeface="Aptos"/>
                <a:ea typeface="Aptos"/>
                <a:cs typeface="Aptos"/>
              </a:rPr>
              <a:t>Features have stable identities, clear semantics, and reproducible descriptions</a:t>
            </a:r>
          </a:p>
        </p:txBody>
      </p:sp>
      <p:sp>
        <p:nvSpPr>
          <p:cNvPr id="15" name="矩形 14">
            <a:extLst>
              <a:ext uri="{FF2B5EF4-FFF2-40B4-BE49-F238E27FC236}">
                <a16:creationId xmlns:a16="http://schemas.microsoft.com/office/drawing/2014/main" id="{62DB8848-6510-47AE-BEA0-526ED17699E1}"/>
              </a:ext>
            </a:extLst>
          </p:cNvPr>
          <p:cNvSpPr>
            <a:spLocks noGrp="1"/>
          </p:cNvSpPr>
          <p:nvPr/>
        </p:nvSpPr>
        <p:spPr>
          <a:xfrm>
            <a:off x="6096000" y="3143250"/>
            <a:ext cx="2495550" cy="2209800"/>
          </a:xfrm>
          <a:prstGeom prst="rect">
            <a:avLst/>
          </a:prstGeom>
          <a:solidFill>
            <a:srgbClr val="FFFFFF"/>
          </a:solidFill>
          <a:ln w="9525">
            <a:solidFill>
              <a:srgbClr val="D7DEE8"/>
            </a:solidFill>
            <a:prstDash val="solid"/>
          </a:ln>
        </p:spPr>
        <p:txBody>
          <a:bodyPr/>
          <a:lstStyle/>
          <a:p>
            <a:endParaRPr/>
          </a:p>
        </p:txBody>
      </p:sp>
      <p:sp>
        <p:nvSpPr>
          <p:cNvPr id="16" name="矩形 15">
            <a:extLst>
              <a:ext uri="{FF2B5EF4-FFF2-40B4-BE49-F238E27FC236}">
                <a16:creationId xmlns:a16="http://schemas.microsoft.com/office/drawing/2014/main" id="{2AB35731-90A6-4566-98EE-B445C95CAD9C}"/>
              </a:ext>
            </a:extLst>
          </p:cNvPr>
          <p:cNvSpPr>
            <a:spLocks noGrp="1"/>
          </p:cNvSpPr>
          <p:nvPr/>
        </p:nvSpPr>
        <p:spPr>
          <a:xfrm>
            <a:off x="6096000" y="3143250"/>
            <a:ext cx="2495550" cy="76200"/>
          </a:xfrm>
          <a:prstGeom prst="rect">
            <a:avLst/>
          </a:prstGeom>
          <a:solidFill>
            <a:srgbClr val="6D3CC7"/>
          </a:solidFill>
          <a:ln w="0">
            <a:solidFill>
              <a:srgbClr val="6D3CC7"/>
            </a:solidFill>
            <a:prstDash val="solid"/>
          </a:ln>
        </p:spPr>
        <p:txBody>
          <a:bodyPr/>
          <a:lstStyle/>
          <a:p>
            <a:endParaRPr/>
          </a:p>
        </p:txBody>
      </p:sp>
      <p:sp>
        <p:nvSpPr>
          <p:cNvPr id="17" name="矩形 16">
            <a:extLst>
              <a:ext uri="{FF2B5EF4-FFF2-40B4-BE49-F238E27FC236}">
                <a16:creationId xmlns:a16="http://schemas.microsoft.com/office/drawing/2014/main" id="{C6518E91-E557-4C84-9BCD-3046BD6472DF}"/>
              </a:ext>
            </a:extLst>
          </p:cNvPr>
          <p:cNvSpPr>
            <a:spLocks noGrp="1"/>
          </p:cNvSpPr>
          <p:nvPr/>
        </p:nvSpPr>
        <p:spPr>
          <a:xfrm>
            <a:off x="6305550" y="3476625"/>
            <a:ext cx="2076450" cy="361950"/>
          </a:xfrm>
          <a:prstGeom prst="rect">
            <a:avLst/>
          </a:prstGeom>
          <a:noFill/>
          <a:ln w="0">
            <a:noFill/>
            <a:prstDash val="solid"/>
          </a:ln>
        </p:spPr>
        <p:txBody>
          <a:bodyPr lIns="0" tIns="0" rIns="0" bIns="0" anchor="t">
            <a:normAutofit/>
          </a:bodyPr>
          <a:lstStyle/>
          <a:p>
            <a:pPr algn="l">
              <a:buNone/>
              <a:defRPr sz="1875" b="1">
                <a:solidFill>
                  <a:srgbClr val="6D3CC7"/>
                </a:solidFill>
                <a:latin typeface="Aptos"/>
                <a:ea typeface="Aptos"/>
                <a:cs typeface="Aptos"/>
              </a:defRPr>
            </a:pPr>
            <a:r>
              <a:rPr sz="1875" b="1">
                <a:solidFill>
                  <a:srgbClr val="6D3CC7"/>
                </a:solidFill>
                <a:latin typeface="Aptos"/>
                <a:ea typeface="Aptos"/>
                <a:cs typeface="Aptos"/>
              </a:rPr>
              <a:t>Intervenable</a:t>
            </a:r>
          </a:p>
        </p:txBody>
      </p:sp>
      <p:sp>
        <p:nvSpPr>
          <p:cNvPr id="18" name="矩形 17">
            <a:extLst>
              <a:ext uri="{FF2B5EF4-FFF2-40B4-BE49-F238E27FC236}">
                <a16:creationId xmlns:a16="http://schemas.microsoft.com/office/drawing/2014/main" id="{6634E97F-509A-4E3A-981A-AAD3D7B911DC}"/>
              </a:ext>
            </a:extLst>
          </p:cNvPr>
          <p:cNvSpPr>
            <a:spLocks noGrp="1"/>
          </p:cNvSpPr>
          <p:nvPr/>
        </p:nvSpPr>
        <p:spPr>
          <a:xfrm>
            <a:off x="6305550" y="3970880"/>
            <a:ext cx="2076450" cy="800100"/>
          </a:xfrm>
          <a:prstGeom prst="rect">
            <a:avLst/>
          </a:prstGeom>
          <a:noFill/>
          <a:ln w="0">
            <a:noFill/>
            <a:prstDash val="solid"/>
          </a:ln>
        </p:spPr>
        <p:txBody>
          <a:bodyPr lIns="0" tIns="0" rIns="0" bIns="0" anchor="t">
            <a:noAutofit/>
          </a:bodyPr>
          <a:lstStyle/>
          <a:p>
            <a:pPr algn="l">
              <a:buNone/>
              <a:defRPr sz="1350" b="0">
                <a:solidFill>
                  <a:srgbClr val="5B6472"/>
                </a:solidFill>
                <a:latin typeface="Aptos"/>
                <a:ea typeface="Aptos"/>
                <a:cs typeface="Aptos"/>
              </a:defRPr>
            </a:pPr>
            <a:r>
              <a:rPr sz="1600" b="0">
                <a:solidFill>
                  <a:srgbClr val="5B6472"/>
                </a:solidFill>
                <a:latin typeface="Aptos"/>
                <a:ea typeface="Aptos"/>
                <a:cs typeface="Aptos"/>
              </a:rPr>
              <a:t>Targeted interventions produce the expected result with limited side effects</a:t>
            </a:r>
          </a:p>
        </p:txBody>
      </p:sp>
      <p:sp>
        <p:nvSpPr>
          <p:cNvPr id="19" name="矩形 18">
            <a:extLst>
              <a:ext uri="{FF2B5EF4-FFF2-40B4-BE49-F238E27FC236}">
                <a16:creationId xmlns:a16="http://schemas.microsoft.com/office/drawing/2014/main" id="{208B8038-BB5E-4628-92D2-4D9B5284D918}"/>
              </a:ext>
            </a:extLst>
          </p:cNvPr>
          <p:cNvSpPr>
            <a:spLocks noGrp="1"/>
          </p:cNvSpPr>
          <p:nvPr/>
        </p:nvSpPr>
        <p:spPr>
          <a:xfrm>
            <a:off x="8839200" y="3143250"/>
            <a:ext cx="2495550" cy="2209800"/>
          </a:xfrm>
          <a:prstGeom prst="rect">
            <a:avLst/>
          </a:prstGeom>
          <a:solidFill>
            <a:srgbClr val="FFFFFF"/>
          </a:solidFill>
          <a:ln w="9525">
            <a:solidFill>
              <a:srgbClr val="D7DEE8"/>
            </a:solidFill>
            <a:prstDash val="solid"/>
          </a:ln>
        </p:spPr>
        <p:txBody>
          <a:bodyPr/>
          <a:lstStyle/>
          <a:p>
            <a:endParaRPr/>
          </a:p>
        </p:txBody>
      </p:sp>
      <p:sp>
        <p:nvSpPr>
          <p:cNvPr id="20" name="矩形 19">
            <a:extLst>
              <a:ext uri="{FF2B5EF4-FFF2-40B4-BE49-F238E27FC236}">
                <a16:creationId xmlns:a16="http://schemas.microsoft.com/office/drawing/2014/main" id="{C1FD22B3-5744-42DD-AF05-9F2B43B52310}"/>
              </a:ext>
            </a:extLst>
          </p:cNvPr>
          <p:cNvSpPr>
            <a:spLocks noGrp="1"/>
          </p:cNvSpPr>
          <p:nvPr/>
        </p:nvSpPr>
        <p:spPr>
          <a:xfrm>
            <a:off x="8839200" y="3143250"/>
            <a:ext cx="2495550" cy="76200"/>
          </a:xfrm>
          <a:prstGeom prst="rect">
            <a:avLst/>
          </a:prstGeom>
          <a:solidFill>
            <a:srgbClr val="B45309"/>
          </a:solidFill>
          <a:ln w="0">
            <a:solidFill>
              <a:srgbClr val="B45309"/>
            </a:solidFill>
            <a:prstDash val="solid"/>
          </a:ln>
        </p:spPr>
        <p:txBody>
          <a:bodyPr/>
          <a:lstStyle/>
          <a:p>
            <a:endParaRPr/>
          </a:p>
        </p:txBody>
      </p:sp>
      <p:sp>
        <p:nvSpPr>
          <p:cNvPr id="21" name="矩形 20">
            <a:extLst>
              <a:ext uri="{FF2B5EF4-FFF2-40B4-BE49-F238E27FC236}">
                <a16:creationId xmlns:a16="http://schemas.microsoft.com/office/drawing/2014/main" id="{4950C907-B520-48B3-8383-3F5D0E2E4361}"/>
              </a:ext>
            </a:extLst>
          </p:cNvPr>
          <p:cNvSpPr>
            <a:spLocks noGrp="1"/>
          </p:cNvSpPr>
          <p:nvPr/>
        </p:nvSpPr>
        <p:spPr>
          <a:xfrm>
            <a:off x="9048750" y="3476625"/>
            <a:ext cx="2076450" cy="361950"/>
          </a:xfrm>
          <a:prstGeom prst="rect">
            <a:avLst/>
          </a:prstGeom>
          <a:noFill/>
          <a:ln w="0">
            <a:noFill/>
            <a:prstDash val="solid"/>
          </a:ln>
        </p:spPr>
        <p:txBody>
          <a:bodyPr lIns="0" tIns="0" rIns="0" bIns="0" anchor="t">
            <a:normAutofit/>
          </a:bodyPr>
          <a:lstStyle/>
          <a:p>
            <a:pPr algn="l">
              <a:buNone/>
              <a:defRPr sz="1875" b="1">
                <a:solidFill>
                  <a:srgbClr val="B45309"/>
                </a:solidFill>
                <a:latin typeface="Aptos"/>
                <a:ea typeface="Aptos"/>
                <a:cs typeface="Aptos"/>
              </a:defRPr>
            </a:pPr>
            <a:r>
              <a:rPr sz="1875" b="1">
                <a:solidFill>
                  <a:srgbClr val="B45309"/>
                </a:solidFill>
                <a:latin typeface="Aptos"/>
                <a:ea typeface="Aptos"/>
                <a:cs typeface="Aptos"/>
              </a:rPr>
              <a:t>Auditable</a:t>
            </a:r>
          </a:p>
        </p:txBody>
      </p:sp>
      <p:sp>
        <p:nvSpPr>
          <p:cNvPr id="22" name="矩形 21">
            <a:extLst>
              <a:ext uri="{FF2B5EF4-FFF2-40B4-BE49-F238E27FC236}">
                <a16:creationId xmlns:a16="http://schemas.microsoft.com/office/drawing/2014/main" id="{16447D12-C1A5-46C0-8017-35E985CE67C0}"/>
              </a:ext>
            </a:extLst>
          </p:cNvPr>
          <p:cNvSpPr>
            <a:spLocks noGrp="1"/>
          </p:cNvSpPr>
          <p:nvPr/>
        </p:nvSpPr>
        <p:spPr>
          <a:xfrm>
            <a:off x="9049011" y="3952875"/>
            <a:ext cx="2076450" cy="800100"/>
          </a:xfrm>
          <a:prstGeom prst="rect">
            <a:avLst/>
          </a:prstGeom>
          <a:noFill/>
          <a:ln w="0">
            <a:noFill/>
            <a:prstDash val="solid"/>
          </a:ln>
        </p:spPr>
        <p:txBody>
          <a:bodyPr lIns="0" tIns="0" rIns="0" bIns="0" anchor="t">
            <a:normAutofit/>
          </a:bodyPr>
          <a:lstStyle/>
          <a:p>
            <a:pPr algn="l">
              <a:buNone/>
              <a:defRPr sz="1350" b="0">
                <a:solidFill>
                  <a:srgbClr val="5B6472"/>
                </a:solidFill>
                <a:latin typeface="Aptos"/>
                <a:ea typeface="Aptos"/>
                <a:cs typeface="Aptos"/>
              </a:defRPr>
            </a:pPr>
            <a:r>
              <a:rPr sz="1600" b="0">
                <a:solidFill>
                  <a:srgbClr val="5B6472"/>
                </a:solidFill>
                <a:latin typeface="Aptos"/>
                <a:ea typeface="Aptos"/>
                <a:cs typeface="Aptos"/>
              </a:rPr>
              <a:t>The method provides coverage, stability, and traceable records</a:t>
            </a:r>
          </a:p>
        </p:txBody>
      </p:sp>
      <p:sp>
        <p:nvSpPr>
          <p:cNvPr id="23" name="矩形 22">
            <a:extLst>
              <a:ext uri="{FF2B5EF4-FFF2-40B4-BE49-F238E27FC236}">
                <a16:creationId xmlns:a16="http://schemas.microsoft.com/office/drawing/2014/main" id="{37CD41CD-4A7F-47F0-BD06-83081663C0FE}"/>
              </a:ext>
            </a:extLst>
          </p:cNvPr>
          <p:cNvSpPr>
            <a:spLocks noGrp="1"/>
          </p:cNvSpPr>
          <p:nvPr/>
        </p:nvSpPr>
        <p:spPr>
          <a:xfrm>
            <a:off x="609600" y="5695950"/>
            <a:ext cx="11125200" cy="485775"/>
          </a:xfrm>
          <a:prstGeom prst="rect">
            <a:avLst/>
          </a:prstGeom>
          <a:noFill/>
          <a:ln w="0">
            <a:noFill/>
            <a:prstDash val="solid"/>
          </a:ln>
        </p:spPr>
        <p:txBody>
          <a:bodyPr lIns="0" tIns="0" rIns="0" bIns="0" anchor="t">
            <a:noAutofit/>
          </a:bodyPr>
          <a:lstStyle/>
          <a:p>
            <a:pPr algn="ctr">
              <a:buNone/>
              <a:defRPr sz="1500" b="1">
                <a:solidFill>
                  <a:srgbClr val="111827"/>
                </a:solidFill>
                <a:latin typeface="Aptos"/>
                <a:ea typeface="Aptos"/>
                <a:cs typeface="Aptos"/>
              </a:defRPr>
            </a:pPr>
            <a:r>
              <a:rPr sz="2000" b="1">
                <a:solidFill>
                  <a:srgbClr val="111827"/>
                </a:solidFill>
                <a:latin typeface="Aptos"/>
                <a:ea typeface="Aptos"/>
                <a:cs typeface="Aptos"/>
              </a:rPr>
              <a:t>Therefore, Attention visualisations, probe accuracy, or any single SAE metric provide only partial evidence.</a:t>
            </a:r>
          </a:p>
        </p:txBody>
      </p:sp>
    </p:spTree>
    <p:extLst>
      <p:ext uri="{BB962C8B-B14F-4D97-AF65-F5344CB8AC3E}">
        <p14:creationId xmlns:p14="http://schemas.microsoft.com/office/powerpoint/2010/main" val="710397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39B7D935-A112-4474-91A5-E8DC85A2CDA0}"/>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125" b="1">
                <a:solidFill>
                  <a:srgbClr val="2457D6"/>
                </a:solidFill>
                <a:latin typeface="Aptos"/>
                <a:ea typeface="Aptos"/>
                <a:cs typeface="Aptos"/>
              </a:rPr>
              <a:t>Interpretability criteria (I)</a:t>
            </a:r>
          </a:p>
        </p:txBody>
      </p:sp>
      <p:sp>
        <p:nvSpPr>
          <p:cNvPr id="2" name="矩形 1">
            <a:extLst>
              <a:ext uri="{FF2B5EF4-FFF2-40B4-BE49-F238E27FC236}">
                <a16:creationId xmlns:a16="http://schemas.microsoft.com/office/drawing/2014/main" id="{2DB3A51D-9A6D-4A98-B91F-F9B72A93ECB1}"/>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91068"/>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First ask whether the representation is clear, stable, and compositional</a:t>
            </a:r>
          </a:p>
        </p:txBody>
      </p:sp>
      <p:sp>
        <p:nvSpPr>
          <p:cNvPr id="3" name="直接连接符 2">
            <a:extLst>
              <a:ext uri="{FF2B5EF4-FFF2-40B4-BE49-F238E27FC236}">
                <a16:creationId xmlns:a16="http://schemas.microsoft.com/office/drawing/2014/main" id="{D65EB711-AB78-42DD-BCF3-7D426A4F3A12}"/>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FD84AEA4-AB4D-40C7-8FA1-440FBB212351}"/>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03</a:t>
            </a:r>
          </a:p>
        </p:txBody>
      </p:sp>
      <p:sp>
        <p:nvSpPr>
          <p:cNvPr id="5" name="矩形 4">
            <a:extLst>
              <a:ext uri="{FF2B5EF4-FFF2-40B4-BE49-F238E27FC236}">
                <a16:creationId xmlns:a16="http://schemas.microsoft.com/office/drawing/2014/main" id="{F553C40C-A47E-4355-8915-5F85A3EBC073}"/>
              </a:ext>
            </a:extLst>
          </p:cNvPr>
          <p:cNvSpPr>
            <a:spLocks noGrp="1"/>
          </p:cNvSpPr>
          <p:nvPr/>
        </p:nvSpPr>
        <p:spPr>
          <a:xfrm>
            <a:off x="609600" y="1543050"/>
            <a:ext cx="10934700" cy="1123950"/>
          </a:xfrm>
          <a:prstGeom prst="rect">
            <a:avLst/>
          </a:prstGeom>
          <a:solidFill>
            <a:srgbClr val="FFFFFF"/>
          </a:solidFill>
          <a:ln w="9525">
            <a:solidFill>
              <a:srgbClr val="D7DEE8"/>
            </a:solidFill>
            <a:prstDash val="solid"/>
          </a:ln>
        </p:spPr>
        <p:txBody>
          <a:bodyPr/>
          <a:lstStyle/>
          <a:p>
            <a:endParaRPr/>
          </a:p>
        </p:txBody>
      </p:sp>
      <p:sp>
        <p:nvSpPr>
          <p:cNvPr id="6" name="矩形 5">
            <a:extLst>
              <a:ext uri="{FF2B5EF4-FFF2-40B4-BE49-F238E27FC236}">
                <a16:creationId xmlns:a16="http://schemas.microsoft.com/office/drawing/2014/main" id="{656E520D-CBBD-40AD-9603-0F67063C130B}"/>
              </a:ext>
            </a:extLst>
          </p:cNvPr>
          <p:cNvSpPr>
            <a:spLocks noGrp="1"/>
          </p:cNvSpPr>
          <p:nvPr/>
        </p:nvSpPr>
        <p:spPr>
          <a:xfrm>
            <a:off x="609600" y="1543050"/>
            <a:ext cx="95250" cy="1123950"/>
          </a:xfrm>
          <a:prstGeom prst="rect">
            <a:avLst/>
          </a:prstGeom>
          <a:solidFill>
            <a:srgbClr val="2457D6"/>
          </a:solidFill>
          <a:ln w="0">
            <a:solidFill>
              <a:srgbClr val="2457D6"/>
            </a:solidFill>
            <a:prstDash val="solid"/>
          </a:ln>
        </p:spPr>
        <p:txBody>
          <a:bodyPr/>
          <a:lstStyle/>
          <a:p>
            <a:endParaRPr/>
          </a:p>
        </p:txBody>
      </p:sp>
      <p:sp>
        <p:nvSpPr>
          <p:cNvPr id="7" name="矩形 6">
            <a:extLst>
              <a:ext uri="{FF2B5EF4-FFF2-40B4-BE49-F238E27FC236}">
                <a16:creationId xmlns:a16="http://schemas.microsoft.com/office/drawing/2014/main" id="{B325E034-AB98-4B33-B722-7AFED3E956E0}"/>
              </a:ext>
            </a:extLst>
          </p:cNvPr>
          <p:cNvSpPr>
            <a:spLocks noGrp="1"/>
          </p:cNvSpPr>
          <p:nvPr/>
        </p:nvSpPr>
        <p:spPr>
          <a:xfrm>
            <a:off x="895350" y="1714500"/>
            <a:ext cx="2724150" cy="685800"/>
          </a:xfrm>
          <a:prstGeom prst="rect">
            <a:avLst/>
          </a:prstGeom>
          <a:noFill/>
          <a:ln w="0">
            <a:noFill/>
            <a:prstDash val="solid"/>
          </a:ln>
        </p:spPr>
        <p:txBody>
          <a:bodyPr lIns="0" tIns="0" rIns="0" bIns="0" anchor="t">
            <a:normAutofit fontScale="95066"/>
          </a:bodyPr>
          <a:lstStyle/>
          <a:p>
            <a:pPr algn="l">
              <a:buNone/>
              <a:defRPr sz="1650" b="1">
                <a:solidFill>
                  <a:srgbClr val="111827"/>
                </a:solidFill>
                <a:latin typeface="Aptos"/>
                <a:ea typeface="Aptos"/>
                <a:cs typeface="Aptos"/>
              </a:defRPr>
            </a:pPr>
            <a:r>
              <a:rPr sz="1650" b="1">
                <a:solidFill>
                  <a:srgbClr val="111827"/>
                </a:solidFill>
                <a:latin typeface="Aptos"/>
                <a:ea typeface="Aptos"/>
                <a:cs typeface="Aptos"/>
              </a:rPr>
              <a:t>Decodability and human understanding</a:t>
            </a:r>
          </a:p>
        </p:txBody>
      </p:sp>
      <p:sp>
        <p:nvSpPr>
          <p:cNvPr id="8" name="矩形 7">
            <a:extLst>
              <a:ext uri="{FF2B5EF4-FFF2-40B4-BE49-F238E27FC236}">
                <a16:creationId xmlns:a16="http://schemas.microsoft.com/office/drawing/2014/main" id="{B9E2D620-F942-40FE-9C40-522C92A3D70F}"/>
              </a:ext>
            </a:extLst>
          </p:cNvPr>
          <p:cNvSpPr>
            <a:spLocks noGrp="1"/>
          </p:cNvSpPr>
          <p:nvPr/>
        </p:nvSpPr>
        <p:spPr>
          <a:xfrm>
            <a:off x="3790950" y="1695450"/>
            <a:ext cx="7239000" cy="419100"/>
          </a:xfrm>
          <a:prstGeom prst="rect">
            <a:avLst/>
          </a:prstGeom>
          <a:noFill/>
          <a:ln w="0">
            <a:noFill/>
            <a:prstDash val="solid"/>
          </a:ln>
        </p:spPr>
        <p:txBody>
          <a:bodyPr lIns="0" tIns="0" rIns="0" bIns="0" anchor="t">
            <a:noAutofit/>
          </a:bodyPr>
          <a:lstStyle/>
          <a:p>
            <a:pPr algn="l">
              <a:buNone/>
              <a:defRPr sz="1350" b="0">
                <a:solidFill>
                  <a:srgbClr val="5B6472"/>
                </a:solidFill>
                <a:latin typeface="Aptos"/>
                <a:ea typeface="Aptos"/>
                <a:cs typeface="Aptos"/>
              </a:defRPr>
            </a:pPr>
            <a:r>
              <a:rPr sz="1600" b="0">
                <a:solidFill>
                  <a:srgbClr val="5B6472"/>
                </a:solidFill>
                <a:latin typeface="Aptos"/>
                <a:ea typeface="Aptos"/>
                <a:cs typeface="Aptos"/>
              </a:rPr>
              <a:t>A concept should not only be decodable by a probe; it should also have a stable semantic description that people can understand.</a:t>
            </a:r>
          </a:p>
        </p:txBody>
      </p:sp>
      <p:sp>
        <p:nvSpPr>
          <p:cNvPr id="9" name="矩形 8">
            <a:extLst>
              <a:ext uri="{FF2B5EF4-FFF2-40B4-BE49-F238E27FC236}">
                <a16:creationId xmlns:a16="http://schemas.microsoft.com/office/drawing/2014/main" id="{1358E343-88A9-40A2-9941-F4A39ADE6345}"/>
              </a:ext>
            </a:extLst>
          </p:cNvPr>
          <p:cNvSpPr>
            <a:spLocks noGrp="1"/>
          </p:cNvSpPr>
          <p:nvPr/>
        </p:nvSpPr>
        <p:spPr>
          <a:xfrm>
            <a:off x="3790950" y="2228850"/>
            <a:ext cx="7239000" cy="257175"/>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600" b="1">
                <a:solidFill>
                  <a:srgbClr val="2457D6"/>
                </a:solidFill>
                <a:latin typeface="Aptos"/>
                <a:ea typeface="Aptos"/>
                <a:cs typeface="Aptos"/>
              </a:rPr>
              <a:t>Evidence: concept AUPRC, automated descriptions, and human review</a:t>
            </a:r>
          </a:p>
        </p:txBody>
      </p:sp>
      <p:sp>
        <p:nvSpPr>
          <p:cNvPr id="10" name="矩形 9">
            <a:extLst>
              <a:ext uri="{FF2B5EF4-FFF2-40B4-BE49-F238E27FC236}">
                <a16:creationId xmlns:a16="http://schemas.microsoft.com/office/drawing/2014/main" id="{33C5752A-3204-47D0-8974-DB9C86BA2F59}"/>
              </a:ext>
            </a:extLst>
          </p:cNvPr>
          <p:cNvSpPr>
            <a:spLocks noGrp="1"/>
          </p:cNvSpPr>
          <p:nvPr/>
        </p:nvSpPr>
        <p:spPr>
          <a:xfrm>
            <a:off x="609600" y="2895600"/>
            <a:ext cx="10934700" cy="1123950"/>
          </a:xfrm>
          <a:prstGeom prst="rect">
            <a:avLst/>
          </a:prstGeom>
          <a:solidFill>
            <a:srgbClr val="F1F5F9"/>
          </a:solidFill>
          <a:ln w="9525">
            <a:solidFill>
              <a:srgbClr val="F1F5F9"/>
            </a:solidFill>
            <a:prstDash val="solid"/>
          </a:ln>
        </p:spPr>
        <p:txBody>
          <a:bodyPr/>
          <a:lstStyle/>
          <a:p>
            <a:endParaRPr/>
          </a:p>
        </p:txBody>
      </p:sp>
      <p:sp>
        <p:nvSpPr>
          <p:cNvPr id="11" name="矩形 10">
            <a:extLst>
              <a:ext uri="{FF2B5EF4-FFF2-40B4-BE49-F238E27FC236}">
                <a16:creationId xmlns:a16="http://schemas.microsoft.com/office/drawing/2014/main" id="{7E14321C-1F53-4458-9E61-102A2F2A88B0}"/>
              </a:ext>
            </a:extLst>
          </p:cNvPr>
          <p:cNvSpPr>
            <a:spLocks noGrp="1"/>
          </p:cNvSpPr>
          <p:nvPr/>
        </p:nvSpPr>
        <p:spPr>
          <a:xfrm>
            <a:off x="609600" y="2895600"/>
            <a:ext cx="95250" cy="1123950"/>
          </a:xfrm>
          <a:prstGeom prst="rect">
            <a:avLst/>
          </a:prstGeom>
          <a:solidFill>
            <a:srgbClr val="0F766E"/>
          </a:solidFill>
          <a:ln w="0">
            <a:solidFill>
              <a:srgbClr val="0F766E"/>
            </a:solidFill>
            <a:prstDash val="solid"/>
          </a:ln>
        </p:spPr>
        <p:txBody>
          <a:bodyPr/>
          <a:lstStyle/>
          <a:p>
            <a:endParaRPr/>
          </a:p>
        </p:txBody>
      </p:sp>
      <p:sp>
        <p:nvSpPr>
          <p:cNvPr id="12" name="矩形 11">
            <a:extLst>
              <a:ext uri="{FF2B5EF4-FFF2-40B4-BE49-F238E27FC236}">
                <a16:creationId xmlns:a16="http://schemas.microsoft.com/office/drawing/2014/main" id="{3CC48890-02A7-431C-BF5B-DA224480218D}"/>
              </a:ext>
            </a:extLst>
          </p:cNvPr>
          <p:cNvSpPr>
            <a:spLocks noGrp="1"/>
          </p:cNvSpPr>
          <p:nvPr/>
        </p:nvSpPr>
        <p:spPr>
          <a:xfrm>
            <a:off x="895350" y="3067050"/>
            <a:ext cx="2724150" cy="685800"/>
          </a:xfrm>
          <a:prstGeom prst="rect">
            <a:avLst/>
          </a:prstGeom>
          <a:noFill/>
          <a:ln w="0">
            <a:noFill/>
            <a:prstDash val="solid"/>
          </a:ln>
        </p:spPr>
        <p:txBody>
          <a:bodyPr lIns="0" tIns="0" rIns="0" bIns="0" anchor="t">
            <a:normAutofit fontScale="97307"/>
          </a:bodyPr>
          <a:lstStyle/>
          <a:p>
            <a:pPr algn="l">
              <a:buNone/>
              <a:defRPr sz="1650" b="1">
                <a:solidFill>
                  <a:srgbClr val="111827"/>
                </a:solidFill>
                <a:latin typeface="Aptos"/>
                <a:ea typeface="Aptos"/>
                <a:cs typeface="Aptos"/>
              </a:defRPr>
            </a:pPr>
            <a:r>
              <a:rPr sz="1650" b="1">
                <a:solidFill>
                  <a:srgbClr val="111827"/>
                </a:solidFill>
                <a:latin typeface="Aptos"/>
                <a:ea typeface="Aptos"/>
                <a:cs typeface="Aptos"/>
              </a:rPr>
              <a:t>Monosemanticity and identity stability</a:t>
            </a:r>
          </a:p>
        </p:txBody>
      </p:sp>
      <p:sp>
        <p:nvSpPr>
          <p:cNvPr id="13" name="矩形 12">
            <a:extLst>
              <a:ext uri="{FF2B5EF4-FFF2-40B4-BE49-F238E27FC236}">
                <a16:creationId xmlns:a16="http://schemas.microsoft.com/office/drawing/2014/main" id="{58244FFA-4A51-4725-BBA0-59BFDEFF04E3}"/>
              </a:ext>
            </a:extLst>
          </p:cNvPr>
          <p:cNvSpPr>
            <a:spLocks noGrp="1"/>
          </p:cNvSpPr>
          <p:nvPr/>
        </p:nvSpPr>
        <p:spPr>
          <a:xfrm>
            <a:off x="3790950" y="3048000"/>
            <a:ext cx="7239000" cy="419100"/>
          </a:xfrm>
          <a:prstGeom prst="rect">
            <a:avLst/>
          </a:prstGeom>
          <a:noFill/>
          <a:ln w="0">
            <a:noFill/>
            <a:prstDash val="solid"/>
          </a:ln>
        </p:spPr>
        <p:txBody>
          <a:bodyPr lIns="0" tIns="0" rIns="0" bIns="0" anchor="t">
            <a:noAutofit/>
          </a:bodyPr>
          <a:lstStyle/>
          <a:p>
            <a:pPr algn="l">
              <a:buNone/>
              <a:defRPr sz="1350" b="0">
                <a:solidFill>
                  <a:srgbClr val="5B6472"/>
                </a:solidFill>
                <a:latin typeface="Aptos"/>
                <a:ea typeface="Aptos"/>
                <a:cs typeface="Aptos"/>
              </a:defRPr>
            </a:pPr>
            <a:r>
              <a:rPr sz="1600" b="0">
                <a:solidFill>
                  <a:srgbClr val="5B6472"/>
                </a:solidFill>
                <a:latin typeface="Aptos"/>
                <a:ea typeface="Aptos"/>
                <a:cs typeface="Aptos"/>
              </a:rPr>
              <a:t>A feature should have a concentrated semantic boundary and retain a recognisable identity across contexts, models, and seeds.</a:t>
            </a:r>
          </a:p>
        </p:txBody>
      </p:sp>
      <p:sp>
        <p:nvSpPr>
          <p:cNvPr id="14" name="矩形 13">
            <a:extLst>
              <a:ext uri="{FF2B5EF4-FFF2-40B4-BE49-F238E27FC236}">
                <a16:creationId xmlns:a16="http://schemas.microsoft.com/office/drawing/2014/main" id="{4D693723-6808-465B-BA63-2917474D9020}"/>
              </a:ext>
            </a:extLst>
          </p:cNvPr>
          <p:cNvSpPr>
            <a:spLocks noGrp="1"/>
          </p:cNvSpPr>
          <p:nvPr/>
        </p:nvSpPr>
        <p:spPr>
          <a:xfrm>
            <a:off x="3790950" y="3581400"/>
            <a:ext cx="7239000" cy="257175"/>
          </a:xfrm>
          <a:prstGeom prst="rect">
            <a:avLst/>
          </a:prstGeom>
          <a:noFill/>
          <a:ln w="0">
            <a:noFill/>
            <a:prstDash val="solid"/>
          </a:ln>
        </p:spPr>
        <p:txBody>
          <a:bodyPr lIns="0" tIns="0" rIns="0" bIns="0" anchor="t">
            <a:normAutofit/>
          </a:bodyPr>
          <a:lstStyle/>
          <a:p>
            <a:pPr algn="l">
              <a:buNone/>
              <a:defRPr sz="1125" b="1">
                <a:solidFill>
                  <a:srgbClr val="0F766E"/>
                </a:solidFill>
                <a:latin typeface="Aptos"/>
                <a:ea typeface="Aptos"/>
                <a:cs typeface="Aptos"/>
              </a:defRPr>
            </a:pPr>
            <a:r>
              <a:rPr sz="1400" b="1">
                <a:solidFill>
                  <a:srgbClr val="0F766E"/>
                </a:solidFill>
                <a:latin typeface="Aptos"/>
                <a:ea typeface="Aptos"/>
                <a:cs typeface="Aptos"/>
              </a:rPr>
              <a:t>Evidence: hard negatives, cross-seed matching, and token-identity preservation</a:t>
            </a:r>
          </a:p>
        </p:txBody>
      </p:sp>
      <p:sp>
        <p:nvSpPr>
          <p:cNvPr id="15" name="矩形 14">
            <a:extLst>
              <a:ext uri="{FF2B5EF4-FFF2-40B4-BE49-F238E27FC236}">
                <a16:creationId xmlns:a16="http://schemas.microsoft.com/office/drawing/2014/main" id="{BE0FDF0E-423A-4952-8416-950FE7446FEE}"/>
              </a:ext>
            </a:extLst>
          </p:cNvPr>
          <p:cNvSpPr>
            <a:spLocks noGrp="1"/>
          </p:cNvSpPr>
          <p:nvPr/>
        </p:nvSpPr>
        <p:spPr>
          <a:xfrm>
            <a:off x="609600" y="4248150"/>
            <a:ext cx="10934700" cy="1123950"/>
          </a:xfrm>
          <a:prstGeom prst="rect">
            <a:avLst/>
          </a:prstGeom>
          <a:solidFill>
            <a:srgbClr val="FFFFFF"/>
          </a:solidFill>
          <a:ln w="9525">
            <a:solidFill>
              <a:srgbClr val="D7DEE8"/>
            </a:solidFill>
            <a:prstDash val="solid"/>
          </a:ln>
        </p:spPr>
        <p:txBody>
          <a:bodyPr/>
          <a:lstStyle/>
          <a:p>
            <a:endParaRPr/>
          </a:p>
        </p:txBody>
      </p:sp>
      <p:sp>
        <p:nvSpPr>
          <p:cNvPr id="16" name="矩形 15">
            <a:extLst>
              <a:ext uri="{FF2B5EF4-FFF2-40B4-BE49-F238E27FC236}">
                <a16:creationId xmlns:a16="http://schemas.microsoft.com/office/drawing/2014/main" id="{EC882492-40FA-4CE3-9158-3C7B7A15C31D}"/>
              </a:ext>
            </a:extLst>
          </p:cNvPr>
          <p:cNvSpPr>
            <a:spLocks noGrp="1"/>
          </p:cNvSpPr>
          <p:nvPr/>
        </p:nvSpPr>
        <p:spPr>
          <a:xfrm>
            <a:off x="609600" y="4248150"/>
            <a:ext cx="95250" cy="1123950"/>
          </a:xfrm>
          <a:prstGeom prst="rect">
            <a:avLst/>
          </a:prstGeom>
          <a:solidFill>
            <a:srgbClr val="6D3CC7"/>
          </a:solidFill>
          <a:ln w="0">
            <a:solidFill>
              <a:srgbClr val="6D3CC7"/>
            </a:solidFill>
            <a:prstDash val="solid"/>
          </a:ln>
        </p:spPr>
        <p:txBody>
          <a:bodyPr/>
          <a:lstStyle/>
          <a:p>
            <a:endParaRPr/>
          </a:p>
        </p:txBody>
      </p:sp>
      <p:sp>
        <p:nvSpPr>
          <p:cNvPr id="17" name="矩形 16">
            <a:extLst>
              <a:ext uri="{FF2B5EF4-FFF2-40B4-BE49-F238E27FC236}">
                <a16:creationId xmlns:a16="http://schemas.microsoft.com/office/drawing/2014/main" id="{C6F8B5B4-526F-480C-86BF-33050E9C2A99}"/>
              </a:ext>
            </a:extLst>
          </p:cNvPr>
          <p:cNvSpPr>
            <a:spLocks noGrp="1"/>
          </p:cNvSpPr>
          <p:nvPr/>
        </p:nvSpPr>
        <p:spPr>
          <a:xfrm>
            <a:off x="895350" y="4419599"/>
            <a:ext cx="2724150" cy="771525"/>
          </a:xfrm>
          <a:prstGeom prst="rect">
            <a:avLst/>
          </a:prstGeom>
          <a:noFill/>
          <a:ln w="0">
            <a:noFill/>
            <a:prstDash val="solid"/>
          </a:ln>
        </p:spPr>
        <p:txBody>
          <a:bodyPr lIns="0" tIns="0" rIns="0" bIns="0" anchor="t">
            <a:normAutofit fontScale="98798"/>
          </a:bodyPr>
          <a:lstStyle/>
          <a:p>
            <a:pPr algn="l">
              <a:buNone/>
              <a:defRPr sz="1650" b="1">
                <a:solidFill>
                  <a:srgbClr val="111827"/>
                </a:solidFill>
                <a:latin typeface="Aptos"/>
                <a:ea typeface="Aptos"/>
                <a:cs typeface="Aptos"/>
              </a:defRPr>
            </a:pPr>
            <a:r>
              <a:rPr sz="1650" b="1">
                <a:solidFill>
                  <a:srgbClr val="111827"/>
                </a:solidFill>
                <a:latin typeface="Aptos"/>
                <a:ea typeface="Aptos"/>
                <a:cs typeface="Aptos"/>
              </a:rPr>
              <a:t>Hierarchy and compositionality</a:t>
            </a:r>
          </a:p>
        </p:txBody>
      </p:sp>
      <p:sp>
        <p:nvSpPr>
          <p:cNvPr id="18" name="矩形 17">
            <a:extLst>
              <a:ext uri="{FF2B5EF4-FFF2-40B4-BE49-F238E27FC236}">
                <a16:creationId xmlns:a16="http://schemas.microsoft.com/office/drawing/2014/main" id="{8DB5A3AE-509D-455B-90F8-166ECFAE0745}"/>
              </a:ext>
            </a:extLst>
          </p:cNvPr>
          <p:cNvSpPr>
            <a:spLocks noGrp="1"/>
          </p:cNvSpPr>
          <p:nvPr/>
        </p:nvSpPr>
        <p:spPr>
          <a:xfrm>
            <a:off x="3790950" y="4400550"/>
            <a:ext cx="7239000" cy="419100"/>
          </a:xfrm>
          <a:prstGeom prst="rect">
            <a:avLst/>
          </a:prstGeom>
          <a:noFill/>
          <a:ln w="0">
            <a:noFill/>
            <a:prstDash val="solid"/>
          </a:ln>
        </p:spPr>
        <p:txBody>
          <a:bodyPr lIns="0" tIns="0" rIns="0" bIns="0" anchor="t">
            <a:noAutofit/>
          </a:bodyPr>
          <a:lstStyle/>
          <a:p>
            <a:pPr algn="l">
              <a:buNone/>
              <a:defRPr sz="1350" b="0">
                <a:solidFill>
                  <a:srgbClr val="5B6472"/>
                </a:solidFill>
                <a:latin typeface="Aptos"/>
                <a:ea typeface="Aptos"/>
                <a:cs typeface="Aptos"/>
              </a:defRPr>
            </a:pPr>
            <a:r>
              <a:rPr sz="1600" b="0">
                <a:solidFill>
                  <a:srgbClr val="5B6472"/>
                </a:solidFill>
                <a:latin typeface="Aptos"/>
                <a:ea typeface="Aptos"/>
                <a:cs typeface="Aptos"/>
              </a:rPr>
              <a:t>Lower-level concepts should compose into higher-level concepts, giving relations and intervention propagation a traceable structure.</a:t>
            </a:r>
          </a:p>
        </p:txBody>
      </p:sp>
      <p:sp>
        <p:nvSpPr>
          <p:cNvPr id="19" name="矩形 18">
            <a:extLst>
              <a:ext uri="{FF2B5EF4-FFF2-40B4-BE49-F238E27FC236}">
                <a16:creationId xmlns:a16="http://schemas.microsoft.com/office/drawing/2014/main" id="{D944656D-49E2-46CF-894D-D578D0AD1BB7}"/>
              </a:ext>
            </a:extLst>
          </p:cNvPr>
          <p:cNvSpPr>
            <a:spLocks noGrp="1"/>
          </p:cNvSpPr>
          <p:nvPr/>
        </p:nvSpPr>
        <p:spPr>
          <a:xfrm>
            <a:off x="3790950" y="4933950"/>
            <a:ext cx="7239000" cy="257175"/>
          </a:xfrm>
          <a:prstGeom prst="rect">
            <a:avLst/>
          </a:prstGeom>
          <a:noFill/>
          <a:ln w="0">
            <a:noFill/>
            <a:prstDash val="solid"/>
          </a:ln>
        </p:spPr>
        <p:txBody>
          <a:bodyPr lIns="0" tIns="0" rIns="0" bIns="0" anchor="t">
            <a:noAutofit/>
          </a:bodyPr>
          <a:lstStyle/>
          <a:p>
            <a:pPr algn="l">
              <a:buNone/>
              <a:defRPr sz="1125" b="1">
                <a:solidFill>
                  <a:srgbClr val="6D3CC7"/>
                </a:solidFill>
                <a:latin typeface="Aptos"/>
                <a:ea typeface="Aptos"/>
                <a:cs typeface="Aptos"/>
              </a:defRPr>
            </a:pPr>
            <a:r>
              <a:rPr sz="1400" b="1">
                <a:solidFill>
                  <a:srgbClr val="6D3CC7"/>
                </a:solidFill>
                <a:latin typeface="Aptos"/>
                <a:ea typeface="Aptos"/>
                <a:cs typeface="Aptos"/>
              </a:rPr>
              <a:t>This is an aspirational goal; the experiments do not yet implement explicit hierarchical aggregation</a:t>
            </a:r>
          </a:p>
        </p:txBody>
      </p:sp>
      <p:sp>
        <p:nvSpPr>
          <p:cNvPr id="20" name="矩形 19">
            <a:extLst>
              <a:ext uri="{FF2B5EF4-FFF2-40B4-BE49-F238E27FC236}">
                <a16:creationId xmlns:a16="http://schemas.microsoft.com/office/drawing/2014/main" id="{BE5149DD-758B-48EE-ACA4-C4BAB95194DB}"/>
              </a:ext>
            </a:extLst>
          </p:cNvPr>
          <p:cNvSpPr>
            <a:spLocks noGrp="1"/>
          </p:cNvSpPr>
          <p:nvPr/>
        </p:nvSpPr>
        <p:spPr>
          <a:xfrm>
            <a:off x="609600" y="5734049"/>
            <a:ext cx="11049000" cy="704847"/>
          </a:xfrm>
          <a:prstGeom prst="rect">
            <a:avLst/>
          </a:prstGeom>
          <a:solidFill>
            <a:srgbClr val="EAF1FF"/>
          </a:solidFill>
          <a:ln w="0">
            <a:solidFill>
              <a:srgbClr val="EAF1FF"/>
            </a:solidFill>
            <a:prstDash val="solid"/>
          </a:ln>
        </p:spPr>
        <p:txBody>
          <a:bodyPr/>
          <a:lstStyle/>
          <a:p>
            <a:endParaRPr/>
          </a:p>
        </p:txBody>
      </p:sp>
      <p:sp>
        <p:nvSpPr>
          <p:cNvPr id="21" name="矩形 20">
            <a:extLst>
              <a:ext uri="{FF2B5EF4-FFF2-40B4-BE49-F238E27FC236}">
                <a16:creationId xmlns:a16="http://schemas.microsoft.com/office/drawing/2014/main" id="{67E707B2-05DD-43C7-A2B5-F985F5BF57C4}"/>
              </a:ext>
            </a:extLst>
          </p:cNvPr>
          <p:cNvSpPr>
            <a:spLocks noGrp="1"/>
          </p:cNvSpPr>
          <p:nvPr/>
        </p:nvSpPr>
        <p:spPr>
          <a:xfrm>
            <a:off x="800100" y="5819775"/>
            <a:ext cx="10553700" cy="228600"/>
          </a:xfrm>
          <a:prstGeom prst="rect">
            <a:avLst/>
          </a:prstGeom>
          <a:noFill/>
          <a:ln w="0">
            <a:noFill/>
            <a:prstDash val="solid"/>
          </a:ln>
        </p:spPr>
        <p:txBody>
          <a:bodyPr lIns="0" tIns="0" rIns="0" bIns="0" anchor="t">
            <a:noAutofit/>
          </a:bodyPr>
          <a:lstStyle/>
          <a:p>
            <a:pPr algn="ctr">
              <a:buNone/>
              <a:defRPr sz="1350" b="1">
                <a:solidFill>
                  <a:srgbClr val="2457D6"/>
                </a:solidFill>
                <a:latin typeface="Aptos"/>
                <a:ea typeface="Aptos"/>
                <a:cs typeface="Aptos"/>
              </a:defRPr>
            </a:pPr>
            <a:r>
              <a:rPr sz="1600" b="1">
                <a:solidFill>
                  <a:srgbClr val="2457D6"/>
                </a:solidFill>
                <a:latin typeface="Aptos"/>
                <a:ea typeface="Aptos"/>
                <a:cs typeface="Aptos"/>
              </a:rPr>
              <a:t>Being decodable is a starting point, not the endpoint: monosemanticity, stability, and composition determine whether an explanation is genuinely useful.</a:t>
            </a:r>
          </a:p>
        </p:txBody>
      </p:sp>
    </p:spTree>
    <p:extLst>
      <p:ext uri="{BB962C8B-B14F-4D97-AF65-F5344CB8AC3E}">
        <p14:creationId xmlns:p14="http://schemas.microsoft.com/office/powerpoint/2010/main" val="1828845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A5B7E81C-FF51-47B9-86DB-F33ED486B607}"/>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125" b="1">
                <a:solidFill>
                  <a:srgbClr val="2457D6"/>
                </a:solidFill>
                <a:latin typeface="Aptos"/>
                <a:ea typeface="Aptos"/>
                <a:cs typeface="Aptos"/>
              </a:rPr>
              <a:t>Interpretability criteria (II)</a:t>
            </a:r>
          </a:p>
        </p:txBody>
      </p:sp>
      <p:sp>
        <p:nvSpPr>
          <p:cNvPr id="2" name="矩形 1">
            <a:extLst>
              <a:ext uri="{FF2B5EF4-FFF2-40B4-BE49-F238E27FC236}">
                <a16:creationId xmlns:a16="http://schemas.microsoft.com/office/drawing/2014/main" id="{798E7AF3-C910-4ADE-9990-395246547B51}"/>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83715" lnSpcReduction="10000"/>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The explanation must also be used by the model and work reliably in practice</a:t>
            </a:r>
          </a:p>
        </p:txBody>
      </p:sp>
      <p:sp>
        <p:nvSpPr>
          <p:cNvPr id="3" name="直接连接符 2">
            <a:extLst>
              <a:ext uri="{FF2B5EF4-FFF2-40B4-BE49-F238E27FC236}">
                <a16:creationId xmlns:a16="http://schemas.microsoft.com/office/drawing/2014/main" id="{34295632-C3E2-4C2B-8B29-E3C1C047C17C}"/>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7500F776-EA66-4D31-9845-39C3410C844B}"/>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04</a:t>
            </a:r>
          </a:p>
        </p:txBody>
      </p:sp>
      <p:sp>
        <p:nvSpPr>
          <p:cNvPr id="5" name="矩形 4">
            <a:extLst>
              <a:ext uri="{FF2B5EF4-FFF2-40B4-BE49-F238E27FC236}">
                <a16:creationId xmlns:a16="http://schemas.microsoft.com/office/drawing/2014/main" id="{F7A2E206-1AE6-4752-9610-3076AB8E8C63}"/>
              </a:ext>
            </a:extLst>
          </p:cNvPr>
          <p:cNvSpPr>
            <a:spLocks noGrp="1"/>
          </p:cNvSpPr>
          <p:nvPr/>
        </p:nvSpPr>
        <p:spPr>
          <a:xfrm>
            <a:off x="609600" y="1581150"/>
            <a:ext cx="5219700" cy="1581150"/>
          </a:xfrm>
          <a:prstGeom prst="rect">
            <a:avLst/>
          </a:prstGeom>
          <a:solidFill>
            <a:srgbClr val="FFFFFF"/>
          </a:solidFill>
          <a:ln w="9525">
            <a:solidFill>
              <a:srgbClr val="D7DEE8"/>
            </a:solidFill>
            <a:prstDash val="solid"/>
          </a:ln>
        </p:spPr>
        <p:txBody>
          <a:bodyPr/>
          <a:lstStyle/>
          <a:p>
            <a:endParaRPr/>
          </a:p>
        </p:txBody>
      </p:sp>
      <p:sp>
        <p:nvSpPr>
          <p:cNvPr id="6" name="矩形 5">
            <a:extLst>
              <a:ext uri="{FF2B5EF4-FFF2-40B4-BE49-F238E27FC236}">
                <a16:creationId xmlns:a16="http://schemas.microsoft.com/office/drawing/2014/main" id="{35D3C3F6-CD45-4B43-8C9C-7FD05F271FD2}"/>
              </a:ext>
            </a:extLst>
          </p:cNvPr>
          <p:cNvSpPr>
            <a:spLocks noGrp="1"/>
          </p:cNvSpPr>
          <p:nvPr/>
        </p:nvSpPr>
        <p:spPr>
          <a:xfrm>
            <a:off x="609600" y="1581150"/>
            <a:ext cx="85725" cy="1581150"/>
          </a:xfrm>
          <a:prstGeom prst="rect">
            <a:avLst/>
          </a:prstGeom>
          <a:solidFill>
            <a:srgbClr val="B45309"/>
          </a:solidFill>
          <a:ln w="0">
            <a:solidFill>
              <a:srgbClr val="B45309"/>
            </a:solidFill>
            <a:prstDash val="solid"/>
          </a:ln>
        </p:spPr>
        <p:txBody>
          <a:bodyPr/>
          <a:lstStyle/>
          <a:p>
            <a:endParaRPr/>
          </a:p>
        </p:txBody>
      </p:sp>
      <p:sp>
        <p:nvSpPr>
          <p:cNvPr id="7" name="矩形 6">
            <a:extLst>
              <a:ext uri="{FF2B5EF4-FFF2-40B4-BE49-F238E27FC236}">
                <a16:creationId xmlns:a16="http://schemas.microsoft.com/office/drawing/2014/main" id="{5A4B2890-A01D-4772-97B7-4C67CC1C1C6A}"/>
              </a:ext>
            </a:extLst>
          </p:cNvPr>
          <p:cNvSpPr>
            <a:spLocks noGrp="1"/>
          </p:cNvSpPr>
          <p:nvPr/>
        </p:nvSpPr>
        <p:spPr>
          <a:xfrm>
            <a:off x="895350" y="1790700"/>
            <a:ext cx="2737198" cy="304800"/>
          </a:xfrm>
          <a:prstGeom prst="rect">
            <a:avLst/>
          </a:prstGeom>
          <a:noFill/>
          <a:ln w="0">
            <a:noFill/>
            <a:prstDash val="solid"/>
          </a:ln>
        </p:spPr>
        <p:txBody>
          <a:bodyPr lIns="0" tIns="0" rIns="0" bIns="0" anchor="t">
            <a:normAutofit/>
          </a:bodyPr>
          <a:lstStyle/>
          <a:p>
            <a:pPr algn="l">
              <a:buNone/>
              <a:defRPr sz="1800" b="1">
                <a:solidFill>
                  <a:srgbClr val="B45309"/>
                </a:solidFill>
                <a:latin typeface="Aptos"/>
                <a:ea typeface="Aptos"/>
                <a:cs typeface="Aptos"/>
              </a:defRPr>
            </a:pPr>
            <a:r>
              <a:rPr sz="1800" b="1">
                <a:solidFill>
                  <a:srgbClr val="B45309"/>
                </a:solidFill>
                <a:latin typeface="Aptos"/>
                <a:ea typeface="Aptos"/>
                <a:cs typeface="Aptos"/>
              </a:rPr>
              <a:t>Faithfulness</a:t>
            </a:r>
          </a:p>
        </p:txBody>
      </p:sp>
      <p:sp>
        <p:nvSpPr>
          <p:cNvPr id="8" name="矩形 7">
            <a:extLst>
              <a:ext uri="{FF2B5EF4-FFF2-40B4-BE49-F238E27FC236}">
                <a16:creationId xmlns:a16="http://schemas.microsoft.com/office/drawing/2014/main" id="{2A096C98-79D5-4031-B6A1-01BD4EEF58D5}"/>
              </a:ext>
            </a:extLst>
          </p:cNvPr>
          <p:cNvSpPr>
            <a:spLocks noGrp="1"/>
          </p:cNvSpPr>
          <p:nvPr/>
        </p:nvSpPr>
        <p:spPr>
          <a:xfrm>
            <a:off x="895350" y="2162175"/>
            <a:ext cx="4629150" cy="457200"/>
          </a:xfrm>
          <a:prstGeom prst="rect">
            <a:avLst/>
          </a:prstGeom>
          <a:noFill/>
          <a:ln w="0">
            <a:noFill/>
            <a:prstDash val="solid"/>
          </a:ln>
        </p:spPr>
        <p:txBody>
          <a:bodyPr lIns="0" tIns="0" rIns="0" bIns="0" anchor="t">
            <a:noAutofit/>
          </a:bodyPr>
          <a:lstStyle/>
          <a:p>
            <a:pPr algn="l">
              <a:buNone/>
              <a:defRPr sz="1350" b="0">
                <a:solidFill>
                  <a:srgbClr val="111827"/>
                </a:solidFill>
                <a:latin typeface="Aptos"/>
                <a:ea typeface="Aptos"/>
                <a:cs typeface="Aptos"/>
              </a:defRPr>
            </a:pPr>
            <a:r>
              <a:rPr sz="1600" b="0">
                <a:solidFill>
                  <a:srgbClr val="111827"/>
                </a:solidFill>
                <a:latin typeface="Aptos"/>
                <a:ea typeface="Aptos"/>
                <a:cs typeface="Aptos"/>
              </a:rPr>
              <a:t>The explanatory variable genuinely participates in the original computation, rather than merely being decodable after the fact.</a:t>
            </a:r>
          </a:p>
        </p:txBody>
      </p:sp>
      <p:sp>
        <p:nvSpPr>
          <p:cNvPr id="9" name="矩形 8">
            <a:extLst>
              <a:ext uri="{FF2B5EF4-FFF2-40B4-BE49-F238E27FC236}">
                <a16:creationId xmlns:a16="http://schemas.microsoft.com/office/drawing/2014/main" id="{ABEE923D-170E-4C50-958A-64E526BD7C33}"/>
              </a:ext>
            </a:extLst>
          </p:cNvPr>
          <p:cNvSpPr>
            <a:spLocks noGrp="1"/>
          </p:cNvSpPr>
          <p:nvPr/>
        </p:nvSpPr>
        <p:spPr>
          <a:xfrm>
            <a:off x="904875" y="2937745"/>
            <a:ext cx="4629150" cy="209550"/>
          </a:xfrm>
          <a:prstGeom prst="rect">
            <a:avLst/>
          </a:prstGeom>
          <a:noFill/>
          <a:ln w="0">
            <a:noFill/>
            <a:prstDash val="solid"/>
          </a:ln>
        </p:spPr>
        <p:txBody>
          <a:bodyPr lIns="0" tIns="0" rIns="0" bIns="0" anchor="t">
            <a:noAutofit/>
          </a:bodyPr>
          <a:lstStyle/>
          <a:p>
            <a:pPr algn="l">
              <a:buNone/>
              <a:defRPr sz="1125" b="1">
                <a:solidFill>
                  <a:srgbClr val="5B6472"/>
                </a:solidFill>
                <a:latin typeface="Aptos"/>
                <a:ea typeface="Aptos"/>
                <a:cs typeface="Aptos"/>
              </a:defRPr>
            </a:pPr>
            <a:r>
              <a:rPr sz="1400" b="1">
                <a:solidFill>
                  <a:srgbClr val="5B6472"/>
                </a:solidFill>
                <a:latin typeface="Aptos"/>
                <a:ea typeface="Aptos"/>
                <a:cs typeface="Aptos"/>
              </a:rPr>
              <a:t>Zeroing, replacement, and evidence removal</a:t>
            </a:r>
          </a:p>
        </p:txBody>
      </p:sp>
      <p:sp>
        <p:nvSpPr>
          <p:cNvPr id="10" name="矩形 9">
            <a:extLst>
              <a:ext uri="{FF2B5EF4-FFF2-40B4-BE49-F238E27FC236}">
                <a16:creationId xmlns:a16="http://schemas.microsoft.com/office/drawing/2014/main" id="{E22CA96B-D5B9-4C7A-B775-D98FE3DA6C3A}"/>
              </a:ext>
            </a:extLst>
          </p:cNvPr>
          <p:cNvSpPr>
            <a:spLocks noGrp="1"/>
          </p:cNvSpPr>
          <p:nvPr/>
        </p:nvSpPr>
        <p:spPr>
          <a:xfrm>
            <a:off x="6096000" y="1581150"/>
            <a:ext cx="5219700" cy="1581150"/>
          </a:xfrm>
          <a:prstGeom prst="rect">
            <a:avLst/>
          </a:prstGeom>
          <a:solidFill>
            <a:srgbClr val="FFFFFF"/>
          </a:solidFill>
          <a:ln w="9525">
            <a:solidFill>
              <a:srgbClr val="D7DEE8"/>
            </a:solidFill>
            <a:prstDash val="solid"/>
          </a:ln>
        </p:spPr>
        <p:txBody>
          <a:bodyPr/>
          <a:lstStyle/>
          <a:p>
            <a:endParaRPr/>
          </a:p>
        </p:txBody>
      </p:sp>
      <p:sp>
        <p:nvSpPr>
          <p:cNvPr id="11" name="矩形 10">
            <a:extLst>
              <a:ext uri="{FF2B5EF4-FFF2-40B4-BE49-F238E27FC236}">
                <a16:creationId xmlns:a16="http://schemas.microsoft.com/office/drawing/2014/main" id="{6E314579-AC92-4497-9E8C-811E44246DC8}"/>
              </a:ext>
            </a:extLst>
          </p:cNvPr>
          <p:cNvSpPr>
            <a:spLocks noGrp="1"/>
          </p:cNvSpPr>
          <p:nvPr/>
        </p:nvSpPr>
        <p:spPr>
          <a:xfrm>
            <a:off x="6096000" y="1581150"/>
            <a:ext cx="85725" cy="1581150"/>
          </a:xfrm>
          <a:prstGeom prst="rect">
            <a:avLst/>
          </a:prstGeom>
          <a:solidFill>
            <a:srgbClr val="6D3CC7"/>
          </a:solidFill>
          <a:ln w="0">
            <a:solidFill>
              <a:srgbClr val="6D3CC7"/>
            </a:solidFill>
            <a:prstDash val="solid"/>
          </a:ln>
        </p:spPr>
        <p:txBody>
          <a:bodyPr/>
          <a:lstStyle/>
          <a:p>
            <a:endParaRPr/>
          </a:p>
        </p:txBody>
      </p:sp>
      <p:sp>
        <p:nvSpPr>
          <p:cNvPr id="12" name="矩形 11">
            <a:extLst>
              <a:ext uri="{FF2B5EF4-FFF2-40B4-BE49-F238E27FC236}">
                <a16:creationId xmlns:a16="http://schemas.microsoft.com/office/drawing/2014/main" id="{ACB7459F-2096-468F-AC09-59CB51A7693F}"/>
              </a:ext>
            </a:extLst>
          </p:cNvPr>
          <p:cNvSpPr>
            <a:spLocks noGrp="1"/>
          </p:cNvSpPr>
          <p:nvPr/>
        </p:nvSpPr>
        <p:spPr>
          <a:xfrm>
            <a:off x="6381750" y="1790700"/>
            <a:ext cx="2900036" cy="304800"/>
          </a:xfrm>
          <a:prstGeom prst="rect">
            <a:avLst/>
          </a:prstGeom>
          <a:noFill/>
          <a:ln w="0">
            <a:noFill/>
            <a:prstDash val="solid"/>
          </a:ln>
        </p:spPr>
        <p:txBody>
          <a:bodyPr lIns="0" tIns="0" rIns="0" bIns="0" anchor="t">
            <a:normAutofit fontScale="97373"/>
          </a:bodyPr>
          <a:lstStyle/>
          <a:p>
            <a:pPr algn="l">
              <a:buNone/>
              <a:defRPr sz="1800" b="1">
                <a:solidFill>
                  <a:srgbClr val="6D3CC7"/>
                </a:solidFill>
                <a:latin typeface="Aptos"/>
                <a:ea typeface="Aptos"/>
                <a:cs typeface="Aptos"/>
              </a:defRPr>
            </a:pPr>
            <a:r>
              <a:rPr sz="1800" b="1">
                <a:solidFill>
                  <a:srgbClr val="6D3CC7"/>
                </a:solidFill>
                <a:latin typeface="Aptos"/>
                <a:ea typeface="Aptos"/>
                <a:cs typeface="Aptos"/>
              </a:rPr>
              <a:t>Causal controllability</a:t>
            </a:r>
          </a:p>
        </p:txBody>
      </p:sp>
      <p:sp>
        <p:nvSpPr>
          <p:cNvPr id="13" name="矩形 12">
            <a:extLst>
              <a:ext uri="{FF2B5EF4-FFF2-40B4-BE49-F238E27FC236}">
                <a16:creationId xmlns:a16="http://schemas.microsoft.com/office/drawing/2014/main" id="{AFF99FAC-269B-4B73-A9D9-B39787086CD9}"/>
              </a:ext>
            </a:extLst>
          </p:cNvPr>
          <p:cNvSpPr>
            <a:spLocks noGrp="1"/>
          </p:cNvSpPr>
          <p:nvPr/>
        </p:nvSpPr>
        <p:spPr>
          <a:xfrm>
            <a:off x="6391275" y="2162175"/>
            <a:ext cx="4629150" cy="457200"/>
          </a:xfrm>
          <a:prstGeom prst="rect">
            <a:avLst/>
          </a:prstGeom>
          <a:noFill/>
          <a:ln w="0">
            <a:noFill/>
            <a:prstDash val="solid"/>
          </a:ln>
        </p:spPr>
        <p:txBody>
          <a:bodyPr lIns="0" tIns="0" rIns="0" bIns="0" anchor="t">
            <a:noAutofit/>
          </a:bodyPr>
          <a:lstStyle/>
          <a:p>
            <a:pPr algn="l">
              <a:buNone/>
              <a:defRPr sz="1350" b="0">
                <a:solidFill>
                  <a:srgbClr val="111827"/>
                </a:solidFill>
                <a:latin typeface="Aptos"/>
                <a:ea typeface="Aptos"/>
                <a:cs typeface="Aptos"/>
              </a:defRPr>
            </a:pPr>
            <a:r>
              <a:rPr sz="1600" b="0">
                <a:solidFill>
                  <a:srgbClr val="111827"/>
                </a:solidFill>
                <a:latin typeface="Aptos"/>
                <a:ea typeface="Aptos"/>
                <a:cs typeface="Aptos"/>
              </a:rPr>
              <a:t>A targeted intervention produces the intended effect while limiting non-target side effects.</a:t>
            </a:r>
          </a:p>
        </p:txBody>
      </p:sp>
      <p:sp>
        <p:nvSpPr>
          <p:cNvPr id="14" name="矩形 13">
            <a:extLst>
              <a:ext uri="{FF2B5EF4-FFF2-40B4-BE49-F238E27FC236}">
                <a16:creationId xmlns:a16="http://schemas.microsoft.com/office/drawing/2014/main" id="{188E8ADA-AA0E-4D9D-998A-900B400BC73B}"/>
              </a:ext>
            </a:extLst>
          </p:cNvPr>
          <p:cNvSpPr>
            <a:spLocks noGrp="1"/>
          </p:cNvSpPr>
          <p:nvPr/>
        </p:nvSpPr>
        <p:spPr>
          <a:xfrm>
            <a:off x="6381750" y="2838450"/>
            <a:ext cx="4629150" cy="209550"/>
          </a:xfrm>
          <a:prstGeom prst="rect">
            <a:avLst/>
          </a:prstGeom>
          <a:noFill/>
          <a:ln w="0">
            <a:noFill/>
            <a:prstDash val="solid"/>
          </a:ln>
        </p:spPr>
        <p:txBody>
          <a:bodyPr lIns="0" tIns="0" rIns="0" bIns="0" anchor="t">
            <a:noAutofit/>
          </a:bodyPr>
          <a:lstStyle/>
          <a:p>
            <a:pPr algn="l">
              <a:buNone/>
              <a:defRPr sz="1125" b="1">
                <a:solidFill>
                  <a:srgbClr val="5B6472"/>
                </a:solidFill>
                <a:latin typeface="Aptos"/>
                <a:ea typeface="Aptos"/>
                <a:cs typeface="Aptos"/>
              </a:defRPr>
            </a:pPr>
            <a:r>
              <a:rPr sz="1400" b="1">
                <a:solidFill>
                  <a:srgbClr val="5B6472"/>
                </a:solidFill>
                <a:latin typeface="Aptos"/>
                <a:ea typeface="Aptos"/>
                <a:cs typeface="Aptos"/>
              </a:rPr>
              <a:t>Swap success, necessity, and sufficiency</a:t>
            </a:r>
          </a:p>
        </p:txBody>
      </p:sp>
      <p:sp>
        <p:nvSpPr>
          <p:cNvPr id="15" name="矩形 14">
            <a:extLst>
              <a:ext uri="{FF2B5EF4-FFF2-40B4-BE49-F238E27FC236}">
                <a16:creationId xmlns:a16="http://schemas.microsoft.com/office/drawing/2014/main" id="{BF3EA27F-9CD2-47F7-86FC-7E1D5225885F}"/>
              </a:ext>
            </a:extLst>
          </p:cNvPr>
          <p:cNvSpPr>
            <a:spLocks noGrp="1"/>
          </p:cNvSpPr>
          <p:nvPr/>
        </p:nvSpPr>
        <p:spPr>
          <a:xfrm>
            <a:off x="609600" y="3448050"/>
            <a:ext cx="5219700" cy="1581150"/>
          </a:xfrm>
          <a:prstGeom prst="rect">
            <a:avLst/>
          </a:prstGeom>
          <a:solidFill>
            <a:srgbClr val="FFFFFF"/>
          </a:solidFill>
          <a:ln w="9525">
            <a:solidFill>
              <a:srgbClr val="D7DEE8"/>
            </a:solidFill>
            <a:prstDash val="solid"/>
          </a:ln>
        </p:spPr>
        <p:txBody>
          <a:bodyPr/>
          <a:lstStyle/>
          <a:p>
            <a:endParaRPr/>
          </a:p>
        </p:txBody>
      </p:sp>
      <p:sp>
        <p:nvSpPr>
          <p:cNvPr id="16" name="矩形 15">
            <a:extLst>
              <a:ext uri="{FF2B5EF4-FFF2-40B4-BE49-F238E27FC236}">
                <a16:creationId xmlns:a16="http://schemas.microsoft.com/office/drawing/2014/main" id="{1988BF63-B474-4E49-BECE-12B78741572F}"/>
              </a:ext>
            </a:extLst>
          </p:cNvPr>
          <p:cNvSpPr>
            <a:spLocks noGrp="1"/>
          </p:cNvSpPr>
          <p:nvPr/>
        </p:nvSpPr>
        <p:spPr>
          <a:xfrm>
            <a:off x="609600" y="3448050"/>
            <a:ext cx="85725" cy="1581150"/>
          </a:xfrm>
          <a:prstGeom prst="rect">
            <a:avLst/>
          </a:prstGeom>
          <a:solidFill>
            <a:srgbClr val="2457D6"/>
          </a:solidFill>
          <a:ln w="0">
            <a:solidFill>
              <a:srgbClr val="2457D6"/>
            </a:solidFill>
            <a:prstDash val="solid"/>
          </a:ln>
        </p:spPr>
        <p:txBody>
          <a:bodyPr/>
          <a:lstStyle/>
          <a:p>
            <a:endParaRPr/>
          </a:p>
        </p:txBody>
      </p:sp>
      <p:sp>
        <p:nvSpPr>
          <p:cNvPr id="17" name="矩形 16">
            <a:extLst>
              <a:ext uri="{FF2B5EF4-FFF2-40B4-BE49-F238E27FC236}">
                <a16:creationId xmlns:a16="http://schemas.microsoft.com/office/drawing/2014/main" id="{C1C2AEEA-B649-4E13-9324-4411C02ECB56}"/>
              </a:ext>
            </a:extLst>
          </p:cNvPr>
          <p:cNvSpPr>
            <a:spLocks noGrp="1"/>
          </p:cNvSpPr>
          <p:nvPr/>
        </p:nvSpPr>
        <p:spPr>
          <a:xfrm>
            <a:off x="895350" y="3657600"/>
            <a:ext cx="1676400" cy="304800"/>
          </a:xfrm>
          <a:prstGeom prst="rect">
            <a:avLst/>
          </a:prstGeom>
          <a:noFill/>
          <a:ln w="0">
            <a:noFill/>
            <a:prstDash val="solid"/>
          </a:ln>
        </p:spPr>
        <p:txBody>
          <a:bodyPr lIns="0" tIns="0" rIns="0" bIns="0" anchor="t">
            <a:normAutofit/>
          </a:bodyPr>
          <a:lstStyle/>
          <a:p>
            <a:pPr algn="l">
              <a:buNone/>
              <a:defRPr sz="1800" b="1">
                <a:solidFill>
                  <a:srgbClr val="2457D6"/>
                </a:solidFill>
                <a:latin typeface="Aptos"/>
                <a:ea typeface="Aptos"/>
                <a:cs typeface="Aptos"/>
              </a:defRPr>
            </a:pPr>
            <a:r>
              <a:rPr sz="1800" b="1">
                <a:solidFill>
                  <a:srgbClr val="2457D6"/>
                </a:solidFill>
                <a:latin typeface="Aptos"/>
                <a:ea typeface="Aptos"/>
                <a:cs typeface="Aptos"/>
              </a:rPr>
              <a:t>Auditability</a:t>
            </a:r>
          </a:p>
        </p:txBody>
      </p:sp>
      <p:sp>
        <p:nvSpPr>
          <p:cNvPr id="18" name="矩形 17">
            <a:extLst>
              <a:ext uri="{FF2B5EF4-FFF2-40B4-BE49-F238E27FC236}">
                <a16:creationId xmlns:a16="http://schemas.microsoft.com/office/drawing/2014/main" id="{437E5D33-5F60-49A6-A601-3F79D2E7949F}"/>
              </a:ext>
            </a:extLst>
          </p:cNvPr>
          <p:cNvSpPr>
            <a:spLocks noGrp="1"/>
          </p:cNvSpPr>
          <p:nvPr/>
        </p:nvSpPr>
        <p:spPr>
          <a:xfrm>
            <a:off x="876300" y="3962400"/>
            <a:ext cx="4629150" cy="457200"/>
          </a:xfrm>
          <a:prstGeom prst="rect">
            <a:avLst/>
          </a:prstGeom>
          <a:noFill/>
          <a:ln w="0">
            <a:noFill/>
            <a:prstDash val="solid"/>
          </a:ln>
        </p:spPr>
        <p:txBody>
          <a:bodyPr lIns="0" tIns="0" rIns="0" bIns="0" anchor="t">
            <a:noAutofit/>
          </a:bodyPr>
          <a:lstStyle/>
          <a:p>
            <a:pPr algn="l">
              <a:buNone/>
              <a:defRPr sz="1350" b="0">
                <a:solidFill>
                  <a:srgbClr val="111827"/>
                </a:solidFill>
                <a:latin typeface="Aptos"/>
                <a:ea typeface="Aptos"/>
                <a:cs typeface="Aptos"/>
              </a:defRPr>
            </a:pPr>
            <a:r>
              <a:rPr sz="1600" b="0">
                <a:solidFill>
                  <a:srgbClr val="111827"/>
                </a:solidFill>
                <a:latin typeface="Aptos"/>
                <a:ea typeface="Aptos"/>
                <a:cs typeface="Aptos"/>
              </a:rPr>
              <a:t>Explanations have sufficient coverage, cross-seed stability, and reproducible experimental records.</a:t>
            </a:r>
          </a:p>
        </p:txBody>
      </p:sp>
      <p:sp>
        <p:nvSpPr>
          <p:cNvPr id="19" name="矩形 18">
            <a:extLst>
              <a:ext uri="{FF2B5EF4-FFF2-40B4-BE49-F238E27FC236}">
                <a16:creationId xmlns:a16="http://schemas.microsoft.com/office/drawing/2014/main" id="{3B1C54E1-58E9-4157-9F5A-616331EFB7AE}"/>
              </a:ext>
            </a:extLst>
          </p:cNvPr>
          <p:cNvSpPr>
            <a:spLocks noGrp="1"/>
          </p:cNvSpPr>
          <p:nvPr/>
        </p:nvSpPr>
        <p:spPr>
          <a:xfrm>
            <a:off x="895350" y="4705350"/>
            <a:ext cx="4629150" cy="209550"/>
          </a:xfrm>
          <a:prstGeom prst="rect">
            <a:avLst/>
          </a:prstGeom>
          <a:noFill/>
          <a:ln w="0">
            <a:noFill/>
            <a:prstDash val="solid"/>
          </a:ln>
        </p:spPr>
        <p:txBody>
          <a:bodyPr lIns="0" tIns="0" rIns="0" bIns="0" anchor="t">
            <a:noAutofit/>
          </a:bodyPr>
          <a:lstStyle/>
          <a:p>
            <a:pPr algn="l">
              <a:buNone/>
              <a:defRPr sz="1125" b="1">
                <a:solidFill>
                  <a:srgbClr val="5B6472"/>
                </a:solidFill>
                <a:latin typeface="Aptos"/>
                <a:ea typeface="Aptos"/>
                <a:cs typeface="Aptos"/>
              </a:defRPr>
            </a:pPr>
            <a:r>
              <a:rPr sz="1400" b="1">
                <a:solidFill>
                  <a:srgbClr val="5B6472"/>
                </a:solidFill>
                <a:latin typeface="Aptos"/>
                <a:ea typeface="Aptos"/>
                <a:cs typeface="Aptos"/>
              </a:rPr>
              <a:t>Replication, intervals, configurations, and output records</a:t>
            </a:r>
          </a:p>
        </p:txBody>
      </p:sp>
      <p:sp>
        <p:nvSpPr>
          <p:cNvPr id="20" name="矩形 19">
            <a:extLst>
              <a:ext uri="{FF2B5EF4-FFF2-40B4-BE49-F238E27FC236}">
                <a16:creationId xmlns:a16="http://schemas.microsoft.com/office/drawing/2014/main" id="{040DC084-BBFC-4202-9E5E-CE48568BA14A}"/>
              </a:ext>
            </a:extLst>
          </p:cNvPr>
          <p:cNvSpPr>
            <a:spLocks noGrp="1"/>
          </p:cNvSpPr>
          <p:nvPr/>
        </p:nvSpPr>
        <p:spPr>
          <a:xfrm>
            <a:off x="6096000" y="3448050"/>
            <a:ext cx="5219700" cy="1581150"/>
          </a:xfrm>
          <a:prstGeom prst="rect">
            <a:avLst/>
          </a:prstGeom>
          <a:solidFill>
            <a:srgbClr val="FFFFFF"/>
          </a:solidFill>
          <a:ln w="9525">
            <a:solidFill>
              <a:srgbClr val="D7DEE8"/>
            </a:solidFill>
            <a:prstDash val="solid"/>
          </a:ln>
        </p:spPr>
        <p:txBody>
          <a:bodyPr/>
          <a:lstStyle/>
          <a:p>
            <a:endParaRPr/>
          </a:p>
        </p:txBody>
      </p:sp>
      <p:sp>
        <p:nvSpPr>
          <p:cNvPr id="21" name="矩形 20">
            <a:extLst>
              <a:ext uri="{FF2B5EF4-FFF2-40B4-BE49-F238E27FC236}">
                <a16:creationId xmlns:a16="http://schemas.microsoft.com/office/drawing/2014/main" id="{95E4671F-B87B-4157-9E63-056A8D59505F}"/>
              </a:ext>
            </a:extLst>
          </p:cNvPr>
          <p:cNvSpPr>
            <a:spLocks noGrp="1"/>
          </p:cNvSpPr>
          <p:nvPr/>
        </p:nvSpPr>
        <p:spPr>
          <a:xfrm>
            <a:off x="6096000" y="3448050"/>
            <a:ext cx="85725" cy="1581150"/>
          </a:xfrm>
          <a:prstGeom prst="rect">
            <a:avLst/>
          </a:prstGeom>
          <a:solidFill>
            <a:srgbClr val="B42318"/>
          </a:solidFill>
          <a:ln w="0">
            <a:solidFill>
              <a:srgbClr val="B42318"/>
            </a:solidFill>
            <a:prstDash val="solid"/>
          </a:ln>
        </p:spPr>
        <p:txBody>
          <a:bodyPr/>
          <a:lstStyle/>
          <a:p>
            <a:endParaRPr/>
          </a:p>
        </p:txBody>
      </p:sp>
      <p:sp>
        <p:nvSpPr>
          <p:cNvPr id="22" name="矩形 21">
            <a:extLst>
              <a:ext uri="{FF2B5EF4-FFF2-40B4-BE49-F238E27FC236}">
                <a16:creationId xmlns:a16="http://schemas.microsoft.com/office/drawing/2014/main" id="{0AFD6FFE-D6C5-494A-AC96-0FCB4CE51E81}"/>
              </a:ext>
            </a:extLst>
          </p:cNvPr>
          <p:cNvSpPr>
            <a:spLocks noGrp="1"/>
          </p:cNvSpPr>
          <p:nvPr/>
        </p:nvSpPr>
        <p:spPr>
          <a:xfrm>
            <a:off x="6381749" y="3657600"/>
            <a:ext cx="3138031" cy="304800"/>
          </a:xfrm>
          <a:prstGeom prst="rect">
            <a:avLst/>
          </a:prstGeom>
          <a:noFill/>
          <a:ln w="0">
            <a:noFill/>
            <a:prstDash val="solid"/>
          </a:ln>
        </p:spPr>
        <p:txBody>
          <a:bodyPr lIns="0" tIns="0" rIns="0" bIns="0" anchor="t">
            <a:normAutofit fontScale="95640"/>
          </a:bodyPr>
          <a:lstStyle/>
          <a:p>
            <a:pPr algn="l">
              <a:buNone/>
              <a:defRPr sz="1800" b="1">
                <a:solidFill>
                  <a:srgbClr val="B42318"/>
                </a:solidFill>
                <a:latin typeface="Aptos"/>
                <a:ea typeface="Aptos"/>
                <a:cs typeface="Aptos"/>
              </a:defRPr>
            </a:pPr>
            <a:r>
              <a:rPr sz="1800" b="1">
                <a:solidFill>
                  <a:srgbClr val="B42318"/>
                </a:solidFill>
                <a:latin typeface="Aptos"/>
                <a:ea typeface="Aptos"/>
                <a:cs typeface="Aptos"/>
              </a:rPr>
              <a:t>Engineering feasibility</a:t>
            </a:r>
          </a:p>
        </p:txBody>
      </p:sp>
      <p:sp>
        <p:nvSpPr>
          <p:cNvPr id="23" name="矩形 22">
            <a:extLst>
              <a:ext uri="{FF2B5EF4-FFF2-40B4-BE49-F238E27FC236}">
                <a16:creationId xmlns:a16="http://schemas.microsoft.com/office/drawing/2014/main" id="{1517BA30-F3B2-45B5-B003-AC21059424EF}"/>
              </a:ext>
            </a:extLst>
          </p:cNvPr>
          <p:cNvSpPr>
            <a:spLocks noGrp="1"/>
          </p:cNvSpPr>
          <p:nvPr/>
        </p:nvSpPr>
        <p:spPr>
          <a:xfrm>
            <a:off x="6381749" y="3962661"/>
            <a:ext cx="4629150" cy="457200"/>
          </a:xfrm>
          <a:prstGeom prst="rect">
            <a:avLst/>
          </a:prstGeom>
          <a:noFill/>
          <a:ln w="0">
            <a:noFill/>
            <a:prstDash val="solid"/>
          </a:ln>
        </p:spPr>
        <p:txBody>
          <a:bodyPr lIns="0" tIns="0" rIns="0" bIns="0" anchor="t">
            <a:noAutofit/>
          </a:bodyPr>
          <a:lstStyle/>
          <a:p>
            <a:pPr algn="l">
              <a:buNone/>
              <a:defRPr sz="1350" b="0">
                <a:solidFill>
                  <a:srgbClr val="111827"/>
                </a:solidFill>
                <a:latin typeface="Aptos"/>
                <a:ea typeface="Aptos"/>
                <a:cs typeface="Aptos"/>
              </a:defRPr>
            </a:pPr>
            <a:r>
              <a:rPr sz="1600" b="0">
                <a:solidFill>
                  <a:srgbClr val="111827"/>
                </a:solidFill>
                <a:latin typeface="Aptos"/>
                <a:ea typeface="Aptos"/>
                <a:cs typeface="Aptos"/>
              </a:rPr>
              <a:t>The structure remains practical in parameters, runtime, throughput, and memory.</a:t>
            </a:r>
          </a:p>
        </p:txBody>
      </p:sp>
      <p:sp>
        <p:nvSpPr>
          <p:cNvPr id="24" name="矩形 23">
            <a:extLst>
              <a:ext uri="{FF2B5EF4-FFF2-40B4-BE49-F238E27FC236}">
                <a16:creationId xmlns:a16="http://schemas.microsoft.com/office/drawing/2014/main" id="{BD28CDC8-C913-4077-A4ED-EC2E428E1907}"/>
              </a:ext>
            </a:extLst>
          </p:cNvPr>
          <p:cNvSpPr>
            <a:spLocks noGrp="1"/>
          </p:cNvSpPr>
          <p:nvPr/>
        </p:nvSpPr>
        <p:spPr>
          <a:xfrm>
            <a:off x="6381750" y="4705350"/>
            <a:ext cx="4629150" cy="209550"/>
          </a:xfrm>
          <a:prstGeom prst="rect">
            <a:avLst/>
          </a:prstGeom>
          <a:noFill/>
          <a:ln w="0">
            <a:noFill/>
            <a:prstDash val="solid"/>
          </a:ln>
        </p:spPr>
        <p:txBody>
          <a:bodyPr lIns="0" tIns="0" rIns="0" bIns="0" anchor="t">
            <a:noAutofit/>
          </a:bodyPr>
          <a:lstStyle/>
          <a:p>
            <a:pPr algn="l">
              <a:buNone/>
              <a:defRPr sz="1125" b="1">
                <a:solidFill>
                  <a:srgbClr val="5B6472"/>
                </a:solidFill>
                <a:latin typeface="Aptos"/>
                <a:ea typeface="Aptos"/>
                <a:cs typeface="Aptos"/>
              </a:defRPr>
            </a:pPr>
            <a:r>
              <a:rPr sz="1400" b="1">
                <a:solidFill>
                  <a:srgbClr val="5B6472"/>
                </a:solidFill>
                <a:latin typeface="Aptos"/>
                <a:ea typeface="Aptos"/>
                <a:cs typeface="Aptos"/>
              </a:rPr>
              <a:t>A guardrail, not a definition of interpretability</a:t>
            </a:r>
          </a:p>
        </p:txBody>
      </p:sp>
      <p:sp>
        <p:nvSpPr>
          <p:cNvPr id="25" name="矩形 24">
            <a:extLst>
              <a:ext uri="{FF2B5EF4-FFF2-40B4-BE49-F238E27FC236}">
                <a16:creationId xmlns:a16="http://schemas.microsoft.com/office/drawing/2014/main" id="{1975DB6D-96C8-4665-8E01-C2D7D61BA136}"/>
              </a:ext>
            </a:extLst>
          </p:cNvPr>
          <p:cNvSpPr>
            <a:spLocks noGrp="1"/>
          </p:cNvSpPr>
          <p:nvPr/>
        </p:nvSpPr>
        <p:spPr>
          <a:xfrm>
            <a:off x="609600" y="5524500"/>
            <a:ext cx="10934700" cy="800100"/>
          </a:xfrm>
          <a:prstGeom prst="rect">
            <a:avLst/>
          </a:prstGeom>
          <a:solidFill>
            <a:srgbClr val="111A2E"/>
          </a:solidFill>
          <a:ln w="0">
            <a:solidFill>
              <a:srgbClr val="111A2E"/>
            </a:solidFill>
            <a:prstDash val="solid"/>
          </a:ln>
        </p:spPr>
        <p:txBody>
          <a:bodyPr/>
          <a:lstStyle/>
          <a:p>
            <a:endParaRPr/>
          </a:p>
        </p:txBody>
      </p:sp>
      <p:sp>
        <p:nvSpPr>
          <p:cNvPr id="26" name="矩形 25">
            <a:extLst>
              <a:ext uri="{FF2B5EF4-FFF2-40B4-BE49-F238E27FC236}">
                <a16:creationId xmlns:a16="http://schemas.microsoft.com/office/drawing/2014/main" id="{6EDA8FA9-A143-48C9-A07D-C2FAAF3D1E1D}"/>
              </a:ext>
            </a:extLst>
          </p:cNvPr>
          <p:cNvSpPr>
            <a:spLocks noGrp="1"/>
          </p:cNvSpPr>
          <p:nvPr/>
        </p:nvSpPr>
        <p:spPr>
          <a:xfrm>
            <a:off x="838200" y="5686425"/>
            <a:ext cx="10477500" cy="285750"/>
          </a:xfrm>
          <a:prstGeom prst="rect">
            <a:avLst/>
          </a:prstGeom>
          <a:noFill/>
          <a:ln w="0">
            <a:noFill/>
            <a:prstDash val="solid"/>
          </a:ln>
        </p:spPr>
        <p:txBody>
          <a:bodyPr lIns="0" tIns="0" rIns="0" bIns="0" anchor="t">
            <a:noAutofit/>
          </a:bodyPr>
          <a:lstStyle/>
          <a:p>
            <a:pPr algn="ctr">
              <a:buNone/>
              <a:defRPr sz="1425" b="1">
                <a:solidFill>
                  <a:srgbClr val="FFFFFF"/>
                </a:solidFill>
                <a:latin typeface="Aptos"/>
                <a:ea typeface="Aptos"/>
                <a:cs typeface="Aptos"/>
              </a:defRPr>
            </a:pPr>
            <a:r>
              <a:rPr sz="1600" b="1">
                <a:solidFill>
                  <a:srgbClr val="FFFFFF"/>
                </a:solidFill>
                <a:latin typeface="Aptos"/>
                <a:ea typeface="Aptos"/>
                <a:cs typeface="Aptos"/>
              </a:rPr>
              <a:t>Sparsity is an indirect objective: fewer active features aid retrieval and local intervention, but do not guarantee clear semantic boundaries.</a:t>
            </a:r>
          </a:p>
        </p:txBody>
      </p:sp>
    </p:spTree>
    <p:extLst>
      <p:ext uri="{BB962C8B-B14F-4D97-AF65-F5344CB8AC3E}">
        <p14:creationId xmlns:p14="http://schemas.microsoft.com/office/powerpoint/2010/main" val="199228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38887C0F-BDD0-4565-A3F2-C84372169B63}"/>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125" b="1">
                <a:solidFill>
                  <a:srgbClr val="2457D6"/>
                </a:solidFill>
                <a:latin typeface="Aptos"/>
                <a:ea typeface="Aptos"/>
                <a:cs typeface="Aptos"/>
              </a:rPr>
              <a:t>Structural intervention points in the Transformer</a:t>
            </a:r>
          </a:p>
        </p:txBody>
      </p:sp>
      <p:sp>
        <p:nvSpPr>
          <p:cNvPr id="2" name="矩形 1">
            <a:extLst>
              <a:ext uri="{FF2B5EF4-FFF2-40B4-BE49-F238E27FC236}">
                <a16:creationId xmlns:a16="http://schemas.microsoft.com/office/drawing/2014/main" id="{30A0BD62-6914-4629-8743-F15CBB7A5627}"/>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79860" lnSpcReduction="20000"/>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Semantic information is introduced, routed, expanded, and written back at these stages</a:t>
            </a:r>
          </a:p>
        </p:txBody>
      </p:sp>
      <p:sp>
        <p:nvSpPr>
          <p:cNvPr id="3" name="直接连接符 2">
            <a:extLst>
              <a:ext uri="{FF2B5EF4-FFF2-40B4-BE49-F238E27FC236}">
                <a16:creationId xmlns:a16="http://schemas.microsoft.com/office/drawing/2014/main" id="{0BFD22FB-E001-4609-A7A1-94C9332E4011}"/>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FC7D93A2-F59F-4810-B34C-E38B1B95F498}"/>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05</a:t>
            </a:r>
          </a:p>
        </p:txBody>
      </p:sp>
      <p:sp>
        <p:nvSpPr>
          <p:cNvPr id="5" name="矩形 4">
            <a:extLst>
              <a:ext uri="{FF2B5EF4-FFF2-40B4-BE49-F238E27FC236}">
                <a16:creationId xmlns:a16="http://schemas.microsoft.com/office/drawing/2014/main" id="{5464FDC4-1E7F-4E6A-8FEF-D9250B001668}"/>
              </a:ext>
            </a:extLst>
          </p:cNvPr>
          <p:cNvSpPr>
            <a:spLocks noGrp="1"/>
          </p:cNvSpPr>
          <p:nvPr/>
        </p:nvSpPr>
        <p:spPr>
          <a:xfrm>
            <a:off x="552450" y="1466850"/>
            <a:ext cx="11087100" cy="4286250"/>
          </a:xfrm>
          <a:prstGeom prst="rect">
            <a:avLst/>
          </a:prstGeom>
          <a:solidFill>
            <a:srgbClr val="F1F5F9"/>
          </a:solidFill>
          <a:ln w="0">
            <a:solidFill>
              <a:srgbClr val="F1F5F9"/>
            </a:solidFill>
            <a:prstDash val="solid"/>
          </a:ln>
        </p:spPr>
        <p:txBody>
          <a:bodyPr/>
          <a:lstStyle/>
          <a:p>
            <a:endParaRPr/>
          </a:p>
        </p:txBody>
      </p:sp>
      <p:pic>
        <p:nvPicPr>
          <p:cNvPr id="15" name="图片 12"/>
          <p:cNvPicPr>
            <a:picLocks noChangeAspect="1"/>
          </p:cNvPicPr>
          <p:nvPr/>
        </p:nvPicPr>
        <p:blipFill>
          <a:blip r:embed="rId3"/>
          <a:stretch/>
        </p:blipFill>
        <p:spPr>
          <a:xfrm>
            <a:off x="700088" y="1952625"/>
            <a:ext cx="10715625" cy="3333750"/>
          </a:xfrm>
          <a:prstGeom prst="rect">
            <a:avLst/>
          </a:prstGeom>
        </p:spPr>
      </p:pic>
      <p:sp>
        <p:nvSpPr>
          <p:cNvPr id="7" name="矩形 6">
            <a:extLst>
              <a:ext uri="{FF2B5EF4-FFF2-40B4-BE49-F238E27FC236}">
                <a16:creationId xmlns:a16="http://schemas.microsoft.com/office/drawing/2014/main" id="{61C3DE31-3FD7-49E0-AF52-0AB49FD5B66C}"/>
              </a:ext>
            </a:extLst>
          </p:cNvPr>
          <p:cNvSpPr>
            <a:spLocks noGrp="1"/>
          </p:cNvSpPr>
          <p:nvPr/>
        </p:nvSpPr>
        <p:spPr>
          <a:xfrm>
            <a:off x="685800" y="5905500"/>
            <a:ext cx="10744200" cy="685800"/>
          </a:xfrm>
          <a:prstGeom prst="rect">
            <a:avLst/>
          </a:prstGeom>
          <a:noFill/>
          <a:ln w="0">
            <a:noFill/>
            <a:prstDash val="solid"/>
          </a:ln>
        </p:spPr>
        <p:txBody>
          <a:bodyPr lIns="0" tIns="0" rIns="0" bIns="0" anchor="t">
            <a:normAutofit fontScale="98750"/>
          </a:bodyPr>
          <a:lstStyle/>
          <a:p>
            <a:pPr algn="ctr">
              <a:buNone/>
              <a:defRPr sz="1275" b="1">
                <a:solidFill>
                  <a:srgbClr val="5B6472"/>
                </a:solidFill>
                <a:latin typeface="Aptos"/>
                <a:ea typeface="Aptos"/>
                <a:cs typeface="Aptos"/>
              </a:defRPr>
            </a:pPr>
            <a:r>
              <a:rPr sz="1600" b="1">
                <a:solidFill>
                  <a:srgbClr val="5B6472"/>
                </a:solidFill>
                <a:latin typeface="Aptos"/>
                <a:ea typeface="Aptos"/>
                <a:cs typeface="Aptos"/>
              </a:rPr>
              <a:t>Positional encoding and Attention determine contextual relations; FFN up-projection, activation, and down-projection determine how within-token features form and mix again.</a:t>
            </a:r>
          </a:p>
        </p:txBody>
      </p:sp>
    </p:spTree>
    <p:extLst>
      <p:ext uri="{BB962C8B-B14F-4D97-AF65-F5344CB8AC3E}">
        <p14:creationId xmlns:p14="http://schemas.microsoft.com/office/powerpoint/2010/main" val="986171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449FB8EE-5F98-4B49-963A-C987CF56755F}"/>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125" b="1">
                <a:solidFill>
                  <a:srgbClr val="2457D6"/>
                </a:solidFill>
                <a:latin typeface="Aptos"/>
                <a:ea typeface="Aptos"/>
                <a:cs typeface="Aptos"/>
              </a:rPr>
              <a:t>Literature review: two broad routes</a:t>
            </a:r>
          </a:p>
        </p:txBody>
      </p:sp>
      <p:sp>
        <p:nvSpPr>
          <p:cNvPr id="2" name="矩形 1">
            <a:extLst>
              <a:ext uri="{FF2B5EF4-FFF2-40B4-BE49-F238E27FC236}">
                <a16:creationId xmlns:a16="http://schemas.microsoft.com/office/drawing/2014/main" id="{BEFDA957-2143-4AC6-8E83-2B8DF492FC5C}"/>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81029" lnSpcReduction="20000"/>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Interpretability research broadly divides into post-hoc explanation and intrinsic design</a:t>
            </a:r>
          </a:p>
        </p:txBody>
      </p:sp>
      <p:sp>
        <p:nvSpPr>
          <p:cNvPr id="3" name="直接连接符 2">
            <a:extLst>
              <a:ext uri="{FF2B5EF4-FFF2-40B4-BE49-F238E27FC236}">
                <a16:creationId xmlns:a16="http://schemas.microsoft.com/office/drawing/2014/main" id="{861AB67C-5101-4EDA-920A-C5F5B70BC679}"/>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639E2163-DE50-463E-9FCA-3C793101EFBB}"/>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06</a:t>
            </a:r>
          </a:p>
        </p:txBody>
      </p:sp>
      <p:sp>
        <p:nvSpPr>
          <p:cNvPr id="5" name="矩形 4">
            <a:extLst>
              <a:ext uri="{FF2B5EF4-FFF2-40B4-BE49-F238E27FC236}">
                <a16:creationId xmlns:a16="http://schemas.microsoft.com/office/drawing/2014/main" id="{0026C49E-50E0-4D93-93D7-97CE1BB85592}"/>
              </a:ext>
            </a:extLst>
          </p:cNvPr>
          <p:cNvSpPr>
            <a:spLocks noGrp="1"/>
          </p:cNvSpPr>
          <p:nvPr/>
        </p:nvSpPr>
        <p:spPr>
          <a:xfrm>
            <a:off x="609600" y="1638300"/>
            <a:ext cx="4000500" cy="323850"/>
          </a:xfrm>
          <a:prstGeom prst="rect">
            <a:avLst/>
          </a:prstGeom>
          <a:noFill/>
          <a:ln w="0">
            <a:noFill/>
            <a:prstDash val="solid"/>
          </a:ln>
        </p:spPr>
        <p:txBody>
          <a:bodyPr lIns="0" tIns="0" rIns="0" bIns="0" anchor="t">
            <a:normAutofit/>
          </a:bodyPr>
          <a:lstStyle/>
          <a:p>
            <a:pPr algn="l">
              <a:buNone/>
              <a:defRPr sz="1875" b="1">
                <a:solidFill>
                  <a:srgbClr val="5B6472"/>
                </a:solidFill>
                <a:latin typeface="Aptos"/>
                <a:ea typeface="Aptos"/>
                <a:cs typeface="Aptos"/>
              </a:defRPr>
            </a:pPr>
            <a:r>
              <a:rPr sz="1875" b="1">
                <a:solidFill>
                  <a:srgbClr val="5B6472"/>
                </a:solidFill>
                <a:latin typeface="Aptos"/>
                <a:ea typeface="Aptos"/>
                <a:cs typeface="Aptos"/>
              </a:rPr>
              <a:t>Post-hoc interpretability</a:t>
            </a:r>
          </a:p>
        </p:txBody>
      </p:sp>
      <p:sp>
        <p:nvSpPr>
          <p:cNvPr id="6" name="矩形 5">
            <a:extLst>
              <a:ext uri="{FF2B5EF4-FFF2-40B4-BE49-F238E27FC236}">
                <a16:creationId xmlns:a16="http://schemas.microsoft.com/office/drawing/2014/main" id="{5D9BDAB6-24CB-4558-9CC0-41D980DB757F}"/>
              </a:ext>
            </a:extLst>
          </p:cNvPr>
          <p:cNvSpPr>
            <a:spLocks noGrp="1"/>
          </p:cNvSpPr>
          <p:nvPr/>
        </p:nvSpPr>
        <p:spPr>
          <a:xfrm>
            <a:off x="609600" y="2114549"/>
            <a:ext cx="4953000" cy="2996065"/>
          </a:xfrm>
          <a:prstGeom prst="rect">
            <a:avLst/>
          </a:prstGeom>
          <a:solidFill>
            <a:srgbClr val="FFFFFF"/>
          </a:solidFill>
          <a:ln w="9525">
            <a:solidFill>
              <a:srgbClr val="D7DEE8"/>
            </a:solidFill>
            <a:prstDash val="solid"/>
          </a:ln>
        </p:spPr>
        <p:txBody>
          <a:bodyPr/>
          <a:lstStyle/>
          <a:p>
            <a:endParaRPr/>
          </a:p>
        </p:txBody>
      </p:sp>
      <p:sp>
        <p:nvSpPr>
          <p:cNvPr id="7" name="矩形 6">
            <a:extLst>
              <a:ext uri="{FF2B5EF4-FFF2-40B4-BE49-F238E27FC236}">
                <a16:creationId xmlns:a16="http://schemas.microsoft.com/office/drawing/2014/main" id="{48788423-760A-4B5D-A0C6-EA969AEC8E36}"/>
              </a:ext>
            </a:extLst>
          </p:cNvPr>
          <p:cNvSpPr>
            <a:spLocks noGrp="1"/>
          </p:cNvSpPr>
          <p:nvPr/>
        </p:nvSpPr>
        <p:spPr>
          <a:xfrm>
            <a:off x="952500" y="2400300"/>
            <a:ext cx="4267200" cy="304800"/>
          </a:xfrm>
          <a:prstGeom prst="rect">
            <a:avLst/>
          </a:prstGeom>
          <a:noFill/>
          <a:ln w="0">
            <a:noFill/>
            <a:prstDash val="solid"/>
          </a:ln>
        </p:spPr>
        <p:txBody>
          <a:bodyPr lIns="0" tIns="0" rIns="0" bIns="0" anchor="t">
            <a:normAutofit/>
          </a:bodyPr>
          <a:lstStyle/>
          <a:p>
            <a:pPr algn="ctr">
              <a:buNone/>
              <a:defRPr sz="1725" b="1">
                <a:solidFill>
                  <a:srgbClr val="111827"/>
                </a:solidFill>
                <a:latin typeface="Aptos"/>
                <a:ea typeface="Aptos"/>
                <a:cs typeface="Aptos"/>
              </a:defRPr>
            </a:pPr>
            <a:r>
              <a:rPr sz="1725" b="1">
                <a:solidFill>
                  <a:srgbClr val="111827"/>
                </a:solidFill>
                <a:latin typeface="Aptos"/>
                <a:ea typeface="Aptos"/>
                <a:cs typeface="Aptos"/>
              </a:rPr>
              <a:t>Train the black-box model first</a:t>
            </a:r>
          </a:p>
        </p:txBody>
      </p:sp>
      <p:sp>
        <p:nvSpPr>
          <p:cNvPr id="8" name="矩形 7">
            <a:extLst>
              <a:ext uri="{FF2B5EF4-FFF2-40B4-BE49-F238E27FC236}">
                <a16:creationId xmlns:a16="http://schemas.microsoft.com/office/drawing/2014/main" id="{8939EA9C-EA81-40A5-A908-30780385772A}"/>
              </a:ext>
            </a:extLst>
          </p:cNvPr>
          <p:cNvSpPr>
            <a:spLocks noGrp="1"/>
          </p:cNvSpPr>
          <p:nvPr/>
        </p:nvSpPr>
        <p:spPr>
          <a:xfrm>
            <a:off x="2686050" y="2819400"/>
            <a:ext cx="762000" cy="342900"/>
          </a:xfrm>
          <a:prstGeom prst="rect">
            <a:avLst/>
          </a:prstGeom>
          <a:noFill/>
          <a:ln w="0">
            <a:noFill/>
            <a:prstDash val="solid"/>
          </a:ln>
        </p:spPr>
        <p:txBody>
          <a:bodyPr lIns="0" tIns="0" rIns="0" bIns="0" anchor="t">
            <a:normAutofit/>
          </a:bodyPr>
          <a:lstStyle/>
          <a:p>
            <a:pPr algn="ctr">
              <a:buNone/>
              <a:defRPr sz="2100" b="1">
                <a:solidFill>
                  <a:srgbClr val="8B95A5"/>
                </a:solidFill>
                <a:latin typeface="Aptos"/>
                <a:ea typeface="Aptos"/>
                <a:cs typeface="Aptos"/>
              </a:defRPr>
            </a:pPr>
            <a:r>
              <a:rPr sz="2100" b="1">
                <a:solidFill>
                  <a:srgbClr val="8B95A5"/>
                </a:solidFill>
                <a:latin typeface="Aptos"/>
                <a:ea typeface="Aptos"/>
                <a:cs typeface="Aptos"/>
              </a:rPr>
              <a:t>↓</a:t>
            </a:r>
          </a:p>
        </p:txBody>
      </p:sp>
      <p:sp>
        <p:nvSpPr>
          <p:cNvPr id="9" name="矩形 8">
            <a:extLst>
              <a:ext uri="{FF2B5EF4-FFF2-40B4-BE49-F238E27FC236}">
                <a16:creationId xmlns:a16="http://schemas.microsoft.com/office/drawing/2014/main" id="{4CD176AA-29BB-4BF6-96DA-79ADA469256A}"/>
              </a:ext>
            </a:extLst>
          </p:cNvPr>
          <p:cNvSpPr>
            <a:spLocks noGrp="1"/>
          </p:cNvSpPr>
          <p:nvPr/>
        </p:nvSpPr>
        <p:spPr>
          <a:xfrm>
            <a:off x="952500" y="3295650"/>
            <a:ext cx="4267200" cy="523875"/>
          </a:xfrm>
          <a:prstGeom prst="rect">
            <a:avLst/>
          </a:prstGeom>
          <a:noFill/>
          <a:ln w="0">
            <a:noFill/>
            <a:prstDash val="solid"/>
          </a:ln>
        </p:spPr>
        <p:txBody>
          <a:bodyPr lIns="0" tIns="0" rIns="0" bIns="0" anchor="t">
            <a:normAutofit/>
          </a:bodyPr>
          <a:lstStyle/>
          <a:p>
            <a:pPr algn="ctr">
              <a:buNone/>
              <a:defRPr sz="1575" b="1">
                <a:solidFill>
                  <a:srgbClr val="111827"/>
                </a:solidFill>
                <a:latin typeface="Aptos"/>
                <a:ea typeface="Aptos"/>
                <a:cs typeface="Aptos"/>
              </a:defRPr>
            </a:pPr>
            <a:r>
              <a:rPr sz="1575" b="1">
                <a:solidFill>
                  <a:srgbClr val="111827"/>
                </a:solidFill>
                <a:latin typeface="Aptos"/>
                <a:ea typeface="Aptos"/>
                <a:cs typeface="Aptos"/>
              </a:rPr>
              <a:t>Probes, attribution, SAEs, Transcoders, and circuit tracing</a:t>
            </a:r>
          </a:p>
        </p:txBody>
      </p:sp>
      <p:sp>
        <p:nvSpPr>
          <p:cNvPr id="10" name="矩形 9">
            <a:extLst>
              <a:ext uri="{FF2B5EF4-FFF2-40B4-BE49-F238E27FC236}">
                <a16:creationId xmlns:a16="http://schemas.microsoft.com/office/drawing/2014/main" id="{123D2775-2C19-40C8-B7E6-0EDF6C37CDA6}"/>
              </a:ext>
            </a:extLst>
          </p:cNvPr>
          <p:cNvSpPr>
            <a:spLocks noGrp="1"/>
          </p:cNvSpPr>
          <p:nvPr/>
        </p:nvSpPr>
        <p:spPr>
          <a:xfrm>
            <a:off x="781050" y="4121064"/>
            <a:ext cx="4610100" cy="590550"/>
          </a:xfrm>
          <a:prstGeom prst="rect">
            <a:avLst/>
          </a:prstGeom>
          <a:noFill/>
          <a:ln w="0">
            <a:noFill/>
            <a:prstDash val="solid"/>
          </a:ln>
        </p:spPr>
        <p:txBody>
          <a:bodyPr lIns="0" tIns="0" rIns="0" bIns="0" anchor="t">
            <a:noAutofit/>
          </a:bodyPr>
          <a:lstStyle/>
          <a:p>
            <a:pPr algn="ctr">
              <a:buNone/>
              <a:defRPr sz="1275" b="0">
                <a:solidFill>
                  <a:srgbClr val="5B6472"/>
                </a:solidFill>
                <a:latin typeface="Aptos"/>
                <a:ea typeface="Aptos"/>
                <a:cs typeface="Aptos"/>
              </a:defRPr>
            </a:pPr>
            <a:r>
              <a:rPr sz="1600" b="0">
                <a:solidFill>
                  <a:srgbClr val="5B6472"/>
                </a:solidFill>
                <a:latin typeface="Aptos"/>
                <a:ea typeface="Aptos"/>
                <a:cs typeface="Aptos"/>
              </a:rPr>
              <a:t>Advantage: preserves the original model's capability</a:t>
            </a:r>
          </a:p>
          <a:p>
            <a:pPr algn="ctr">
              <a:buNone/>
              <a:defRPr sz="1275" b="0">
                <a:solidFill>
                  <a:srgbClr val="5B6472"/>
                </a:solidFill>
                <a:latin typeface="Aptos"/>
                <a:ea typeface="Aptos"/>
                <a:cs typeface="Aptos"/>
              </a:defRPr>
            </a:pPr>
            <a:r>
              <a:rPr sz="1600" b="0">
                <a:solidFill>
                  <a:srgbClr val="5B6472"/>
                </a:solidFill>
                <a:latin typeface="Aptos"/>
                <a:ea typeface="Aptos"/>
                <a:cs typeface="Aptos"/>
              </a:rPr>
              <a:t>Risk: explanations are approximate and may not be the model's native computational units</a:t>
            </a:r>
          </a:p>
        </p:txBody>
      </p:sp>
      <p:sp>
        <p:nvSpPr>
          <p:cNvPr id="11" name="矩形 10">
            <a:extLst>
              <a:ext uri="{FF2B5EF4-FFF2-40B4-BE49-F238E27FC236}">
                <a16:creationId xmlns:a16="http://schemas.microsoft.com/office/drawing/2014/main" id="{E3C0D0E4-7BF3-4E7F-9FC3-CED731E2468A}"/>
              </a:ext>
            </a:extLst>
          </p:cNvPr>
          <p:cNvSpPr>
            <a:spLocks noGrp="1"/>
          </p:cNvSpPr>
          <p:nvPr/>
        </p:nvSpPr>
        <p:spPr>
          <a:xfrm>
            <a:off x="6438900" y="1638300"/>
            <a:ext cx="4476750" cy="323850"/>
          </a:xfrm>
          <a:prstGeom prst="rect">
            <a:avLst/>
          </a:prstGeom>
          <a:noFill/>
          <a:ln w="0">
            <a:noFill/>
            <a:prstDash val="solid"/>
          </a:ln>
        </p:spPr>
        <p:txBody>
          <a:bodyPr lIns="0" tIns="0" rIns="0" bIns="0" anchor="t">
            <a:normAutofit/>
          </a:bodyPr>
          <a:lstStyle/>
          <a:p>
            <a:pPr algn="l">
              <a:buNone/>
              <a:defRPr sz="1875" b="1">
                <a:solidFill>
                  <a:srgbClr val="2457D6"/>
                </a:solidFill>
                <a:latin typeface="Aptos"/>
                <a:ea typeface="Aptos"/>
                <a:cs typeface="Aptos"/>
              </a:defRPr>
            </a:pPr>
            <a:r>
              <a:rPr sz="1875" b="1">
                <a:solidFill>
                  <a:srgbClr val="2457D6"/>
                </a:solidFill>
                <a:latin typeface="Aptos"/>
                <a:ea typeface="Aptos"/>
                <a:cs typeface="Aptos"/>
              </a:rPr>
              <a:t>Intrinsic or by-design interpretability</a:t>
            </a:r>
          </a:p>
        </p:txBody>
      </p:sp>
      <p:sp>
        <p:nvSpPr>
          <p:cNvPr id="12" name="矩形 11">
            <a:extLst>
              <a:ext uri="{FF2B5EF4-FFF2-40B4-BE49-F238E27FC236}">
                <a16:creationId xmlns:a16="http://schemas.microsoft.com/office/drawing/2014/main" id="{F8596E95-007F-40B7-A3D1-DF2D32FD2D46}"/>
              </a:ext>
            </a:extLst>
          </p:cNvPr>
          <p:cNvSpPr>
            <a:spLocks noGrp="1"/>
          </p:cNvSpPr>
          <p:nvPr/>
        </p:nvSpPr>
        <p:spPr>
          <a:xfrm>
            <a:off x="6438900" y="2114549"/>
            <a:ext cx="5105400" cy="2996063"/>
          </a:xfrm>
          <a:prstGeom prst="rect">
            <a:avLst/>
          </a:prstGeom>
          <a:solidFill>
            <a:srgbClr val="EAF1FF"/>
          </a:solidFill>
          <a:ln w="19050">
            <a:solidFill>
              <a:srgbClr val="2457D6"/>
            </a:solidFill>
            <a:prstDash val="solid"/>
          </a:ln>
        </p:spPr>
        <p:txBody>
          <a:bodyPr/>
          <a:lstStyle/>
          <a:p>
            <a:endParaRPr/>
          </a:p>
        </p:txBody>
      </p:sp>
      <p:sp>
        <p:nvSpPr>
          <p:cNvPr id="13" name="矩形 12">
            <a:extLst>
              <a:ext uri="{FF2B5EF4-FFF2-40B4-BE49-F238E27FC236}">
                <a16:creationId xmlns:a16="http://schemas.microsoft.com/office/drawing/2014/main" id="{CF5BE973-F3A3-429D-8C86-6263CBEEC025}"/>
              </a:ext>
            </a:extLst>
          </p:cNvPr>
          <p:cNvSpPr>
            <a:spLocks noGrp="1"/>
          </p:cNvSpPr>
          <p:nvPr/>
        </p:nvSpPr>
        <p:spPr>
          <a:xfrm>
            <a:off x="6781800" y="2400300"/>
            <a:ext cx="4419600" cy="304800"/>
          </a:xfrm>
          <a:prstGeom prst="rect">
            <a:avLst/>
          </a:prstGeom>
          <a:noFill/>
          <a:ln w="0">
            <a:noFill/>
            <a:prstDash val="solid"/>
          </a:ln>
        </p:spPr>
        <p:txBody>
          <a:bodyPr lIns="0" tIns="0" rIns="0" bIns="0" anchor="t">
            <a:normAutofit/>
          </a:bodyPr>
          <a:lstStyle/>
          <a:p>
            <a:pPr algn="ctr">
              <a:buNone/>
              <a:defRPr sz="1725" b="1">
                <a:solidFill>
                  <a:srgbClr val="111827"/>
                </a:solidFill>
                <a:latin typeface="Aptos"/>
                <a:ea typeface="Aptos"/>
                <a:cs typeface="Aptos"/>
              </a:defRPr>
            </a:pPr>
            <a:r>
              <a:rPr sz="1725" b="1">
                <a:solidFill>
                  <a:srgbClr val="111827"/>
                </a:solidFill>
                <a:latin typeface="Aptos"/>
                <a:ea typeface="Aptos"/>
                <a:cs typeface="Aptos"/>
              </a:rPr>
              <a:t>Introduce explicit structure during training</a:t>
            </a:r>
          </a:p>
        </p:txBody>
      </p:sp>
      <p:sp>
        <p:nvSpPr>
          <p:cNvPr id="14" name="矩形 13">
            <a:extLst>
              <a:ext uri="{FF2B5EF4-FFF2-40B4-BE49-F238E27FC236}">
                <a16:creationId xmlns:a16="http://schemas.microsoft.com/office/drawing/2014/main" id="{223AC039-1C90-4595-BA17-6C850939D6DE}"/>
              </a:ext>
            </a:extLst>
          </p:cNvPr>
          <p:cNvSpPr>
            <a:spLocks noGrp="1"/>
          </p:cNvSpPr>
          <p:nvPr/>
        </p:nvSpPr>
        <p:spPr>
          <a:xfrm>
            <a:off x="8610600" y="2819400"/>
            <a:ext cx="762000" cy="342900"/>
          </a:xfrm>
          <a:prstGeom prst="rect">
            <a:avLst/>
          </a:prstGeom>
          <a:noFill/>
          <a:ln w="0">
            <a:noFill/>
            <a:prstDash val="solid"/>
          </a:ln>
        </p:spPr>
        <p:txBody>
          <a:bodyPr lIns="0" tIns="0" rIns="0" bIns="0" anchor="t">
            <a:normAutofit/>
          </a:bodyPr>
          <a:lstStyle/>
          <a:p>
            <a:pPr algn="ctr">
              <a:buNone/>
              <a:defRPr sz="2100" b="1">
                <a:solidFill>
                  <a:srgbClr val="2457D6"/>
                </a:solidFill>
                <a:latin typeface="Aptos"/>
                <a:ea typeface="Aptos"/>
                <a:cs typeface="Aptos"/>
              </a:defRPr>
            </a:pPr>
            <a:r>
              <a:rPr sz="2100" b="1">
                <a:solidFill>
                  <a:srgbClr val="2457D6"/>
                </a:solidFill>
                <a:latin typeface="Aptos"/>
                <a:ea typeface="Aptos"/>
                <a:cs typeface="Aptos"/>
              </a:rPr>
              <a:t>↓</a:t>
            </a:r>
          </a:p>
        </p:txBody>
      </p:sp>
      <p:sp>
        <p:nvSpPr>
          <p:cNvPr id="15" name="矩形 14">
            <a:extLst>
              <a:ext uri="{FF2B5EF4-FFF2-40B4-BE49-F238E27FC236}">
                <a16:creationId xmlns:a16="http://schemas.microsoft.com/office/drawing/2014/main" id="{F67395E8-235F-4587-8686-D69DF3DE5300}"/>
              </a:ext>
            </a:extLst>
          </p:cNvPr>
          <p:cNvSpPr>
            <a:spLocks noGrp="1"/>
          </p:cNvSpPr>
          <p:nvPr/>
        </p:nvSpPr>
        <p:spPr>
          <a:xfrm>
            <a:off x="6781800" y="3295650"/>
            <a:ext cx="4419600" cy="523875"/>
          </a:xfrm>
          <a:prstGeom prst="rect">
            <a:avLst/>
          </a:prstGeom>
          <a:noFill/>
          <a:ln w="0">
            <a:noFill/>
            <a:prstDash val="solid"/>
          </a:ln>
        </p:spPr>
        <p:txBody>
          <a:bodyPr lIns="0" tIns="0" rIns="0" bIns="0" anchor="t">
            <a:normAutofit/>
          </a:bodyPr>
          <a:lstStyle/>
          <a:p>
            <a:pPr algn="ctr">
              <a:buNone/>
              <a:defRPr sz="1575" b="1">
                <a:solidFill>
                  <a:srgbClr val="111827"/>
                </a:solidFill>
                <a:latin typeface="Aptos"/>
                <a:ea typeface="Aptos"/>
                <a:cs typeface="Aptos"/>
              </a:defRPr>
            </a:pPr>
            <a:r>
              <a:rPr sz="1575" b="1">
                <a:solidFill>
                  <a:srgbClr val="111827"/>
                </a:solidFill>
                <a:latin typeface="Aptos"/>
                <a:ea typeface="Aptos"/>
                <a:cs typeface="Aptos"/>
              </a:rPr>
              <a:t>Concept bottlenecks, codebooks, modular routing, and sparse units</a:t>
            </a:r>
          </a:p>
        </p:txBody>
      </p:sp>
      <p:sp>
        <p:nvSpPr>
          <p:cNvPr id="16" name="矩形 15">
            <a:extLst>
              <a:ext uri="{FF2B5EF4-FFF2-40B4-BE49-F238E27FC236}">
                <a16:creationId xmlns:a16="http://schemas.microsoft.com/office/drawing/2014/main" id="{ACF6976B-8698-4A08-8897-6C222FE31BF9}"/>
              </a:ext>
            </a:extLst>
          </p:cNvPr>
          <p:cNvSpPr>
            <a:spLocks noGrp="1"/>
          </p:cNvSpPr>
          <p:nvPr/>
        </p:nvSpPr>
        <p:spPr>
          <a:xfrm>
            <a:off x="6781800" y="4095750"/>
            <a:ext cx="4419600" cy="590550"/>
          </a:xfrm>
          <a:prstGeom prst="rect">
            <a:avLst/>
          </a:prstGeom>
          <a:noFill/>
          <a:ln w="0">
            <a:noFill/>
            <a:prstDash val="solid"/>
          </a:ln>
        </p:spPr>
        <p:txBody>
          <a:bodyPr lIns="0" tIns="0" rIns="0" bIns="0" anchor="t">
            <a:noAutofit/>
          </a:bodyPr>
          <a:lstStyle/>
          <a:p>
            <a:pPr algn="ctr">
              <a:buNone/>
              <a:defRPr sz="1275" b="0">
                <a:solidFill>
                  <a:srgbClr val="5B6472"/>
                </a:solidFill>
                <a:latin typeface="Aptos"/>
                <a:ea typeface="Aptos"/>
                <a:cs typeface="Aptos"/>
              </a:defRPr>
            </a:pPr>
            <a:r>
              <a:rPr sz="1600" b="0">
                <a:solidFill>
                  <a:srgbClr val="5B6472"/>
                </a:solidFill>
                <a:latin typeface="Aptos"/>
                <a:ea typeface="Aptos"/>
                <a:cs typeface="Aptos"/>
              </a:rPr>
              <a:t>Advantage: the explanatory interface participates in computation</a:t>
            </a:r>
          </a:p>
          <a:p>
            <a:pPr algn="ctr">
              <a:buNone/>
              <a:defRPr sz="1275" b="0">
                <a:solidFill>
                  <a:srgbClr val="5B6472"/>
                </a:solidFill>
                <a:latin typeface="Aptos"/>
                <a:ea typeface="Aptos"/>
                <a:cs typeface="Aptos"/>
              </a:defRPr>
            </a:pPr>
            <a:r>
              <a:rPr sz="1600" b="0">
                <a:solidFill>
                  <a:srgbClr val="5B6472"/>
                </a:solidFill>
                <a:latin typeface="Aptos"/>
                <a:ea typeface="Aptos"/>
                <a:cs typeface="Aptos"/>
              </a:rPr>
              <a:t>Risk: it may damage capability or be bypassed by the model</a:t>
            </a:r>
          </a:p>
        </p:txBody>
      </p:sp>
      <p:sp>
        <p:nvSpPr>
          <p:cNvPr id="17" name="矩形 16">
            <a:extLst>
              <a:ext uri="{FF2B5EF4-FFF2-40B4-BE49-F238E27FC236}">
                <a16:creationId xmlns:a16="http://schemas.microsoft.com/office/drawing/2014/main" id="{576B21A1-A8F3-481D-9F77-2E646E7FB0D2}"/>
              </a:ext>
            </a:extLst>
          </p:cNvPr>
          <p:cNvSpPr>
            <a:spLocks noGrp="1"/>
          </p:cNvSpPr>
          <p:nvPr/>
        </p:nvSpPr>
        <p:spPr>
          <a:xfrm>
            <a:off x="609600" y="5429250"/>
            <a:ext cx="10934700" cy="885824"/>
          </a:xfrm>
          <a:prstGeom prst="rect">
            <a:avLst/>
          </a:prstGeom>
          <a:solidFill>
            <a:srgbClr val="111A2E"/>
          </a:solidFill>
          <a:ln w="0">
            <a:solidFill>
              <a:srgbClr val="111A2E"/>
            </a:solidFill>
            <a:prstDash val="solid"/>
          </a:ln>
        </p:spPr>
        <p:txBody>
          <a:bodyPr/>
          <a:lstStyle/>
          <a:p>
            <a:endParaRPr/>
          </a:p>
        </p:txBody>
      </p:sp>
      <p:sp>
        <p:nvSpPr>
          <p:cNvPr id="18" name="矩形 17">
            <a:extLst>
              <a:ext uri="{FF2B5EF4-FFF2-40B4-BE49-F238E27FC236}">
                <a16:creationId xmlns:a16="http://schemas.microsoft.com/office/drawing/2014/main" id="{8F5D0D37-37C6-4251-ABC1-4C3D6B54175F}"/>
              </a:ext>
            </a:extLst>
          </p:cNvPr>
          <p:cNvSpPr>
            <a:spLocks noGrp="1"/>
          </p:cNvSpPr>
          <p:nvPr/>
        </p:nvSpPr>
        <p:spPr>
          <a:xfrm>
            <a:off x="838200" y="5591175"/>
            <a:ext cx="10477500" cy="285750"/>
          </a:xfrm>
          <a:prstGeom prst="rect">
            <a:avLst/>
          </a:prstGeom>
          <a:noFill/>
          <a:ln w="0">
            <a:noFill/>
            <a:prstDash val="solid"/>
          </a:ln>
        </p:spPr>
        <p:txBody>
          <a:bodyPr lIns="0" tIns="0" rIns="0" bIns="0" anchor="t">
            <a:noAutofit/>
          </a:bodyPr>
          <a:lstStyle/>
          <a:p>
            <a:pPr algn="ctr">
              <a:buNone/>
              <a:defRPr sz="1500" b="1">
                <a:solidFill>
                  <a:srgbClr val="FFFFFF"/>
                </a:solidFill>
                <a:latin typeface="Aptos"/>
                <a:ea typeface="Aptos"/>
                <a:cs typeface="Aptos"/>
              </a:defRPr>
            </a:pPr>
            <a:r>
              <a:rPr sz="1600" b="1">
                <a:solidFill>
                  <a:srgbClr val="FFFFFF"/>
                </a:solidFill>
                <a:latin typeface="Aptos"/>
                <a:ea typeface="Aptos"/>
                <a:cs typeface="Aptos"/>
              </a:rPr>
              <a:t>This project follows the intrinsic route, while using post-hoc SAEs, semantic probes, and causal interventions to evaluate each structure.</a:t>
            </a:r>
          </a:p>
        </p:txBody>
      </p:sp>
    </p:spTree>
    <p:extLst>
      <p:ext uri="{BB962C8B-B14F-4D97-AF65-F5344CB8AC3E}">
        <p14:creationId xmlns:p14="http://schemas.microsoft.com/office/powerpoint/2010/main" val="442805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4EC91A72-310E-45D7-A969-D4B183F52294}"/>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125" b="1">
                <a:solidFill>
                  <a:srgbClr val="2457D6"/>
                </a:solidFill>
                <a:latin typeface="Aptos"/>
                <a:ea typeface="Aptos"/>
                <a:cs typeface="Aptos"/>
              </a:rPr>
              <a:t>Literature review: progress in post-hoc methods</a:t>
            </a:r>
          </a:p>
        </p:txBody>
      </p:sp>
      <p:sp>
        <p:nvSpPr>
          <p:cNvPr id="2" name="矩形 1">
            <a:extLst>
              <a:ext uri="{FF2B5EF4-FFF2-40B4-BE49-F238E27FC236}">
                <a16:creationId xmlns:a16="http://schemas.microsoft.com/office/drawing/2014/main" id="{E82C7A91-AD45-42EB-867F-F0CADD962450}"/>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79259" lnSpcReduction="10000"/>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Current methods can identify features and circuits, but still struggle to prove how the model originally computes</a:t>
            </a:r>
          </a:p>
        </p:txBody>
      </p:sp>
      <p:sp>
        <p:nvSpPr>
          <p:cNvPr id="3" name="直接连接符 2">
            <a:extLst>
              <a:ext uri="{FF2B5EF4-FFF2-40B4-BE49-F238E27FC236}">
                <a16:creationId xmlns:a16="http://schemas.microsoft.com/office/drawing/2014/main" id="{5AE098DC-5C7E-4EFD-B796-8FC32A0F0D98}"/>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8EC21079-DD99-43D2-BB8F-A6A53D4C8B65}"/>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07</a:t>
            </a:r>
          </a:p>
        </p:txBody>
      </p:sp>
      <p:sp>
        <p:nvSpPr>
          <p:cNvPr id="5" name="矩形 4">
            <a:extLst>
              <a:ext uri="{FF2B5EF4-FFF2-40B4-BE49-F238E27FC236}">
                <a16:creationId xmlns:a16="http://schemas.microsoft.com/office/drawing/2014/main" id="{F78D4A58-CF9D-4DCA-A225-22011C318F80}"/>
              </a:ext>
            </a:extLst>
          </p:cNvPr>
          <p:cNvSpPr>
            <a:spLocks noGrp="1"/>
          </p:cNvSpPr>
          <p:nvPr/>
        </p:nvSpPr>
        <p:spPr>
          <a:xfrm>
            <a:off x="609600" y="1504950"/>
            <a:ext cx="10934700" cy="742950"/>
          </a:xfrm>
          <a:prstGeom prst="rect">
            <a:avLst/>
          </a:prstGeom>
          <a:solidFill>
            <a:srgbClr val="FFFFFF"/>
          </a:solidFill>
          <a:ln w="9525">
            <a:solidFill>
              <a:srgbClr val="D7DEE8"/>
            </a:solidFill>
            <a:prstDash val="solid"/>
          </a:ln>
        </p:spPr>
        <p:txBody>
          <a:bodyPr/>
          <a:lstStyle/>
          <a:p>
            <a:endParaRPr/>
          </a:p>
        </p:txBody>
      </p:sp>
      <p:sp>
        <p:nvSpPr>
          <p:cNvPr id="6" name="矩形 5">
            <a:extLst>
              <a:ext uri="{FF2B5EF4-FFF2-40B4-BE49-F238E27FC236}">
                <a16:creationId xmlns:a16="http://schemas.microsoft.com/office/drawing/2014/main" id="{73103902-4DAE-43D8-98ED-6A956C1810A1}"/>
              </a:ext>
            </a:extLst>
          </p:cNvPr>
          <p:cNvSpPr>
            <a:spLocks noGrp="1"/>
          </p:cNvSpPr>
          <p:nvPr/>
        </p:nvSpPr>
        <p:spPr>
          <a:xfrm>
            <a:off x="838200" y="1676400"/>
            <a:ext cx="2095500" cy="304800"/>
          </a:xfrm>
          <a:prstGeom prst="rect">
            <a:avLst/>
          </a:prstGeom>
          <a:noFill/>
          <a:ln w="0">
            <a:noFill/>
            <a:prstDash val="solid"/>
          </a:ln>
        </p:spPr>
        <p:txBody>
          <a:bodyPr lIns="0" tIns="0" rIns="0" bIns="0" anchor="t">
            <a:noAutofit/>
          </a:bodyPr>
          <a:lstStyle/>
          <a:p>
            <a:pPr algn="l">
              <a:buNone/>
              <a:defRPr sz="1500" b="1">
                <a:solidFill>
                  <a:srgbClr val="2457D6"/>
                </a:solidFill>
                <a:latin typeface="Aptos"/>
                <a:ea typeface="Aptos"/>
                <a:cs typeface="Aptos"/>
              </a:defRPr>
            </a:pPr>
            <a:r>
              <a:rPr sz="1400" b="1">
                <a:solidFill>
                  <a:srgbClr val="2457D6"/>
                </a:solidFill>
                <a:latin typeface="Aptos"/>
                <a:ea typeface="Aptos"/>
                <a:cs typeface="Aptos"/>
              </a:rPr>
              <a:t>Can information be decoded?</a:t>
            </a:r>
          </a:p>
        </p:txBody>
      </p:sp>
      <p:sp>
        <p:nvSpPr>
          <p:cNvPr id="7" name="矩形 6">
            <a:extLst>
              <a:ext uri="{FF2B5EF4-FFF2-40B4-BE49-F238E27FC236}">
                <a16:creationId xmlns:a16="http://schemas.microsoft.com/office/drawing/2014/main" id="{C24ABCED-63F5-41DF-93FD-C14E06B629EC}"/>
              </a:ext>
            </a:extLst>
          </p:cNvPr>
          <p:cNvSpPr>
            <a:spLocks noGrp="1"/>
          </p:cNvSpPr>
          <p:nvPr/>
        </p:nvSpPr>
        <p:spPr>
          <a:xfrm>
            <a:off x="3143250" y="1676400"/>
            <a:ext cx="3429000" cy="304800"/>
          </a:xfrm>
          <a:prstGeom prst="rect">
            <a:avLst/>
          </a:prstGeom>
          <a:noFill/>
          <a:ln w="0">
            <a:noFill/>
            <a:prstDash val="solid"/>
          </a:ln>
        </p:spPr>
        <p:txBody>
          <a:bodyPr lIns="0" tIns="0" rIns="0" bIns="0" anchor="t">
            <a:normAutofit/>
          </a:bodyPr>
          <a:lstStyle/>
          <a:p>
            <a:pPr algn="l">
              <a:buNone/>
              <a:defRPr sz="1350" b="1">
                <a:solidFill>
                  <a:srgbClr val="111827"/>
                </a:solidFill>
                <a:latin typeface="Aptos"/>
                <a:ea typeface="Aptos"/>
                <a:cs typeface="Aptos"/>
              </a:defRPr>
            </a:pPr>
            <a:r>
              <a:rPr sz="1400" b="1">
                <a:solidFill>
                  <a:srgbClr val="111827"/>
                </a:solidFill>
                <a:latin typeface="Aptos"/>
                <a:ea typeface="Aptos"/>
                <a:cs typeface="Aptos"/>
              </a:rPr>
              <a:t>Linear probes and TCAV</a:t>
            </a:r>
          </a:p>
        </p:txBody>
      </p:sp>
      <p:sp>
        <p:nvSpPr>
          <p:cNvPr id="8" name="矩形 7">
            <a:extLst>
              <a:ext uri="{FF2B5EF4-FFF2-40B4-BE49-F238E27FC236}">
                <a16:creationId xmlns:a16="http://schemas.microsoft.com/office/drawing/2014/main" id="{D408B5AC-3FBA-46A7-A531-573CB95CF591}"/>
              </a:ext>
            </a:extLst>
          </p:cNvPr>
          <p:cNvSpPr>
            <a:spLocks noGrp="1"/>
          </p:cNvSpPr>
          <p:nvPr/>
        </p:nvSpPr>
        <p:spPr>
          <a:xfrm>
            <a:off x="6819900" y="1676400"/>
            <a:ext cx="4381500" cy="342900"/>
          </a:xfrm>
          <a:prstGeom prst="rect">
            <a:avLst/>
          </a:prstGeom>
          <a:noFill/>
          <a:ln w="0">
            <a:noFill/>
            <a:prstDash val="solid"/>
          </a:ln>
        </p:spPr>
        <p:txBody>
          <a:bodyPr lIns="0" tIns="0" rIns="0" bIns="0" anchor="t">
            <a:noAutofit/>
          </a:bodyPr>
          <a:lstStyle/>
          <a:p>
            <a:pPr algn="l">
              <a:buNone/>
              <a:defRPr sz="1275" b="0">
                <a:solidFill>
                  <a:srgbClr val="5B6472"/>
                </a:solidFill>
                <a:latin typeface="Aptos"/>
                <a:ea typeface="Aptos"/>
                <a:cs typeface="Aptos"/>
              </a:defRPr>
            </a:pPr>
            <a:r>
              <a:rPr sz="1400" b="0">
                <a:solidFill>
                  <a:srgbClr val="5B6472"/>
                </a:solidFill>
                <a:latin typeface="Aptos"/>
                <a:ea typeface="Aptos"/>
                <a:cs typeface="Aptos"/>
              </a:rPr>
              <a:t>Test whether a representation contains particular information</a:t>
            </a:r>
          </a:p>
        </p:txBody>
      </p:sp>
      <p:sp>
        <p:nvSpPr>
          <p:cNvPr id="9" name="矩形 8">
            <a:extLst>
              <a:ext uri="{FF2B5EF4-FFF2-40B4-BE49-F238E27FC236}">
                <a16:creationId xmlns:a16="http://schemas.microsoft.com/office/drawing/2014/main" id="{FACF887C-D5EF-472E-BF84-0B2B84DDE76F}"/>
              </a:ext>
            </a:extLst>
          </p:cNvPr>
          <p:cNvSpPr>
            <a:spLocks noGrp="1"/>
          </p:cNvSpPr>
          <p:nvPr/>
        </p:nvSpPr>
        <p:spPr>
          <a:xfrm>
            <a:off x="609600" y="2438400"/>
            <a:ext cx="10934700" cy="742950"/>
          </a:xfrm>
          <a:prstGeom prst="rect">
            <a:avLst/>
          </a:prstGeom>
          <a:solidFill>
            <a:srgbClr val="F1F5F9"/>
          </a:solidFill>
          <a:ln w="9525">
            <a:solidFill>
              <a:srgbClr val="F1F5F9"/>
            </a:solidFill>
            <a:prstDash val="solid"/>
          </a:ln>
        </p:spPr>
        <p:txBody>
          <a:bodyPr/>
          <a:lstStyle/>
          <a:p>
            <a:endParaRPr/>
          </a:p>
        </p:txBody>
      </p:sp>
      <p:sp>
        <p:nvSpPr>
          <p:cNvPr id="10" name="矩形 9">
            <a:extLst>
              <a:ext uri="{FF2B5EF4-FFF2-40B4-BE49-F238E27FC236}">
                <a16:creationId xmlns:a16="http://schemas.microsoft.com/office/drawing/2014/main" id="{ADAE6824-5CD7-4694-B791-C0DC6145DDA5}"/>
              </a:ext>
            </a:extLst>
          </p:cNvPr>
          <p:cNvSpPr>
            <a:spLocks noGrp="1"/>
          </p:cNvSpPr>
          <p:nvPr/>
        </p:nvSpPr>
        <p:spPr>
          <a:xfrm>
            <a:off x="838200" y="2609850"/>
            <a:ext cx="2095500" cy="304800"/>
          </a:xfrm>
          <a:prstGeom prst="rect">
            <a:avLst/>
          </a:prstGeom>
          <a:noFill/>
          <a:ln w="0">
            <a:noFill/>
            <a:prstDash val="solid"/>
          </a:ln>
        </p:spPr>
        <p:txBody>
          <a:bodyPr lIns="0" tIns="0" rIns="0" bIns="0" anchor="t">
            <a:noAutofit/>
          </a:bodyPr>
          <a:lstStyle/>
          <a:p>
            <a:pPr algn="l">
              <a:buNone/>
              <a:defRPr sz="1500" b="1">
                <a:solidFill>
                  <a:srgbClr val="0F766E"/>
                </a:solidFill>
                <a:latin typeface="Aptos"/>
                <a:ea typeface="Aptos"/>
                <a:cs typeface="Aptos"/>
              </a:defRPr>
            </a:pPr>
            <a:r>
              <a:rPr sz="1400" b="1">
                <a:solidFill>
                  <a:srgbClr val="0F766E"/>
                </a:solidFill>
                <a:latin typeface="Aptos"/>
                <a:ea typeface="Aptos"/>
                <a:cs typeface="Aptos"/>
              </a:rPr>
              <a:t>What does a feature represent?</a:t>
            </a:r>
          </a:p>
        </p:txBody>
      </p:sp>
      <p:sp>
        <p:nvSpPr>
          <p:cNvPr id="11" name="矩形 10">
            <a:extLst>
              <a:ext uri="{FF2B5EF4-FFF2-40B4-BE49-F238E27FC236}">
                <a16:creationId xmlns:a16="http://schemas.microsoft.com/office/drawing/2014/main" id="{3E5E1AB1-8B67-47C0-ABD1-7B2AA6772398}"/>
              </a:ext>
            </a:extLst>
          </p:cNvPr>
          <p:cNvSpPr>
            <a:spLocks noGrp="1"/>
          </p:cNvSpPr>
          <p:nvPr/>
        </p:nvSpPr>
        <p:spPr>
          <a:xfrm>
            <a:off x="3143250" y="2609850"/>
            <a:ext cx="3429000" cy="3048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400" b="1">
                <a:solidFill>
                  <a:srgbClr val="111827"/>
                </a:solidFill>
                <a:latin typeface="Aptos"/>
                <a:ea typeface="Aptos"/>
                <a:cs typeface="Aptos"/>
              </a:rPr>
              <a:t>Automated neuron interpretation and SAEs</a:t>
            </a:r>
          </a:p>
        </p:txBody>
      </p:sp>
      <p:sp>
        <p:nvSpPr>
          <p:cNvPr id="12" name="矩形 11">
            <a:extLst>
              <a:ext uri="{FF2B5EF4-FFF2-40B4-BE49-F238E27FC236}">
                <a16:creationId xmlns:a16="http://schemas.microsoft.com/office/drawing/2014/main" id="{1A88AA02-0E99-42AF-BFFE-FD7385E9073A}"/>
              </a:ext>
            </a:extLst>
          </p:cNvPr>
          <p:cNvSpPr>
            <a:spLocks noGrp="1"/>
          </p:cNvSpPr>
          <p:nvPr/>
        </p:nvSpPr>
        <p:spPr>
          <a:xfrm>
            <a:off x="6819900" y="2609850"/>
            <a:ext cx="4381500" cy="342900"/>
          </a:xfrm>
          <a:prstGeom prst="rect">
            <a:avLst/>
          </a:prstGeom>
          <a:noFill/>
          <a:ln w="0">
            <a:noFill/>
            <a:prstDash val="solid"/>
          </a:ln>
        </p:spPr>
        <p:txBody>
          <a:bodyPr lIns="0" tIns="0" rIns="0" bIns="0" anchor="t">
            <a:normAutofit/>
          </a:bodyPr>
          <a:lstStyle/>
          <a:p>
            <a:pPr algn="l">
              <a:buNone/>
              <a:defRPr sz="1275" b="0">
                <a:solidFill>
                  <a:srgbClr val="5B6472"/>
                </a:solidFill>
                <a:latin typeface="Aptos"/>
                <a:ea typeface="Aptos"/>
                <a:cs typeface="Aptos"/>
              </a:defRPr>
            </a:pPr>
            <a:r>
              <a:rPr sz="1400" b="0">
                <a:solidFill>
                  <a:srgbClr val="5B6472"/>
                </a:solidFill>
                <a:latin typeface="Aptos"/>
                <a:ea typeface="Aptos"/>
                <a:cs typeface="Aptos"/>
              </a:rPr>
              <a:t>Generate descriptions and decompose dense activations</a:t>
            </a:r>
          </a:p>
        </p:txBody>
      </p:sp>
      <p:sp>
        <p:nvSpPr>
          <p:cNvPr id="13" name="矩形 12">
            <a:extLst>
              <a:ext uri="{FF2B5EF4-FFF2-40B4-BE49-F238E27FC236}">
                <a16:creationId xmlns:a16="http://schemas.microsoft.com/office/drawing/2014/main" id="{9270D155-958C-460C-988E-51AC58B6BBD2}"/>
              </a:ext>
            </a:extLst>
          </p:cNvPr>
          <p:cNvSpPr>
            <a:spLocks noGrp="1"/>
          </p:cNvSpPr>
          <p:nvPr/>
        </p:nvSpPr>
        <p:spPr>
          <a:xfrm>
            <a:off x="609600" y="3371850"/>
            <a:ext cx="10934700" cy="742950"/>
          </a:xfrm>
          <a:prstGeom prst="rect">
            <a:avLst/>
          </a:prstGeom>
          <a:solidFill>
            <a:srgbClr val="FFFFFF"/>
          </a:solidFill>
          <a:ln w="9525">
            <a:solidFill>
              <a:srgbClr val="D7DEE8"/>
            </a:solidFill>
            <a:prstDash val="solid"/>
          </a:ln>
        </p:spPr>
        <p:txBody>
          <a:bodyPr/>
          <a:lstStyle/>
          <a:p>
            <a:endParaRPr/>
          </a:p>
        </p:txBody>
      </p:sp>
      <p:sp>
        <p:nvSpPr>
          <p:cNvPr id="14" name="矩形 13">
            <a:extLst>
              <a:ext uri="{FF2B5EF4-FFF2-40B4-BE49-F238E27FC236}">
                <a16:creationId xmlns:a16="http://schemas.microsoft.com/office/drawing/2014/main" id="{47F7037D-721A-471F-B5D3-4D5BF57FB43E}"/>
              </a:ext>
            </a:extLst>
          </p:cNvPr>
          <p:cNvSpPr>
            <a:spLocks noGrp="1"/>
          </p:cNvSpPr>
          <p:nvPr/>
        </p:nvSpPr>
        <p:spPr>
          <a:xfrm>
            <a:off x="838200" y="3543300"/>
            <a:ext cx="2095500" cy="304800"/>
          </a:xfrm>
          <a:prstGeom prst="rect">
            <a:avLst/>
          </a:prstGeom>
          <a:noFill/>
          <a:ln w="0">
            <a:noFill/>
            <a:prstDash val="solid"/>
          </a:ln>
        </p:spPr>
        <p:txBody>
          <a:bodyPr lIns="0" tIns="0" rIns="0" bIns="0" anchor="t">
            <a:noAutofit/>
          </a:bodyPr>
          <a:lstStyle/>
          <a:p>
            <a:pPr algn="l">
              <a:buNone/>
              <a:defRPr sz="1500" b="1">
                <a:solidFill>
                  <a:srgbClr val="6D3CC7"/>
                </a:solidFill>
                <a:latin typeface="Aptos"/>
                <a:ea typeface="Aptos"/>
                <a:cs typeface="Aptos"/>
              </a:defRPr>
            </a:pPr>
            <a:r>
              <a:rPr sz="1400" b="1">
                <a:solidFill>
                  <a:srgbClr val="6D3CC7"/>
                </a:solidFill>
                <a:latin typeface="Aptos"/>
                <a:ea typeface="Aptos"/>
                <a:cs typeface="Aptos"/>
              </a:rPr>
              <a:t>Does the feature causally matter?</a:t>
            </a:r>
          </a:p>
        </p:txBody>
      </p:sp>
      <p:sp>
        <p:nvSpPr>
          <p:cNvPr id="15" name="矩形 14">
            <a:extLst>
              <a:ext uri="{FF2B5EF4-FFF2-40B4-BE49-F238E27FC236}">
                <a16:creationId xmlns:a16="http://schemas.microsoft.com/office/drawing/2014/main" id="{561355A8-3012-4345-AE37-031934EC9793}"/>
              </a:ext>
            </a:extLst>
          </p:cNvPr>
          <p:cNvSpPr>
            <a:spLocks noGrp="1"/>
          </p:cNvSpPr>
          <p:nvPr/>
        </p:nvSpPr>
        <p:spPr>
          <a:xfrm>
            <a:off x="3143250" y="3543300"/>
            <a:ext cx="3429000" cy="304800"/>
          </a:xfrm>
          <a:prstGeom prst="rect">
            <a:avLst/>
          </a:prstGeom>
          <a:noFill/>
          <a:ln w="0">
            <a:noFill/>
            <a:prstDash val="solid"/>
          </a:ln>
        </p:spPr>
        <p:txBody>
          <a:bodyPr lIns="0" tIns="0" rIns="0" bIns="0" anchor="t">
            <a:normAutofit/>
          </a:bodyPr>
          <a:lstStyle/>
          <a:p>
            <a:pPr algn="l">
              <a:buNone/>
              <a:defRPr sz="1350" b="1">
                <a:solidFill>
                  <a:srgbClr val="111827"/>
                </a:solidFill>
                <a:latin typeface="Aptos"/>
                <a:ea typeface="Aptos"/>
                <a:cs typeface="Aptos"/>
              </a:defRPr>
            </a:pPr>
            <a:r>
              <a:rPr sz="1400" b="1">
                <a:solidFill>
                  <a:srgbClr val="111827"/>
                </a:solidFill>
                <a:latin typeface="Aptos"/>
                <a:ea typeface="Aptos"/>
                <a:cs typeface="Aptos"/>
              </a:rPr>
              <a:t>Activation patching and causal tracing</a:t>
            </a:r>
          </a:p>
        </p:txBody>
      </p:sp>
      <p:sp>
        <p:nvSpPr>
          <p:cNvPr id="16" name="矩形 15">
            <a:extLst>
              <a:ext uri="{FF2B5EF4-FFF2-40B4-BE49-F238E27FC236}">
                <a16:creationId xmlns:a16="http://schemas.microsoft.com/office/drawing/2014/main" id="{A691F67C-31BE-4A13-9E1C-9C0424762BFF}"/>
              </a:ext>
            </a:extLst>
          </p:cNvPr>
          <p:cNvSpPr>
            <a:spLocks noGrp="1"/>
          </p:cNvSpPr>
          <p:nvPr/>
        </p:nvSpPr>
        <p:spPr>
          <a:xfrm>
            <a:off x="6819900" y="3543300"/>
            <a:ext cx="4381500" cy="342900"/>
          </a:xfrm>
          <a:prstGeom prst="rect">
            <a:avLst/>
          </a:prstGeom>
          <a:noFill/>
          <a:ln w="0">
            <a:noFill/>
            <a:prstDash val="solid"/>
          </a:ln>
        </p:spPr>
        <p:txBody>
          <a:bodyPr lIns="0" tIns="0" rIns="0" bIns="0" anchor="t">
            <a:normAutofit/>
          </a:bodyPr>
          <a:lstStyle/>
          <a:p>
            <a:pPr algn="l">
              <a:buNone/>
              <a:defRPr sz="1275" b="0">
                <a:solidFill>
                  <a:srgbClr val="5B6472"/>
                </a:solidFill>
                <a:latin typeface="Aptos"/>
                <a:ea typeface="Aptos"/>
                <a:cs typeface="Aptos"/>
              </a:defRPr>
            </a:pPr>
            <a:r>
              <a:rPr sz="1400" b="0">
                <a:solidFill>
                  <a:srgbClr val="5B6472"/>
                </a:solidFill>
                <a:latin typeface="Aptos"/>
                <a:ea typeface="Aptos"/>
                <a:cs typeface="Aptos"/>
              </a:rPr>
              <a:t>Test output changes through replacement or intervention</a:t>
            </a:r>
          </a:p>
        </p:txBody>
      </p:sp>
      <p:sp>
        <p:nvSpPr>
          <p:cNvPr id="17" name="矩形 16">
            <a:extLst>
              <a:ext uri="{FF2B5EF4-FFF2-40B4-BE49-F238E27FC236}">
                <a16:creationId xmlns:a16="http://schemas.microsoft.com/office/drawing/2014/main" id="{6A71FA0F-528B-4EE4-ADF5-9922B238172A}"/>
              </a:ext>
            </a:extLst>
          </p:cNvPr>
          <p:cNvSpPr>
            <a:spLocks noGrp="1"/>
          </p:cNvSpPr>
          <p:nvPr/>
        </p:nvSpPr>
        <p:spPr>
          <a:xfrm>
            <a:off x="609600" y="4305300"/>
            <a:ext cx="10934700" cy="742950"/>
          </a:xfrm>
          <a:prstGeom prst="rect">
            <a:avLst/>
          </a:prstGeom>
          <a:solidFill>
            <a:srgbClr val="F1F5F9"/>
          </a:solidFill>
          <a:ln w="9525">
            <a:solidFill>
              <a:srgbClr val="F1F5F9"/>
            </a:solidFill>
            <a:prstDash val="solid"/>
          </a:ln>
        </p:spPr>
        <p:txBody>
          <a:bodyPr/>
          <a:lstStyle/>
          <a:p>
            <a:endParaRPr/>
          </a:p>
        </p:txBody>
      </p:sp>
      <p:sp>
        <p:nvSpPr>
          <p:cNvPr id="18" name="矩形 17">
            <a:extLst>
              <a:ext uri="{FF2B5EF4-FFF2-40B4-BE49-F238E27FC236}">
                <a16:creationId xmlns:a16="http://schemas.microsoft.com/office/drawing/2014/main" id="{6696D5DF-ADAC-464D-ADB1-E45E6DD3D189}"/>
              </a:ext>
            </a:extLst>
          </p:cNvPr>
          <p:cNvSpPr>
            <a:spLocks noGrp="1"/>
          </p:cNvSpPr>
          <p:nvPr/>
        </p:nvSpPr>
        <p:spPr>
          <a:xfrm>
            <a:off x="838200" y="4476750"/>
            <a:ext cx="2095500" cy="304800"/>
          </a:xfrm>
          <a:prstGeom prst="rect">
            <a:avLst/>
          </a:prstGeom>
          <a:noFill/>
          <a:ln w="0">
            <a:noFill/>
            <a:prstDash val="solid"/>
          </a:ln>
        </p:spPr>
        <p:txBody>
          <a:bodyPr lIns="0" tIns="0" rIns="0" bIns="0" anchor="t">
            <a:noAutofit/>
          </a:bodyPr>
          <a:lstStyle/>
          <a:p>
            <a:pPr algn="l">
              <a:buNone/>
              <a:defRPr sz="1500" b="1">
                <a:solidFill>
                  <a:srgbClr val="B45309"/>
                </a:solidFill>
                <a:latin typeface="Aptos"/>
                <a:ea typeface="Aptos"/>
                <a:cs typeface="Aptos"/>
              </a:defRPr>
            </a:pPr>
            <a:r>
              <a:rPr sz="1400" b="1">
                <a:solidFill>
                  <a:srgbClr val="B45309"/>
                </a:solidFill>
                <a:latin typeface="Aptos"/>
                <a:ea typeface="Aptos"/>
                <a:cs typeface="Aptos"/>
              </a:rPr>
              <a:t>How do features compose across layers?</a:t>
            </a:r>
          </a:p>
        </p:txBody>
      </p:sp>
      <p:sp>
        <p:nvSpPr>
          <p:cNvPr id="19" name="矩形 18">
            <a:extLst>
              <a:ext uri="{FF2B5EF4-FFF2-40B4-BE49-F238E27FC236}">
                <a16:creationId xmlns:a16="http://schemas.microsoft.com/office/drawing/2014/main" id="{571F9212-93FD-4505-9D0F-710B6291BC00}"/>
              </a:ext>
            </a:extLst>
          </p:cNvPr>
          <p:cNvSpPr>
            <a:spLocks noGrp="1"/>
          </p:cNvSpPr>
          <p:nvPr/>
        </p:nvSpPr>
        <p:spPr>
          <a:xfrm>
            <a:off x="3143250" y="4476750"/>
            <a:ext cx="3429000" cy="3048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400" b="1">
                <a:solidFill>
                  <a:srgbClr val="111827"/>
                </a:solidFill>
                <a:latin typeface="Aptos"/>
                <a:ea typeface="Aptos"/>
                <a:cs typeface="Aptos"/>
              </a:rPr>
              <a:t>Transcoders, Crosscoders, and Circuit Tracing</a:t>
            </a:r>
          </a:p>
        </p:txBody>
      </p:sp>
      <p:sp>
        <p:nvSpPr>
          <p:cNvPr id="20" name="矩形 19">
            <a:extLst>
              <a:ext uri="{FF2B5EF4-FFF2-40B4-BE49-F238E27FC236}">
                <a16:creationId xmlns:a16="http://schemas.microsoft.com/office/drawing/2014/main" id="{BA72B4DD-2E79-4D62-BF61-283A90809E0A}"/>
              </a:ext>
            </a:extLst>
          </p:cNvPr>
          <p:cNvSpPr>
            <a:spLocks noGrp="1"/>
          </p:cNvSpPr>
          <p:nvPr/>
        </p:nvSpPr>
        <p:spPr>
          <a:xfrm>
            <a:off x="6819900" y="4476750"/>
            <a:ext cx="4381500" cy="342900"/>
          </a:xfrm>
          <a:prstGeom prst="rect">
            <a:avLst/>
          </a:prstGeom>
          <a:noFill/>
          <a:ln w="0">
            <a:noFill/>
            <a:prstDash val="solid"/>
          </a:ln>
        </p:spPr>
        <p:txBody>
          <a:bodyPr lIns="0" tIns="0" rIns="0" bIns="0" anchor="t">
            <a:noAutofit/>
          </a:bodyPr>
          <a:lstStyle/>
          <a:p>
            <a:pPr algn="l">
              <a:buNone/>
              <a:defRPr sz="1275" b="0">
                <a:solidFill>
                  <a:srgbClr val="5B6472"/>
                </a:solidFill>
                <a:latin typeface="Aptos"/>
                <a:ea typeface="Aptos"/>
                <a:cs typeface="Aptos"/>
              </a:defRPr>
            </a:pPr>
            <a:r>
              <a:rPr sz="1400" b="0">
                <a:solidFill>
                  <a:srgbClr val="5B6472"/>
                </a:solidFill>
                <a:latin typeface="Aptos"/>
                <a:ea typeface="Aptos"/>
                <a:cs typeface="Aptos"/>
              </a:rPr>
              <a:t>Extend single-layer features into cross-layer computational paths</a:t>
            </a:r>
          </a:p>
        </p:txBody>
      </p:sp>
      <p:sp>
        <p:nvSpPr>
          <p:cNvPr id="21" name="矩形 20">
            <a:extLst>
              <a:ext uri="{FF2B5EF4-FFF2-40B4-BE49-F238E27FC236}">
                <a16:creationId xmlns:a16="http://schemas.microsoft.com/office/drawing/2014/main" id="{9F87DC88-451F-4D2B-A2F3-F4F2023B668B}"/>
              </a:ext>
            </a:extLst>
          </p:cNvPr>
          <p:cNvSpPr>
            <a:spLocks noGrp="1"/>
          </p:cNvSpPr>
          <p:nvPr/>
        </p:nvSpPr>
        <p:spPr>
          <a:xfrm>
            <a:off x="609600" y="5467350"/>
            <a:ext cx="10934700" cy="847724"/>
          </a:xfrm>
          <a:prstGeom prst="rect">
            <a:avLst/>
          </a:prstGeom>
          <a:solidFill>
            <a:srgbClr val="FDECEC"/>
          </a:solidFill>
          <a:ln w="0">
            <a:solidFill>
              <a:srgbClr val="FDECEC"/>
            </a:solidFill>
            <a:prstDash val="solid"/>
          </a:ln>
        </p:spPr>
        <p:txBody>
          <a:bodyPr/>
          <a:lstStyle/>
          <a:p>
            <a:endParaRPr/>
          </a:p>
        </p:txBody>
      </p:sp>
      <p:sp>
        <p:nvSpPr>
          <p:cNvPr id="22" name="矩形 21">
            <a:extLst>
              <a:ext uri="{FF2B5EF4-FFF2-40B4-BE49-F238E27FC236}">
                <a16:creationId xmlns:a16="http://schemas.microsoft.com/office/drawing/2014/main" id="{12317670-C859-477B-A71D-DFBA84D88A01}"/>
              </a:ext>
            </a:extLst>
          </p:cNvPr>
          <p:cNvSpPr>
            <a:spLocks noGrp="1"/>
          </p:cNvSpPr>
          <p:nvPr/>
        </p:nvSpPr>
        <p:spPr>
          <a:xfrm>
            <a:off x="800100" y="5638800"/>
            <a:ext cx="10553700" cy="266700"/>
          </a:xfrm>
          <a:prstGeom prst="rect">
            <a:avLst/>
          </a:prstGeom>
          <a:noFill/>
          <a:ln w="0">
            <a:noFill/>
            <a:prstDash val="solid"/>
          </a:ln>
        </p:spPr>
        <p:txBody>
          <a:bodyPr lIns="0" tIns="0" rIns="0" bIns="0" anchor="t">
            <a:noAutofit/>
          </a:bodyPr>
          <a:lstStyle/>
          <a:p>
            <a:pPr algn="ctr">
              <a:buNone/>
              <a:defRPr sz="1350" b="1">
                <a:solidFill>
                  <a:srgbClr val="B42318"/>
                </a:solidFill>
                <a:latin typeface="Aptos"/>
                <a:ea typeface="Aptos"/>
                <a:cs typeface="Aptos"/>
              </a:defRPr>
            </a:pPr>
            <a:r>
              <a:rPr sz="1600" b="1">
                <a:solidFill>
                  <a:srgbClr val="B42318"/>
                </a:solidFill>
                <a:latin typeface="Aptos"/>
                <a:ea typeface="Aptos"/>
                <a:cs typeface="Aptos"/>
              </a:rPr>
              <a:t>Core limitations: feature splitting, absorption, cross-seed instability, and the fact that reconstruction does not prove the original model computes in those units.</a:t>
            </a:r>
          </a:p>
        </p:txBody>
      </p:sp>
    </p:spTree>
    <p:extLst>
      <p:ext uri="{BB962C8B-B14F-4D97-AF65-F5344CB8AC3E}">
        <p14:creationId xmlns:p14="http://schemas.microsoft.com/office/powerpoint/2010/main" val="2136022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6" name="矩形 35">
            <a:extLst>
              <a:ext uri="{FF2B5EF4-FFF2-40B4-BE49-F238E27FC236}">
                <a16:creationId xmlns:a16="http://schemas.microsoft.com/office/drawing/2014/main" id="{E4A85F3E-36D0-4640-ADC0-2F94888E6C6D}"/>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125" b="1">
                <a:solidFill>
                  <a:srgbClr val="2457D6"/>
                </a:solidFill>
                <a:latin typeface="Aptos"/>
                <a:ea typeface="Aptos"/>
                <a:cs typeface="Aptos"/>
              </a:rPr>
              <a:t>Literature review: progress in intrinsic structures</a:t>
            </a:r>
          </a:p>
        </p:txBody>
      </p:sp>
      <p:sp>
        <p:nvSpPr>
          <p:cNvPr id="2" name="矩形 1">
            <a:extLst>
              <a:ext uri="{FF2B5EF4-FFF2-40B4-BE49-F238E27FC236}">
                <a16:creationId xmlns:a16="http://schemas.microsoft.com/office/drawing/2014/main" id="{7BA5AB82-A053-425F-8ED3-FA753FE081F5}"/>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83026" lnSpcReduction="10000"/>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Research now spans concepts, discrete addresses, modular routing, and sparse interactions</a:t>
            </a:r>
          </a:p>
        </p:txBody>
      </p:sp>
      <p:sp>
        <p:nvSpPr>
          <p:cNvPr id="3" name="直接连接符 2">
            <a:extLst>
              <a:ext uri="{FF2B5EF4-FFF2-40B4-BE49-F238E27FC236}">
                <a16:creationId xmlns:a16="http://schemas.microsoft.com/office/drawing/2014/main" id="{2D9CE77B-2482-4D67-A1EC-6296EE8CAB23}"/>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F5A8B2DF-8358-4FB0-B61A-A15736545218}"/>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08</a:t>
            </a:r>
          </a:p>
        </p:txBody>
      </p:sp>
      <p:sp>
        <p:nvSpPr>
          <p:cNvPr id="5" name="矩形 4">
            <a:extLst>
              <a:ext uri="{FF2B5EF4-FFF2-40B4-BE49-F238E27FC236}">
                <a16:creationId xmlns:a16="http://schemas.microsoft.com/office/drawing/2014/main" id="{0D6493C5-7AD3-471A-AE21-8F16075D4B50}"/>
              </a:ext>
            </a:extLst>
          </p:cNvPr>
          <p:cNvSpPr>
            <a:spLocks noGrp="1"/>
          </p:cNvSpPr>
          <p:nvPr/>
        </p:nvSpPr>
        <p:spPr>
          <a:xfrm>
            <a:off x="609600" y="1504950"/>
            <a:ext cx="5219700" cy="1143000"/>
          </a:xfrm>
          <a:prstGeom prst="rect">
            <a:avLst/>
          </a:prstGeom>
          <a:solidFill>
            <a:srgbClr val="FFFFFF"/>
          </a:solidFill>
          <a:ln w="9525">
            <a:solidFill>
              <a:srgbClr val="D7DEE8"/>
            </a:solidFill>
            <a:prstDash val="solid"/>
          </a:ln>
        </p:spPr>
        <p:txBody>
          <a:bodyPr/>
          <a:lstStyle/>
          <a:p>
            <a:endParaRPr/>
          </a:p>
        </p:txBody>
      </p:sp>
      <p:sp>
        <p:nvSpPr>
          <p:cNvPr id="6" name="矩形 5">
            <a:extLst>
              <a:ext uri="{FF2B5EF4-FFF2-40B4-BE49-F238E27FC236}">
                <a16:creationId xmlns:a16="http://schemas.microsoft.com/office/drawing/2014/main" id="{66C11914-22B2-4A73-8AB5-A6451B1460D3}"/>
              </a:ext>
            </a:extLst>
          </p:cNvPr>
          <p:cNvSpPr>
            <a:spLocks noGrp="1"/>
          </p:cNvSpPr>
          <p:nvPr/>
        </p:nvSpPr>
        <p:spPr>
          <a:xfrm>
            <a:off x="609600" y="1504950"/>
            <a:ext cx="76200" cy="1143000"/>
          </a:xfrm>
          <a:prstGeom prst="rect">
            <a:avLst/>
          </a:prstGeom>
          <a:solidFill>
            <a:srgbClr val="2457D6"/>
          </a:solidFill>
          <a:ln w="0">
            <a:solidFill>
              <a:srgbClr val="2457D6"/>
            </a:solidFill>
            <a:prstDash val="solid"/>
          </a:ln>
        </p:spPr>
        <p:txBody>
          <a:bodyPr/>
          <a:lstStyle/>
          <a:p>
            <a:endParaRPr/>
          </a:p>
        </p:txBody>
      </p:sp>
      <p:sp>
        <p:nvSpPr>
          <p:cNvPr id="7" name="矩形 6">
            <a:extLst>
              <a:ext uri="{FF2B5EF4-FFF2-40B4-BE49-F238E27FC236}">
                <a16:creationId xmlns:a16="http://schemas.microsoft.com/office/drawing/2014/main" id="{DD553909-833B-4DDA-8708-EF2226064E64}"/>
              </a:ext>
            </a:extLst>
          </p:cNvPr>
          <p:cNvSpPr>
            <a:spLocks noGrp="1"/>
          </p:cNvSpPr>
          <p:nvPr/>
        </p:nvSpPr>
        <p:spPr>
          <a:xfrm>
            <a:off x="876300" y="1676400"/>
            <a:ext cx="1967108" cy="209550"/>
          </a:xfrm>
          <a:prstGeom prst="rect">
            <a:avLst/>
          </a:prstGeom>
          <a:noFill/>
          <a:ln w="0">
            <a:noFill/>
            <a:prstDash val="solid"/>
          </a:ln>
        </p:spPr>
        <p:txBody>
          <a:bodyPr lIns="0" tIns="0" rIns="0" bIns="0" anchor="t">
            <a:noAutofit/>
          </a:bodyPr>
          <a:lstStyle/>
          <a:p>
            <a:pPr algn="l">
              <a:buNone/>
              <a:defRPr sz="1425" b="1">
                <a:solidFill>
                  <a:srgbClr val="2457D6"/>
                </a:solidFill>
                <a:latin typeface="Aptos"/>
                <a:ea typeface="Aptos"/>
                <a:cs typeface="Aptos"/>
              </a:defRPr>
            </a:pPr>
            <a:r>
              <a:rPr sz="1600" b="1">
                <a:solidFill>
                  <a:srgbClr val="2457D6"/>
                </a:solidFill>
                <a:latin typeface="Aptos"/>
                <a:ea typeface="Aptos"/>
                <a:cs typeface="Aptos"/>
              </a:rPr>
              <a:t>Concept interface</a:t>
            </a:r>
          </a:p>
        </p:txBody>
      </p:sp>
      <p:sp>
        <p:nvSpPr>
          <p:cNvPr id="8" name="矩形 7">
            <a:extLst>
              <a:ext uri="{FF2B5EF4-FFF2-40B4-BE49-F238E27FC236}">
                <a16:creationId xmlns:a16="http://schemas.microsoft.com/office/drawing/2014/main" id="{5522578C-14CC-4B5A-A294-B12E92933CDD}"/>
              </a:ext>
            </a:extLst>
          </p:cNvPr>
          <p:cNvSpPr>
            <a:spLocks noGrp="1"/>
          </p:cNvSpPr>
          <p:nvPr/>
        </p:nvSpPr>
        <p:spPr>
          <a:xfrm>
            <a:off x="4108145" y="1613639"/>
            <a:ext cx="2161001" cy="247650"/>
          </a:xfrm>
          <a:prstGeom prst="rect">
            <a:avLst/>
          </a:prstGeom>
          <a:noFill/>
          <a:ln w="0">
            <a:noFill/>
            <a:prstDash val="solid"/>
          </a:ln>
        </p:spPr>
        <p:txBody>
          <a:bodyPr lIns="0" tIns="0" rIns="0" bIns="0" anchor="t">
            <a:normAutofit/>
          </a:bodyPr>
          <a:lstStyle/>
          <a:p>
            <a:pPr algn="l">
              <a:buNone/>
              <a:defRPr sz="1275" b="1">
                <a:solidFill>
                  <a:srgbClr val="111827"/>
                </a:solidFill>
                <a:latin typeface="Aptos"/>
                <a:ea typeface="Aptos"/>
                <a:cs typeface="Aptos"/>
              </a:defRPr>
            </a:pPr>
            <a:r>
              <a:rPr sz="1400" b="1">
                <a:solidFill>
                  <a:srgbClr val="111827"/>
                </a:solidFill>
                <a:latin typeface="Aptos"/>
                <a:ea typeface="Aptos"/>
                <a:cs typeface="Aptos"/>
              </a:rPr>
              <a:t>Concept Bottleneck</a:t>
            </a:r>
          </a:p>
        </p:txBody>
      </p:sp>
      <p:sp>
        <p:nvSpPr>
          <p:cNvPr id="9" name="矩形 8">
            <a:extLst>
              <a:ext uri="{FF2B5EF4-FFF2-40B4-BE49-F238E27FC236}">
                <a16:creationId xmlns:a16="http://schemas.microsoft.com/office/drawing/2014/main" id="{BF3F893D-C1BD-4B94-9383-13FD883713BA}"/>
              </a:ext>
            </a:extLst>
          </p:cNvPr>
          <p:cNvSpPr>
            <a:spLocks noGrp="1"/>
          </p:cNvSpPr>
          <p:nvPr/>
        </p:nvSpPr>
        <p:spPr>
          <a:xfrm>
            <a:off x="876300" y="2114550"/>
            <a:ext cx="4629150" cy="3810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600" b="0">
                <a:solidFill>
                  <a:srgbClr val="5B6472"/>
                </a:solidFill>
                <a:latin typeface="Aptos"/>
                <a:ea typeface="Aptos"/>
                <a:cs typeface="Aptos"/>
              </a:rPr>
              <a:t>Predict human concepts first, then use them to solve the task</a:t>
            </a:r>
          </a:p>
        </p:txBody>
      </p:sp>
      <p:sp>
        <p:nvSpPr>
          <p:cNvPr id="10" name="矩形 9">
            <a:extLst>
              <a:ext uri="{FF2B5EF4-FFF2-40B4-BE49-F238E27FC236}">
                <a16:creationId xmlns:a16="http://schemas.microsoft.com/office/drawing/2014/main" id="{575B386D-0556-49BA-B03F-50A156D24B17}"/>
              </a:ext>
            </a:extLst>
          </p:cNvPr>
          <p:cNvSpPr>
            <a:spLocks noGrp="1"/>
          </p:cNvSpPr>
          <p:nvPr/>
        </p:nvSpPr>
        <p:spPr>
          <a:xfrm>
            <a:off x="6096000" y="1504950"/>
            <a:ext cx="5219700" cy="1143000"/>
          </a:xfrm>
          <a:prstGeom prst="rect">
            <a:avLst/>
          </a:prstGeom>
          <a:solidFill>
            <a:srgbClr val="FFFFFF"/>
          </a:solidFill>
          <a:ln w="9525">
            <a:solidFill>
              <a:srgbClr val="D7DEE8"/>
            </a:solidFill>
            <a:prstDash val="solid"/>
          </a:ln>
        </p:spPr>
        <p:txBody>
          <a:bodyPr/>
          <a:lstStyle/>
          <a:p>
            <a:endParaRPr/>
          </a:p>
        </p:txBody>
      </p:sp>
      <p:sp>
        <p:nvSpPr>
          <p:cNvPr id="11" name="矩形 10">
            <a:extLst>
              <a:ext uri="{FF2B5EF4-FFF2-40B4-BE49-F238E27FC236}">
                <a16:creationId xmlns:a16="http://schemas.microsoft.com/office/drawing/2014/main" id="{4704C8E9-7BE7-459E-8FCF-63069A68362F}"/>
              </a:ext>
            </a:extLst>
          </p:cNvPr>
          <p:cNvSpPr>
            <a:spLocks noGrp="1"/>
          </p:cNvSpPr>
          <p:nvPr/>
        </p:nvSpPr>
        <p:spPr>
          <a:xfrm>
            <a:off x="6096000" y="1504950"/>
            <a:ext cx="76200" cy="1143000"/>
          </a:xfrm>
          <a:prstGeom prst="rect">
            <a:avLst/>
          </a:prstGeom>
          <a:solidFill>
            <a:srgbClr val="0F766E"/>
          </a:solidFill>
          <a:ln w="0">
            <a:solidFill>
              <a:srgbClr val="0F766E"/>
            </a:solidFill>
            <a:prstDash val="solid"/>
          </a:ln>
        </p:spPr>
        <p:txBody>
          <a:bodyPr/>
          <a:lstStyle/>
          <a:p>
            <a:endParaRPr/>
          </a:p>
        </p:txBody>
      </p:sp>
      <p:sp>
        <p:nvSpPr>
          <p:cNvPr id="12" name="矩形 11">
            <a:extLst>
              <a:ext uri="{FF2B5EF4-FFF2-40B4-BE49-F238E27FC236}">
                <a16:creationId xmlns:a16="http://schemas.microsoft.com/office/drawing/2014/main" id="{2FF6F026-BC19-49E8-A4CF-647B699DB717}"/>
              </a:ext>
            </a:extLst>
          </p:cNvPr>
          <p:cNvSpPr>
            <a:spLocks noGrp="1"/>
          </p:cNvSpPr>
          <p:nvPr/>
        </p:nvSpPr>
        <p:spPr>
          <a:xfrm>
            <a:off x="6362699" y="1676400"/>
            <a:ext cx="2888945" cy="171450"/>
          </a:xfrm>
          <a:prstGeom prst="rect">
            <a:avLst/>
          </a:prstGeom>
          <a:noFill/>
          <a:ln w="0">
            <a:noFill/>
            <a:prstDash val="solid"/>
          </a:ln>
        </p:spPr>
        <p:txBody>
          <a:bodyPr lIns="0" tIns="0" rIns="0" bIns="0" anchor="t">
            <a:noAutofit/>
          </a:bodyPr>
          <a:lstStyle/>
          <a:p>
            <a:pPr algn="l">
              <a:buNone/>
              <a:defRPr sz="1425" b="1">
                <a:solidFill>
                  <a:srgbClr val="0F766E"/>
                </a:solidFill>
                <a:latin typeface="Aptos"/>
                <a:ea typeface="Aptos"/>
                <a:cs typeface="Aptos"/>
              </a:defRPr>
            </a:pPr>
            <a:r>
              <a:rPr sz="1600" b="1">
                <a:solidFill>
                  <a:srgbClr val="0F766E"/>
                </a:solidFill>
                <a:latin typeface="Aptos"/>
                <a:ea typeface="Aptos"/>
                <a:cs typeface="Aptos"/>
              </a:rPr>
              <a:t>Discrete representation</a:t>
            </a:r>
          </a:p>
        </p:txBody>
      </p:sp>
      <p:sp>
        <p:nvSpPr>
          <p:cNvPr id="13" name="矩形 12">
            <a:extLst>
              <a:ext uri="{FF2B5EF4-FFF2-40B4-BE49-F238E27FC236}">
                <a16:creationId xmlns:a16="http://schemas.microsoft.com/office/drawing/2014/main" id="{7A5EE000-37EC-4383-95ED-0E9DE7CE8CAB}"/>
              </a:ext>
            </a:extLst>
          </p:cNvPr>
          <p:cNvSpPr>
            <a:spLocks noGrp="1"/>
          </p:cNvSpPr>
          <p:nvPr/>
        </p:nvSpPr>
        <p:spPr>
          <a:xfrm>
            <a:off x="9620249" y="1706279"/>
            <a:ext cx="3086100" cy="247650"/>
          </a:xfrm>
          <a:prstGeom prst="rect">
            <a:avLst/>
          </a:prstGeom>
          <a:noFill/>
          <a:ln w="0">
            <a:noFill/>
            <a:prstDash val="solid"/>
          </a:ln>
        </p:spPr>
        <p:txBody>
          <a:bodyPr lIns="0" tIns="0" rIns="0" bIns="0" anchor="t">
            <a:normAutofit/>
          </a:bodyPr>
          <a:lstStyle/>
          <a:p>
            <a:pPr algn="l">
              <a:buNone/>
              <a:defRPr sz="1275" b="1">
                <a:solidFill>
                  <a:srgbClr val="111827"/>
                </a:solidFill>
                <a:latin typeface="Aptos"/>
                <a:ea typeface="Aptos"/>
                <a:cs typeface="Aptos"/>
              </a:defRPr>
            </a:pPr>
            <a:r>
              <a:rPr sz="1400" b="1">
                <a:solidFill>
                  <a:srgbClr val="111827"/>
                </a:solidFill>
                <a:latin typeface="Aptos"/>
                <a:ea typeface="Aptos"/>
                <a:cs typeface="Aptos"/>
              </a:rPr>
              <a:t>Codebook Features</a:t>
            </a:r>
          </a:p>
        </p:txBody>
      </p:sp>
      <p:sp>
        <p:nvSpPr>
          <p:cNvPr id="14" name="矩形 13">
            <a:extLst>
              <a:ext uri="{FF2B5EF4-FFF2-40B4-BE49-F238E27FC236}">
                <a16:creationId xmlns:a16="http://schemas.microsoft.com/office/drawing/2014/main" id="{50908523-EE33-4FDA-86CE-3E12BFC24879}"/>
              </a:ext>
            </a:extLst>
          </p:cNvPr>
          <p:cNvSpPr>
            <a:spLocks noGrp="1"/>
          </p:cNvSpPr>
          <p:nvPr/>
        </p:nvSpPr>
        <p:spPr>
          <a:xfrm>
            <a:off x="6362700" y="2114550"/>
            <a:ext cx="4629150" cy="3810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600" b="0">
                <a:solidFill>
                  <a:srgbClr val="5B6472"/>
                </a:solidFill>
                <a:latin typeface="Aptos"/>
                <a:ea typeface="Aptos"/>
                <a:cs typeface="Aptos"/>
              </a:rPr>
              <a:t>Use sparse discrete codes to create clearer internal addresses</a:t>
            </a:r>
          </a:p>
        </p:txBody>
      </p:sp>
      <p:sp>
        <p:nvSpPr>
          <p:cNvPr id="15" name="矩形 14">
            <a:extLst>
              <a:ext uri="{FF2B5EF4-FFF2-40B4-BE49-F238E27FC236}">
                <a16:creationId xmlns:a16="http://schemas.microsoft.com/office/drawing/2014/main" id="{533D4AE8-EE7E-41E8-BE07-DFEBF76DD02E}"/>
              </a:ext>
            </a:extLst>
          </p:cNvPr>
          <p:cNvSpPr>
            <a:spLocks noGrp="1"/>
          </p:cNvSpPr>
          <p:nvPr/>
        </p:nvSpPr>
        <p:spPr>
          <a:xfrm>
            <a:off x="609600" y="2876550"/>
            <a:ext cx="5219700" cy="1143000"/>
          </a:xfrm>
          <a:prstGeom prst="rect">
            <a:avLst/>
          </a:prstGeom>
          <a:solidFill>
            <a:srgbClr val="FFFFFF"/>
          </a:solidFill>
          <a:ln w="9525">
            <a:solidFill>
              <a:srgbClr val="D7DEE8"/>
            </a:solidFill>
            <a:prstDash val="solid"/>
          </a:ln>
        </p:spPr>
        <p:txBody>
          <a:bodyPr/>
          <a:lstStyle/>
          <a:p>
            <a:endParaRPr/>
          </a:p>
        </p:txBody>
      </p:sp>
      <p:sp>
        <p:nvSpPr>
          <p:cNvPr id="16" name="矩形 15">
            <a:extLst>
              <a:ext uri="{FF2B5EF4-FFF2-40B4-BE49-F238E27FC236}">
                <a16:creationId xmlns:a16="http://schemas.microsoft.com/office/drawing/2014/main" id="{308A0BFC-60A6-4C84-8EFF-699B0BF15202}"/>
              </a:ext>
            </a:extLst>
          </p:cNvPr>
          <p:cNvSpPr>
            <a:spLocks noGrp="1"/>
          </p:cNvSpPr>
          <p:nvPr/>
        </p:nvSpPr>
        <p:spPr>
          <a:xfrm>
            <a:off x="609600" y="2876550"/>
            <a:ext cx="76200" cy="1143000"/>
          </a:xfrm>
          <a:prstGeom prst="rect">
            <a:avLst/>
          </a:prstGeom>
          <a:solidFill>
            <a:srgbClr val="6D3CC7"/>
          </a:solidFill>
          <a:ln w="0">
            <a:solidFill>
              <a:srgbClr val="6D3CC7"/>
            </a:solidFill>
            <a:prstDash val="solid"/>
          </a:ln>
        </p:spPr>
        <p:txBody>
          <a:bodyPr/>
          <a:lstStyle/>
          <a:p>
            <a:endParaRPr/>
          </a:p>
        </p:txBody>
      </p:sp>
      <p:sp>
        <p:nvSpPr>
          <p:cNvPr id="17" name="矩形 16">
            <a:extLst>
              <a:ext uri="{FF2B5EF4-FFF2-40B4-BE49-F238E27FC236}">
                <a16:creationId xmlns:a16="http://schemas.microsoft.com/office/drawing/2014/main" id="{2D538B1E-4912-4C45-BAA4-2A2A6B3BFC2C}"/>
              </a:ext>
            </a:extLst>
          </p:cNvPr>
          <p:cNvSpPr>
            <a:spLocks noGrp="1"/>
          </p:cNvSpPr>
          <p:nvPr/>
        </p:nvSpPr>
        <p:spPr>
          <a:xfrm>
            <a:off x="876300" y="2971800"/>
            <a:ext cx="1967108" cy="323850"/>
          </a:xfrm>
          <a:prstGeom prst="rect">
            <a:avLst/>
          </a:prstGeom>
          <a:noFill/>
          <a:ln w="0">
            <a:noFill/>
            <a:prstDash val="solid"/>
          </a:ln>
        </p:spPr>
        <p:txBody>
          <a:bodyPr lIns="0" tIns="0" rIns="0" bIns="0" anchor="t">
            <a:noAutofit/>
          </a:bodyPr>
          <a:lstStyle/>
          <a:p>
            <a:pPr algn="l">
              <a:buNone/>
              <a:defRPr sz="1425" b="1">
                <a:solidFill>
                  <a:srgbClr val="6D3CC7"/>
                </a:solidFill>
                <a:latin typeface="Aptos"/>
                <a:ea typeface="Aptos"/>
                <a:cs typeface="Aptos"/>
              </a:defRPr>
            </a:pPr>
            <a:r>
              <a:rPr sz="1600" b="1">
                <a:solidFill>
                  <a:srgbClr val="6D3CC7"/>
                </a:solidFill>
                <a:latin typeface="Aptos"/>
                <a:ea typeface="Aptos"/>
                <a:cs typeface="Aptos"/>
              </a:rPr>
              <a:t>Modular routing</a:t>
            </a:r>
          </a:p>
        </p:txBody>
      </p:sp>
      <p:sp>
        <p:nvSpPr>
          <p:cNvPr id="18" name="矩形 17">
            <a:extLst>
              <a:ext uri="{FF2B5EF4-FFF2-40B4-BE49-F238E27FC236}">
                <a16:creationId xmlns:a16="http://schemas.microsoft.com/office/drawing/2014/main" id="{AB353853-FCA6-4F80-A189-A8DB975133A0}"/>
              </a:ext>
            </a:extLst>
          </p:cNvPr>
          <p:cNvSpPr>
            <a:spLocks noGrp="1"/>
          </p:cNvSpPr>
          <p:nvPr/>
        </p:nvSpPr>
        <p:spPr>
          <a:xfrm>
            <a:off x="3183046" y="3061178"/>
            <a:ext cx="3086100" cy="247650"/>
          </a:xfrm>
          <a:prstGeom prst="rect">
            <a:avLst/>
          </a:prstGeom>
          <a:noFill/>
          <a:ln w="0">
            <a:noFill/>
            <a:prstDash val="solid"/>
          </a:ln>
        </p:spPr>
        <p:txBody>
          <a:bodyPr lIns="0" tIns="0" rIns="0" bIns="0" anchor="t">
            <a:normAutofit/>
          </a:bodyPr>
          <a:lstStyle/>
          <a:p>
            <a:pPr algn="l">
              <a:buNone/>
              <a:defRPr sz="1275" b="1">
                <a:solidFill>
                  <a:srgbClr val="111827"/>
                </a:solidFill>
                <a:latin typeface="Aptos"/>
                <a:ea typeface="Aptos"/>
                <a:cs typeface="Aptos"/>
              </a:defRPr>
            </a:pPr>
            <a:r>
              <a:rPr sz="1400" b="1">
                <a:solidFill>
                  <a:srgbClr val="111827"/>
                </a:solidFill>
                <a:latin typeface="Aptos"/>
                <a:ea typeface="Aptos"/>
                <a:cs typeface="Aptos"/>
              </a:rPr>
              <a:t>Interpretable MoE / sparse MoE</a:t>
            </a:r>
          </a:p>
        </p:txBody>
      </p:sp>
      <p:sp>
        <p:nvSpPr>
          <p:cNvPr id="19" name="矩形 18">
            <a:extLst>
              <a:ext uri="{FF2B5EF4-FFF2-40B4-BE49-F238E27FC236}">
                <a16:creationId xmlns:a16="http://schemas.microsoft.com/office/drawing/2014/main" id="{663B9B06-5C8D-48B1-9696-59853CD932E8}"/>
              </a:ext>
            </a:extLst>
          </p:cNvPr>
          <p:cNvSpPr>
            <a:spLocks noGrp="1"/>
          </p:cNvSpPr>
          <p:nvPr/>
        </p:nvSpPr>
        <p:spPr>
          <a:xfrm>
            <a:off x="876300" y="3486150"/>
            <a:ext cx="4629150" cy="3810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600" b="0">
                <a:solidFill>
                  <a:srgbClr val="5B6472"/>
                </a:solidFill>
                <a:latin typeface="Aptos"/>
                <a:ea typeface="Aptos"/>
                <a:cs typeface="Aptos"/>
              </a:rPr>
              <a:t>Assign different functions to separate modules or experts</a:t>
            </a:r>
          </a:p>
        </p:txBody>
      </p:sp>
      <p:sp>
        <p:nvSpPr>
          <p:cNvPr id="20" name="矩形 19">
            <a:extLst>
              <a:ext uri="{FF2B5EF4-FFF2-40B4-BE49-F238E27FC236}">
                <a16:creationId xmlns:a16="http://schemas.microsoft.com/office/drawing/2014/main" id="{1B4E1D5D-B9B9-4C9B-8396-931A750E71E8}"/>
              </a:ext>
            </a:extLst>
          </p:cNvPr>
          <p:cNvSpPr>
            <a:spLocks noGrp="1"/>
          </p:cNvSpPr>
          <p:nvPr/>
        </p:nvSpPr>
        <p:spPr>
          <a:xfrm>
            <a:off x="6096000" y="2876550"/>
            <a:ext cx="5219700" cy="1143000"/>
          </a:xfrm>
          <a:prstGeom prst="rect">
            <a:avLst/>
          </a:prstGeom>
          <a:solidFill>
            <a:srgbClr val="FFFFFF"/>
          </a:solidFill>
          <a:ln w="9525">
            <a:solidFill>
              <a:srgbClr val="D7DEE8"/>
            </a:solidFill>
            <a:prstDash val="solid"/>
          </a:ln>
        </p:spPr>
        <p:txBody>
          <a:bodyPr/>
          <a:lstStyle/>
          <a:p>
            <a:endParaRPr/>
          </a:p>
        </p:txBody>
      </p:sp>
      <p:sp>
        <p:nvSpPr>
          <p:cNvPr id="21" name="矩形 20">
            <a:extLst>
              <a:ext uri="{FF2B5EF4-FFF2-40B4-BE49-F238E27FC236}">
                <a16:creationId xmlns:a16="http://schemas.microsoft.com/office/drawing/2014/main" id="{FE6D3DD2-3AA6-4592-BB1E-5C3C41629FF6}"/>
              </a:ext>
            </a:extLst>
          </p:cNvPr>
          <p:cNvSpPr>
            <a:spLocks noGrp="1"/>
          </p:cNvSpPr>
          <p:nvPr/>
        </p:nvSpPr>
        <p:spPr>
          <a:xfrm>
            <a:off x="6096000" y="2876550"/>
            <a:ext cx="76200" cy="1143000"/>
          </a:xfrm>
          <a:prstGeom prst="rect">
            <a:avLst/>
          </a:prstGeom>
          <a:solidFill>
            <a:srgbClr val="B45309"/>
          </a:solidFill>
          <a:ln w="0">
            <a:solidFill>
              <a:srgbClr val="B45309"/>
            </a:solidFill>
            <a:prstDash val="solid"/>
          </a:ln>
        </p:spPr>
        <p:txBody>
          <a:bodyPr/>
          <a:lstStyle/>
          <a:p>
            <a:endParaRPr/>
          </a:p>
        </p:txBody>
      </p:sp>
      <p:sp>
        <p:nvSpPr>
          <p:cNvPr id="22" name="矩形 21">
            <a:extLst>
              <a:ext uri="{FF2B5EF4-FFF2-40B4-BE49-F238E27FC236}">
                <a16:creationId xmlns:a16="http://schemas.microsoft.com/office/drawing/2014/main" id="{4549FBFB-7E2A-4D21-A071-68645883891E}"/>
              </a:ext>
            </a:extLst>
          </p:cNvPr>
          <p:cNvSpPr>
            <a:spLocks noGrp="1"/>
          </p:cNvSpPr>
          <p:nvPr/>
        </p:nvSpPr>
        <p:spPr>
          <a:xfrm>
            <a:off x="6362699" y="3048000"/>
            <a:ext cx="2543305" cy="247650"/>
          </a:xfrm>
          <a:prstGeom prst="rect">
            <a:avLst/>
          </a:prstGeom>
          <a:noFill/>
          <a:ln w="0">
            <a:noFill/>
            <a:prstDash val="solid"/>
          </a:ln>
        </p:spPr>
        <p:txBody>
          <a:bodyPr lIns="0" tIns="0" rIns="0" bIns="0" anchor="t">
            <a:normAutofit fontScale="99881"/>
          </a:bodyPr>
          <a:lstStyle/>
          <a:p>
            <a:pPr algn="l">
              <a:buNone/>
              <a:defRPr sz="1425" b="1">
                <a:solidFill>
                  <a:srgbClr val="B45309"/>
                </a:solidFill>
                <a:latin typeface="Aptos"/>
                <a:ea typeface="Aptos"/>
                <a:cs typeface="Aptos"/>
              </a:defRPr>
            </a:pPr>
            <a:r>
              <a:rPr sz="1600" b="1">
                <a:solidFill>
                  <a:srgbClr val="B45309"/>
                </a:solidFill>
                <a:latin typeface="Aptos"/>
                <a:ea typeface="Aptos"/>
                <a:cs typeface="Aptos"/>
              </a:rPr>
              <a:t>Attention decomposition</a:t>
            </a:r>
          </a:p>
        </p:txBody>
      </p:sp>
      <p:sp>
        <p:nvSpPr>
          <p:cNvPr id="23" name="矩形 22">
            <a:extLst>
              <a:ext uri="{FF2B5EF4-FFF2-40B4-BE49-F238E27FC236}">
                <a16:creationId xmlns:a16="http://schemas.microsoft.com/office/drawing/2014/main" id="{7C5A2D91-D570-4CD9-BD1A-64B01CF685FC}"/>
              </a:ext>
            </a:extLst>
          </p:cNvPr>
          <p:cNvSpPr>
            <a:spLocks noGrp="1"/>
          </p:cNvSpPr>
          <p:nvPr/>
        </p:nvSpPr>
        <p:spPr>
          <a:xfrm>
            <a:off x="10801350" y="3048000"/>
            <a:ext cx="3086100" cy="247650"/>
          </a:xfrm>
          <a:prstGeom prst="rect">
            <a:avLst/>
          </a:prstGeom>
          <a:noFill/>
          <a:ln w="0">
            <a:noFill/>
            <a:prstDash val="solid"/>
          </a:ln>
        </p:spPr>
        <p:txBody>
          <a:bodyPr lIns="0" tIns="0" rIns="0" bIns="0" anchor="t">
            <a:normAutofit/>
          </a:bodyPr>
          <a:lstStyle/>
          <a:p>
            <a:pPr algn="l">
              <a:buNone/>
              <a:defRPr sz="1275" b="1">
                <a:solidFill>
                  <a:srgbClr val="111827"/>
                </a:solidFill>
                <a:latin typeface="Aptos"/>
                <a:ea typeface="Aptos"/>
                <a:cs typeface="Aptos"/>
              </a:defRPr>
            </a:pPr>
            <a:r>
              <a:rPr sz="1400" b="1">
                <a:solidFill>
                  <a:srgbClr val="111827"/>
                </a:solidFill>
                <a:latin typeface="Aptos"/>
                <a:ea typeface="Aptos"/>
                <a:cs typeface="Aptos"/>
              </a:rPr>
              <a:t>Lorsa</a:t>
            </a:r>
          </a:p>
        </p:txBody>
      </p:sp>
      <p:sp>
        <p:nvSpPr>
          <p:cNvPr id="24" name="矩形 23">
            <a:extLst>
              <a:ext uri="{FF2B5EF4-FFF2-40B4-BE49-F238E27FC236}">
                <a16:creationId xmlns:a16="http://schemas.microsoft.com/office/drawing/2014/main" id="{BC8B4A81-5E22-48B5-BA7D-0C1814029BFC}"/>
              </a:ext>
            </a:extLst>
          </p:cNvPr>
          <p:cNvSpPr>
            <a:spLocks noGrp="1"/>
          </p:cNvSpPr>
          <p:nvPr/>
        </p:nvSpPr>
        <p:spPr>
          <a:xfrm>
            <a:off x="6362700" y="3486150"/>
            <a:ext cx="4629150" cy="3810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600" b="0">
                <a:solidFill>
                  <a:srgbClr val="5B6472"/>
                </a:solidFill>
                <a:latin typeface="Aptos"/>
                <a:ea typeface="Aptos"/>
                <a:cs typeface="Aptos"/>
              </a:rPr>
              <a:t>Decompose interactions using many sparse one-dimensional Attention units</a:t>
            </a:r>
          </a:p>
        </p:txBody>
      </p:sp>
      <p:sp>
        <p:nvSpPr>
          <p:cNvPr id="25" name="矩形 24">
            <a:extLst>
              <a:ext uri="{FF2B5EF4-FFF2-40B4-BE49-F238E27FC236}">
                <a16:creationId xmlns:a16="http://schemas.microsoft.com/office/drawing/2014/main" id="{16663929-9538-43C7-BE12-04D8A8FD7B8E}"/>
              </a:ext>
            </a:extLst>
          </p:cNvPr>
          <p:cNvSpPr>
            <a:spLocks noGrp="1"/>
          </p:cNvSpPr>
          <p:nvPr/>
        </p:nvSpPr>
        <p:spPr>
          <a:xfrm>
            <a:off x="609600" y="4248150"/>
            <a:ext cx="5219700" cy="1143000"/>
          </a:xfrm>
          <a:prstGeom prst="rect">
            <a:avLst/>
          </a:prstGeom>
          <a:solidFill>
            <a:srgbClr val="FFFFFF"/>
          </a:solidFill>
          <a:ln w="9525">
            <a:solidFill>
              <a:srgbClr val="D7DEE8"/>
            </a:solidFill>
            <a:prstDash val="solid"/>
          </a:ln>
        </p:spPr>
        <p:txBody>
          <a:bodyPr/>
          <a:lstStyle/>
          <a:p>
            <a:endParaRPr/>
          </a:p>
        </p:txBody>
      </p:sp>
      <p:sp>
        <p:nvSpPr>
          <p:cNvPr id="26" name="矩形 25">
            <a:extLst>
              <a:ext uri="{FF2B5EF4-FFF2-40B4-BE49-F238E27FC236}">
                <a16:creationId xmlns:a16="http://schemas.microsoft.com/office/drawing/2014/main" id="{1151D6D9-766A-463F-9698-657FAF37AD54}"/>
              </a:ext>
            </a:extLst>
          </p:cNvPr>
          <p:cNvSpPr>
            <a:spLocks noGrp="1"/>
          </p:cNvSpPr>
          <p:nvPr/>
        </p:nvSpPr>
        <p:spPr>
          <a:xfrm>
            <a:off x="609600" y="4248150"/>
            <a:ext cx="76200" cy="1143000"/>
          </a:xfrm>
          <a:prstGeom prst="rect">
            <a:avLst/>
          </a:prstGeom>
          <a:solidFill>
            <a:srgbClr val="B42318"/>
          </a:solidFill>
          <a:ln w="0">
            <a:solidFill>
              <a:srgbClr val="B42318"/>
            </a:solidFill>
            <a:prstDash val="solid"/>
          </a:ln>
        </p:spPr>
        <p:txBody>
          <a:bodyPr/>
          <a:lstStyle/>
          <a:p>
            <a:endParaRPr/>
          </a:p>
        </p:txBody>
      </p:sp>
      <p:sp>
        <p:nvSpPr>
          <p:cNvPr id="27" name="矩形 26">
            <a:extLst>
              <a:ext uri="{FF2B5EF4-FFF2-40B4-BE49-F238E27FC236}">
                <a16:creationId xmlns:a16="http://schemas.microsoft.com/office/drawing/2014/main" id="{FE20FC8F-EDB3-47EC-A5B7-7E90485688F0}"/>
              </a:ext>
            </a:extLst>
          </p:cNvPr>
          <p:cNvSpPr>
            <a:spLocks noGrp="1"/>
          </p:cNvSpPr>
          <p:nvPr/>
        </p:nvSpPr>
        <p:spPr>
          <a:xfrm>
            <a:off x="876300" y="4381500"/>
            <a:ext cx="1905000" cy="285750"/>
          </a:xfrm>
          <a:prstGeom prst="rect">
            <a:avLst/>
          </a:prstGeom>
          <a:noFill/>
          <a:ln w="0">
            <a:noFill/>
            <a:prstDash val="solid"/>
          </a:ln>
        </p:spPr>
        <p:txBody>
          <a:bodyPr lIns="0" tIns="0" rIns="0" bIns="0" anchor="t">
            <a:noAutofit/>
          </a:bodyPr>
          <a:lstStyle/>
          <a:p>
            <a:pPr algn="l">
              <a:buNone/>
              <a:defRPr sz="1425" b="1">
                <a:solidFill>
                  <a:srgbClr val="B42318"/>
                </a:solidFill>
                <a:latin typeface="Aptos"/>
                <a:ea typeface="Aptos"/>
                <a:cs typeface="Aptos"/>
              </a:defRPr>
            </a:pPr>
            <a:r>
              <a:rPr sz="1600" b="1">
                <a:solidFill>
                  <a:srgbClr val="B42318"/>
                </a:solidFill>
                <a:latin typeface="Aptos"/>
                <a:ea typeface="Aptos"/>
                <a:cs typeface="Aptos"/>
              </a:rPr>
              <a:t>Position and context</a:t>
            </a:r>
          </a:p>
        </p:txBody>
      </p:sp>
      <p:sp>
        <p:nvSpPr>
          <p:cNvPr id="28" name="矩形 27">
            <a:extLst>
              <a:ext uri="{FF2B5EF4-FFF2-40B4-BE49-F238E27FC236}">
                <a16:creationId xmlns:a16="http://schemas.microsoft.com/office/drawing/2014/main" id="{C23196E2-0E6F-4824-B8C6-38CDDBF6B690}"/>
              </a:ext>
            </a:extLst>
          </p:cNvPr>
          <p:cNvSpPr>
            <a:spLocks noGrp="1"/>
          </p:cNvSpPr>
          <p:nvPr/>
        </p:nvSpPr>
        <p:spPr>
          <a:xfrm>
            <a:off x="3048000" y="4394939"/>
            <a:ext cx="3086100" cy="247650"/>
          </a:xfrm>
          <a:prstGeom prst="rect">
            <a:avLst/>
          </a:prstGeom>
          <a:noFill/>
          <a:ln w="0">
            <a:noFill/>
            <a:prstDash val="solid"/>
          </a:ln>
        </p:spPr>
        <p:txBody>
          <a:bodyPr lIns="0" tIns="0" rIns="0" bIns="0" anchor="t">
            <a:normAutofit/>
          </a:bodyPr>
          <a:lstStyle/>
          <a:p>
            <a:pPr algn="l">
              <a:buNone/>
              <a:defRPr sz="1275" b="1">
                <a:solidFill>
                  <a:srgbClr val="111827"/>
                </a:solidFill>
                <a:latin typeface="Aptos"/>
                <a:ea typeface="Aptos"/>
                <a:cs typeface="Aptos"/>
              </a:defRPr>
            </a:pPr>
            <a:r>
              <a:rPr sz="1400" b="1">
                <a:solidFill>
                  <a:srgbClr val="111827"/>
                </a:solidFill>
                <a:latin typeface="Aptos"/>
                <a:ea typeface="Aptos"/>
                <a:cs typeface="Aptos"/>
              </a:rPr>
              <a:t>RoPE / ALiBi / PoPE / CABLE / DIET</a:t>
            </a:r>
          </a:p>
        </p:txBody>
      </p:sp>
      <p:sp>
        <p:nvSpPr>
          <p:cNvPr id="29" name="矩形 28">
            <a:extLst>
              <a:ext uri="{FF2B5EF4-FFF2-40B4-BE49-F238E27FC236}">
                <a16:creationId xmlns:a16="http://schemas.microsoft.com/office/drawing/2014/main" id="{288CEBE7-E50A-4400-866B-D308ABE5153C}"/>
              </a:ext>
            </a:extLst>
          </p:cNvPr>
          <p:cNvSpPr>
            <a:spLocks noGrp="1"/>
          </p:cNvSpPr>
          <p:nvPr/>
        </p:nvSpPr>
        <p:spPr>
          <a:xfrm>
            <a:off x="876300" y="4857750"/>
            <a:ext cx="4629150" cy="3810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600" b="0">
                <a:solidFill>
                  <a:srgbClr val="5B6472"/>
                </a:solidFill>
                <a:latin typeface="Aptos"/>
                <a:ea typeface="Aptos"/>
                <a:cs typeface="Aptos"/>
              </a:rPr>
              <a:t>Change how content, position, and distance priors are combined</a:t>
            </a:r>
          </a:p>
        </p:txBody>
      </p:sp>
      <p:sp>
        <p:nvSpPr>
          <p:cNvPr id="30" name="矩形 29">
            <a:extLst>
              <a:ext uri="{FF2B5EF4-FFF2-40B4-BE49-F238E27FC236}">
                <a16:creationId xmlns:a16="http://schemas.microsoft.com/office/drawing/2014/main" id="{3CB08471-08DE-4658-B02B-08C53F0448D6}"/>
              </a:ext>
            </a:extLst>
          </p:cNvPr>
          <p:cNvSpPr>
            <a:spLocks noGrp="1"/>
          </p:cNvSpPr>
          <p:nvPr/>
        </p:nvSpPr>
        <p:spPr>
          <a:xfrm>
            <a:off x="6096000" y="4248150"/>
            <a:ext cx="5219700" cy="1143000"/>
          </a:xfrm>
          <a:prstGeom prst="rect">
            <a:avLst/>
          </a:prstGeom>
          <a:solidFill>
            <a:srgbClr val="FFFFFF"/>
          </a:solidFill>
          <a:ln w="9525">
            <a:solidFill>
              <a:srgbClr val="D7DEE8"/>
            </a:solidFill>
            <a:prstDash val="solid"/>
          </a:ln>
        </p:spPr>
        <p:txBody>
          <a:bodyPr/>
          <a:lstStyle/>
          <a:p>
            <a:endParaRPr/>
          </a:p>
        </p:txBody>
      </p:sp>
      <p:sp>
        <p:nvSpPr>
          <p:cNvPr id="31" name="矩形 30">
            <a:extLst>
              <a:ext uri="{FF2B5EF4-FFF2-40B4-BE49-F238E27FC236}">
                <a16:creationId xmlns:a16="http://schemas.microsoft.com/office/drawing/2014/main" id="{DF7FB379-967F-4505-AA5E-A8066E3B292A}"/>
              </a:ext>
            </a:extLst>
          </p:cNvPr>
          <p:cNvSpPr>
            <a:spLocks noGrp="1"/>
          </p:cNvSpPr>
          <p:nvPr/>
        </p:nvSpPr>
        <p:spPr>
          <a:xfrm>
            <a:off x="6096000" y="4248150"/>
            <a:ext cx="76200" cy="1143000"/>
          </a:xfrm>
          <a:prstGeom prst="rect">
            <a:avLst/>
          </a:prstGeom>
          <a:solidFill>
            <a:srgbClr val="475569"/>
          </a:solidFill>
          <a:ln w="0">
            <a:solidFill>
              <a:srgbClr val="475569"/>
            </a:solidFill>
            <a:prstDash val="solid"/>
          </a:ln>
        </p:spPr>
        <p:txBody>
          <a:bodyPr/>
          <a:lstStyle/>
          <a:p>
            <a:endParaRPr/>
          </a:p>
        </p:txBody>
      </p:sp>
      <p:sp>
        <p:nvSpPr>
          <p:cNvPr id="32" name="矩形 31">
            <a:extLst>
              <a:ext uri="{FF2B5EF4-FFF2-40B4-BE49-F238E27FC236}">
                <a16:creationId xmlns:a16="http://schemas.microsoft.com/office/drawing/2014/main" id="{A90EE211-690E-46A8-BFDD-306A59B7CDCE}"/>
              </a:ext>
            </a:extLst>
          </p:cNvPr>
          <p:cNvSpPr>
            <a:spLocks noGrp="1"/>
          </p:cNvSpPr>
          <p:nvPr/>
        </p:nvSpPr>
        <p:spPr>
          <a:xfrm>
            <a:off x="6362700" y="4419600"/>
            <a:ext cx="1428750" cy="247650"/>
          </a:xfrm>
          <a:prstGeom prst="rect">
            <a:avLst/>
          </a:prstGeom>
          <a:noFill/>
          <a:ln w="0">
            <a:noFill/>
            <a:prstDash val="solid"/>
          </a:ln>
        </p:spPr>
        <p:txBody>
          <a:bodyPr lIns="0" tIns="0" rIns="0" bIns="0" anchor="t">
            <a:normAutofit/>
          </a:bodyPr>
          <a:lstStyle/>
          <a:p>
            <a:pPr algn="l">
              <a:buNone/>
              <a:defRPr sz="1425" b="1">
                <a:solidFill>
                  <a:srgbClr val="475569"/>
                </a:solidFill>
                <a:latin typeface="Aptos"/>
                <a:ea typeface="Aptos"/>
                <a:cs typeface="Aptos"/>
              </a:defRPr>
            </a:pPr>
            <a:r>
              <a:rPr sz="1600" b="1">
                <a:solidFill>
                  <a:srgbClr val="475569"/>
                </a:solidFill>
                <a:latin typeface="Aptos"/>
                <a:ea typeface="Aptos"/>
                <a:cs typeface="Aptos"/>
              </a:rPr>
              <a:t>FFN sparsity</a:t>
            </a:r>
          </a:p>
        </p:txBody>
      </p:sp>
      <p:sp>
        <p:nvSpPr>
          <p:cNvPr id="33" name="矩形 32">
            <a:extLst>
              <a:ext uri="{FF2B5EF4-FFF2-40B4-BE49-F238E27FC236}">
                <a16:creationId xmlns:a16="http://schemas.microsoft.com/office/drawing/2014/main" id="{1A5B3DE5-55AE-44EF-A502-156ACAB77C64}"/>
              </a:ext>
            </a:extLst>
          </p:cNvPr>
          <p:cNvSpPr>
            <a:spLocks noGrp="1"/>
          </p:cNvSpPr>
          <p:nvPr/>
        </p:nvSpPr>
        <p:spPr>
          <a:xfrm>
            <a:off x="7967727" y="4410075"/>
            <a:ext cx="3305045" cy="247650"/>
          </a:xfrm>
          <a:prstGeom prst="rect">
            <a:avLst/>
          </a:prstGeom>
          <a:noFill/>
          <a:ln w="0">
            <a:noFill/>
            <a:prstDash val="solid"/>
          </a:ln>
        </p:spPr>
        <p:txBody>
          <a:bodyPr lIns="0" tIns="0" rIns="0" bIns="0" anchor="t">
            <a:noAutofit/>
          </a:bodyPr>
          <a:lstStyle/>
          <a:p>
            <a:pPr algn="l">
              <a:buNone/>
              <a:defRPr sz="1275" b="1">
                <a:solidFill>
                  <a:srgbClr val="111827"/>
                </a:solidFill>
                <a:latin typeface="Aptos"/>
                <a:ea typeface="Aptos"/>
                <a:cs typeface="Aptos"/>
              </a:defRPr>
            </a:pPr>
            <a:r>
              <a:rPr sz="1400" b="1">
                <a:solidFill>
                  <a:srgbClr val="111827"/>
                </a:solidFill>
                <a:latin typeface="Aptos"/>
                <a:ea typeface="Aptos"/>
                <a:cs typeface="Aptos"/>
              </a:rPr>
              <a:t>Sparsemax / Entmax / ProSparse / Spark</a:t>
            </a:r>
          </a:p>
        </p:txBody>
      </p:sp>
      <p:sp>
        <p:nvSpPr>
          <p:cNvPr id="34" name="矩形 33">
            <a:extLst>
              <a:ext uri="{FF2B5EF4-FFF2-40B4-BE49-F238E27FC236}">
                <a16:creationId xmlns:a16="http://schemas.microsoft.com/office/drawing/2014/main" id="{0E17A6EA-14FD-443C-B410-0BDA91653FF8}"/>
              </a:ext>
            </a:extLst>
          </p:cNvPr>
          <p:cNvSpPr>
            <a:spLocks noGrp="1"/>
          </p:cNvSpPr>
          <p:nvPr/>
        </p:nvSpPr>
        <p:spPr>
          <a:xfrm>
            <a:off x="6362700" y="4857750"/>
            <a:ext cx="4629150" cy="3810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600" b="0">
                <a:solidFill>
                  <a:srgbClr val="5B6472"/>
                </a:solidFill>
                <a:latin typeface="Aptos"/>
                <a:ea typeface="Aptos"/>
                <a:cs typeface="Aptos"/>
              </a:rPr>
              <a:t>Reduce activation or routing, although the primary objective is often efficiency or capability</a:t>
            </a:r>
          </a:p>
        </p:txBody>
      </p:sp>
      <p:sp>
        <p:nvSpPr>
          <p:cNvPr id="35" name="矩形 34">
            <a:extLst>
              <a:ext uri="{FF2B5EF4-FFF2-40B4-BE49-F238E27FC236}">
                <a16:creationId xmlns:a16="http://schemas.microsoft.com/office/drawing/2014/main" id="{EC67286C-DCA9-4BC8-B0B0-B3F13D07213D}"/>
              </a:ext>
            </a:extLst>
          </p:cNvPr>
          <p:cNvSpPr>
            <a:spLocks noGrp="1"/>
          </p:cNvSpPr>
          <p:nvPr/>
        </p:nvSpPr>
        <p:spPr>
          <a:xfrm>
            <a:off x="609600" y="5905500"/>
            <a:ext cx="10934700" cy="266700"/>
          </a:xfrm>
          <a:prstGeom prst="rect">
            <a:avLst/>
          </a:prstGeom>
          <a:noFill/>
          <a:ln w="0">
            <a:noFill/>
            <a:prstDash val="solid"/>
          </a:ln>
        </p:spPr>
        <p:txBody>
          <a:bodyPr lIns="0" tIns="0" rIns="0" bIns="0" anchor="t">
            <a:noAutofit/>
          </a:bodyPr>
          <a:lstStyle/>
          <a:p>
            <a:pPr algn="ctr">
              <a:buNone/>
              <a:defRPr sz="1350" b="1">
                <a:solidFill>
                  <a:srgbClr val="111827"/>
                </a:solidFill>
                <a:latin typeface="Aptos"/>
                <a:ea typeface="Aptos"/>
                <a:cs typeface="Aptos"/>
              </a:defRPr>
            </a:pPr>
            <a:r>
              <a:rPr sz="1600" b="1">
                <a:solidFill>
                  <a:srgbClr val="111827"/>
                </a:solidFill>
                <a:latin typeface="Aptos"/>
                <a:ea typeface="Aptos"/>
                <a:cs typeface="Aptos"/>
              </a:rPr>
              <a:t>Existing structures often improve one local property, but lack a unified controlled evaluation across task, semantic, causal, and cost outcomes.</a:t>
            </a:r>
          </a:p>
        </p:txBody>
      </p:sp>
    </p:spTree>
    <p:extLst>
      <p:ext uri="{BB962C8B-B14F-4D97-AF65-F5344CB8AC3E}">
        <p14:creationId xmlns:p14="http://schemas.microsoft.com/office/powerpoint/2010/main" val="1344435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911ABCDE-3CB6-4FEB-A72E-336AC549EA7E}"/>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125" b="1">
                <a:solidFill>
                  <a:srgbClr val="2457D6"/>
                </a:solidFill>
                <a:latin typeface="Aptos"/>
                <a:ea typeface="Aptos"/>
                <a:cs typeface="Aptos"/>
              </a:rPr>
              <a:t>Research gaps</a:t>
            </a:r>
          </a:p>
        </p:txBody>
      </p:sp>
      <p:sp>
        <p:nvSpPr>
          <p:cNvPr id="2" name="矩形 1">
            <a:extLst>
              <a:ext uri="{FF2B5EF4-FFF2-40B4-BE49-F238E27FC236}">
                <a16:creationId xmlns:a16="http://schemas.microsoft.com/office/drawing/2014/main" id="{8EA3E49C-4451-4C7A-B999-E5464EEBE617}"/>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97401"/>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Existing work still lacks four kinds of direct, unified, controlled evidence</a:t>
            </a:r>
          </a:p>
        </p:txBody>
      </p:sp>
      <p:sp>
        <p:nvSpPr>
          <p:cNvPr id="3" name="直接连接符 2">
            <a:extLst>
              <a:ext uri="{FF2B5EF4-FFF2-40B4-BE49-F238E27FC236}">
                <a16:creationId xmlns:a16="http://schemas.microsoft.com/office/drawing/2014/main" id="{C9D4AFEC-DF15-4C6C-81E7-95DC7CC29C83}"/>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E6121234-D8DA-4F98-9E3D-9E741FD498EB}"/>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09</a:t>
            </a:r>
          </a:p>
        </p:txBody>
      </p:sp>
      <p:sp>
        <p:nvSpPr>
          <p:cNvPr id="5" name="矩形 4">
            <a:extLst>
              <a:ext uri="{FF2B5EF4-FFF2-40B4-BE49-F238E27FC236}">
                <a16:creationId xmlns:a16="http://schemas.microsoft.com/office/drawing/2014/main" id="{6C74D241-9100-4BCB-BFDC-3AE4DA2A77B4}"/>
              </a:ext>
            </a:extLst>
          </p:cNvPr>
          <p:cNvSpPr>
            <a:spLocks noGrp="1"/>
          </p:cNvSpPr>
          <p:nvPr/>
        </p:nvSpPr>
        <p:spPr>
          <a:xfrm>
            <a:off x="609600" y="1504950"/>
            <a:ext cx="10934700" cy="742950"/>
          </a:xfrm>
          <a:prstGeom prst="rect">
            <a:avLst/>
          </a:prstGeom>
          <a:solidFill>
            <a:srgbClr val="FFFFFF"/>
          </a:solidFill>
          <a:ln w="9525">
            <a:solidFill>
              <a:srgbClr val="D7DEE8"/>
            </a:solidFill>
            <a:prstDash val="solid"/>
          </a:ln>
        </p:spPr>
        <p:txBody>
          <a:bodyPr/>
          <a:lstStyle/>
          <a:p>
            <a:endParaRPr/>
          </a:p>
        </p:txBody>
      </p:sp>
      <p:sp>
        <p:nvSpPr>
          <p:cNvPr id="6" name="矩形 5">
            <a:extLst>
              <a:ext uri="{FF2B5EF4-FFF2-40B4-BE49-F238E27FC236}">
                <a16:creationId xmlns:a16="http://schemas.microsoft.com/office/drawing/2014/main" id="{6B0EC75D-1EE8-40AD-80B5-C87F484F54F8}"/>
              </a:ext>
            </a:extLst>
          </p:cNvPr>
          <p:cNvSpPr>
            <a:spLocks noGrp="1"/>
          </p:cNvSpPr>
          <p:nvPr/>
        </p:nvSpPr>
        <p:spPr>
          <a:xfrm>
            <a:off x="838200" y="1676400"/>
            <a:ext cx="2571750" cy="304800"/>
          </a:xfrm>
          <a:prstGeom prst="rect">
            <a:avLst/>
          </a:prstGeom>
          <a:noFill/>
          <a:ln w="0">
            <a:noFill/>
            <a:prstDash val="solid"/>
          </a:ln>
        </p:spPr>
        <p:txBody>
          <a:bodyPr lIns="0" tIns="0" rIns="0" bIns="0" anchor="t">
            <a:normAutofit/>
          </a:bodyPr>
          <a:lstStyle/>
          <a:p>
            <a:pPr algn="l">
              <a:buNone/>
              <a:defRPr sz="1500" b="1">
                <a:solidFill>
                  <a:srgbClr val="2457D6"/>
                </a:solidFill>
                <a:latin typeface="Aptos"/>
                <a:ea typeface="Aptos"/>
                <a:cs typeface="Aptos"/>
              </a:defRPr>
            </a:pPr>
            <a:r>
              <a:rPr sz="1600" b="1">
                <a:solidFill>
                  <a:srgbClr val="2457D6"/>
                </a:solidFill>
                <a:latin typeface="Aptos"/>
                <a:ea typeface="Aptos"/>
                <a:cs typeface="Aptos"/>
              </a:rPr>
              <a:t>Position decoupling → SAE</a:t>
            </a:r>
          </a:p>
        </p:txBody>
      </p:sp>
      <p:sp>
        <p:nvSpPr>
          <p:cNvPr id="7" name="矩形 6">
            <a:extLst>
              <a:ext uri="{FF2B5EF4-FFF2-40B4-BE49-F238E27FC236}">
                <a16:creationId xmlns:a16="http://schemas.microsoft.com/office/drawing/2014/main" id="{ACB00A3D-C84B-4D42-8660-636B6AA9EF36}"/>
              </a:ext>
            </a:extLst>
          </p:cNvPr>
          <p:cNvSpPr>
            <a:spLocks noGrp="1"/>
          </p:cNvSpPr>
          <p:nvPr/>
        </p:nvSpPr>
        <p:spPr>
          <a:xfrm>
            <a:off x="3619500" y="1666875"/>
            <a:ext cx="7543800" cy="381000"/>
          </a:xfrm>
          <a:prstGeom prst="rect">
            <a:avLst/>
          </a:prstGeom>
          <a:noFill/>
          <a:ln w="0">
            <a:noFill/>
            <a:prstDash val="solid"/>
          </a:ln>
        </p:spPr>
        <p:txBody>
          <a:bodyPr lIns="0" tIns="0" rIns="0" bIns="0" anchor="t">
            <a:noAutofit/>
          </a:bodyPr>
          <a:lstStyle/>
          <a:p>
            <a:pPr algn="l">
              <a:buNone/>
              <a:defRPr sz="1350" b="0">
                <a:solidFill>
                  <a:srgbClr val="5B6472"/>
                </a:solidFill>
                <a:latin typeface="Aptos"/>
                <a:ea typeface="Aptos"/>
                <a:cs typeface="Aptos"/>
              </a:defRPr>
            </a:pPr>
            <a:r>
              <a:rPr sz="1600" b="0">
                <a:solidFill>
                  <a:srgbClr val="5B6472"/>
                </a:solidFill>
                <a:latin typeface="Aptos"/>
                <a:ea typeface="Aptos"/>
                <a:cs typeface="Aptos"/>
              </a:rPr>
              <a:t>Can structural separation of content and position improve SAE decomposability and identity stability?</a:t>
            </a:r>
          </a:p>
        </p:txBody>
      </p:sp>
      <p:sp>
        <p:nvSpPr>
          <p:cNvPr id="8" name="矩形 7">
            <a:extLst>
              <a:ext uri="{FF2B5EF4-FFF2-40B4-BE49-F238E27FC236}">
                <a16:creationId xmlns:a16="http://schemas.microsoft.com/office/drawing/2014/main" id="{9E92BE4F-BD50-4856-BE35-AB55BAA7A2B4}"/>
              </a:ext>
            </a:extLst>
          </p:cNvPr>
          <p:cNvSpPr>
            <a:spLocks noGrp="1"/>
          </p:cNvSpPr>
          <p:nvPr/>
        </p:nvSpPr>
        <p:spPr>
          <a:xfrm>
            <a:off x="609600" y="2438400"/>
            <a:ext cx="10934700" cy="742950"/>
          </a:xfrm>
          <a:prstGeom prst="rect">
            <a:avLst/>
          </a:prstGeom>
          <a:solidFill>
            <a:srgbClr val="F1F5F9"/>
          </a:solidFill>
          <a:ln w="9525">
            <a:solidFill>
              <a:srgbClr val="F1F5F9"/>
            </a:solidFill>
            <a:prstDash val="solid"/>
          </a:ln>
        </p:spPr>
        <p:txBody>
          <a:bodyPr/>
          <a:lstStyle/>
          <a:p>
            <a:endParaRPr/>
          </a:p>
        </p:txBody>
      </p:sp>
      <p:sp>
        <p:nvSpPr>
          <p:cNvPr id="9" name="矩形 8">
            <a:extLst>
              <a:ext uri="{FF2B5EF4-FFF2-40B4-BE49-F238E27FC236}">
                <a16:creationId xmlns:a16="http://schemas.microsoft.com/office/drawing/2014/main" id="{99CCD7CB-AEA0-4366-AC5E-C7895A75BFE3}"/>
              </a:ext>
            </a:extLst>
          </p:cNvPr>
          <p:cNvSpPr>
            <a:spLocks noGrp="1"/>
          </p:cNvSpPr>
          <p:nvPr/>
        </p:nvSpPr>
        <p:spPr>
          <a:xfrm>
            <a:off x="838200" y="2609850"/>
            <a:ext cx="2571750" cy="304800"/>
          </a:xfrm>
          <a:prstGeom prst="rect">
            <a:avLst/>
          </a:prstGeom>
          <a:noFill/>
          <a:ln w="0">
            <a:noFill/>
            <a:prstDash val="solid"/>
          </a:ln>
        </p:spPr>
        <p:txBody>
          <a:bodyPr lIns="0" tIns="0" rIns="0" bIns="0" anchor="t">
            <a:noAutofit/>
          </a:bodyPr>
          <a:lstStyle/>
          <a:p>
            <a:pPr algn="l">
              <a:buNone/>
              <a:defRPr sz="1500" b="1">
                <a:solidFill>
                  <a:srgbClr val="0F766E"/>
                </a:solidFill>
                <a:latin typeface="Aptos"/>
                <a:ea typeface="Aptos"/>
                <a:cs typeface="Aptos"/>
              </a:defRPr>
            </a:pPr>
            <a:r>
              <a:rPr sz="1600" b="1">
                <a:solidFill>
                  <a:srgbClr val="0F766E"/>
                </a:solidFill>
                <a:latin typeface="Aptos"/>
                <a:ea typeface="Aptos"/>
                <a:cs typeface="Aptos"/>
              </a:rPr>
              <a:t>Structural sparsity → semantics</a:t>
            </a:r>
          </a:p>
        </p:txBody>
      </p:sp>
      <p:sp>
        <p:nvSpPr>
          <p:cNvPr id="10" name="矩形 9">
            <a:extLst>
              <a:ext uri="{FF2B5EF4-FFF2-40B4-BE49-F238E27FC236}">
                <a16:creationId xmlns:a16="http://schemas.microsoft.com/office/drawing/2014/main" id="{A6A95087-D117-46C7-B0F0-3804CA078837}"/>
              </a:ext>
            </a:extLst>
          </p:cNvPr>
          <p:cNvSpPr>
            <a:spLocks noGrp="1"/>
          </p:cNvSpPr>
          <p:nvPr/>
        </p:nvSpPr>
        <p:spPr>
          <a:xfrm>
            <a:off x="3619500" y="2600325"/>
            <a:ext cx="7543800" cy="381000"/>
          </a:xfrm>
          <a:prstGeom prst="rect">
            <a:avLst/>
          </a:prstGeom>
          <a:noFill/>
          <a:ln w="0">
            <a:noFill/>
            <a:prstDash val="solid"/>
          </a:ln>
        </p:spPr>
        <p:txBody>
          <a:bodyPr lIns="0" tIns="0" rIns="0" bIns="0" anchor="t">
            <a:noAutofit/>
          </a:bodyPr>
          <a:lstStyle/>
          <a:p>
            <a:pPr algn="l">
              <a:buNone/>
              <a:defRPr sz="1350" b="0">
                <a:solidFill>
                  <a:srgbClr val="5B6472"/>
                </a:solidFill>
                <a:latin typeface="Aptos"/>
                <a:ea typeface="Aptos"/>
                <a:cs typeface="Aptos"/>
              </a:defRPr>
            </a:pPr>
            <a:r>
              <a:rPr sz="1600" b="0">
                <a:solidFill>
                  <a:srgbClr val="5B6472"/>
                </a:solidFill>
                <a:latin typeface="Aptos"/>
                <a:ea typeface="Aptos"/>
                <a:cs typeface="Aptos"/>
              </a:rPr>
              <a:t>Can sparse Attention and FFNs jointly improve reconstruction, semantic boundaries, and causal locality?</a:t>
            </a:r>
          </a:p>
        </p:txBody>
      </p:sp>
      <p:sp>
        <p:nvSpPr>
          <p:cNvPr id="11" name="矩形 10">
            <a:extLst>
              <a:ext uri="{FF2B5EF4-FFF2-40B4-BE49-F238E27FC236}">
                <a16:creationId xmlns:a16="http://schemas.microsoft.com/office/drawing/2014/main" id="{FE543D6A-B405-4E59-9D9B-DF2947AF9DD3}"/>
              </a:ext>
            </a:extLst>
          </p:cNvPr>
          <p:cNvSpPr>
            <a:spLocks noGrp="1"/>
          </p:cNvSpPr>
          <p:nvPr/>
        </p:nvSpPr>
        <p:spPr>
          <a:xfrm>
            <a:off x="609600" y="3371850"/>
            <a:ext cx="10934700" cy="742950"/>
          </a:xfrm>
          <a:prstGeom prst="rect">
            <a:avLst/>
          </a:prstGeom>
          <a:solidFill>
            <a:srgbClr val="FFFFFF"/>
          </a:solidFill>
          <a:ln w="9525">
            <a:solidFill>
              <a:srgbClr val="D7DEE8"/>
            </a:solidFill>
            <a:prstDash val="solid"/>
          </a:ln>
        </p:spPr>
        <p:txBody>
          <a:bodyPr/>
          <a:lstStyle/>
          <a:p>
            <a:endParaRPr/>
          </a:p>
        </p:txBody>
      </p:sp>
      <p:sp>
        <p:nvSpPr>
          <p:cNvPr id="12" name="矩形 11">
            <a:extLst>
              <a:ext uri="{FF2B5EF4-FFF2-40B4-BE49-F238E27FC236}">
                <a16:creationId xmlns:a16="http://schemas.microsoft.com/office/drawing/2014/main" id="{D8AC76CE-BE12-4B78-A7D1-BB8AB11E8BB9}"/>
              </a:ext>
            </a:extLst>
          </p:cNvPr>
          <p:cNvSpPr>
            <a:spLocks noGrp="1"/>
          </p:cNvSpPr>
          <p:nvPr/>
        </p:nvSpPr>
        <p:spPr>
          <a:xfrm>
            <a:off x="838200" y="3543300"/>
            <a:ext cx="2571750" cy="304800"/>
          </a:xfrm>
          <a:prstGeom prst="rect">
            <a:avLst/>
          </a:prstGeom>
          <a:noFill/>
          <a:ln w="0">
            <a:noFill/>
            <a:prstDash val="solid"/>
          </a:ln>
        </p:spPr>
        <p:txBody>
          <a:bodyPr lIns="0" tIns="0" rIns="0" bIns="0" anchor="t">
            <a:noAutofit/>
          </a:bodyPr>
          <a:lstStyle/>
          <a:p>
            <a:pPr algn="l">
              <a:buNone/>
              <a:defRPr sz="1500" b="1">
                <a:solidFill>
                  <a:srgbClr val="B45309"/>
                </a:solidFill>
                <a:latin typeface="Aptos"/>
                <a:ea typeface="Aptos"/>
                <a:cs typeface="Aptos"/>
              </a:defRPr>
            </a:pPr>
            <a:r>
              <a:rPr sz="1600" b="1">
                <a:solidFill>
                  <a:srgbClr val="B45309"/>
                </a:solidFill>
                <a:latin typeface="Aptos"/>
                <a:ea typeface="Aptos"/>
                <a:cs typeface="Aptos"/>
              </a:rPr>
              <a:t>Remote relevance → exemption</a:t>
            </a:r>
          </a:p>
        </p:txBody>
      </p:sp>
      <p:sp>
        <p:nvSpPr>
          <p:cNvPr id="13" name="矩形 12">
            <a:extLst>
              <a:ext uri="{FF2B5EF4-FFF2-40B4-BE49-F238E27FC236}">
                <a16:creationId xmlns:a16="http://schemas.microsoft.com/office/drawing/2014/main" id="{CFCBA2E6-0A30-46EB-ACA0-2B68A1EA0B1C}"/>
              </a:ext>
            </a:extLst>
          </p:cNvPr>
          <p:cNvSpPr>
            <a:spLocks noGrp="1"/>
          </p:cNvSpPr>
          <p:nvPr/>
        </p:nvSpPr>
        <p:spPr>
          <a:xfrm>
            <a:off x="3619500" y="3533775"/>
            <a:ext cx="7543800" cy="381000"/>
          </a:xfrm>
          <a:prstGeom prst="rect">
            <a:avLst/>
          </a:prstGeom>
          <a:noFill/>
          <a:ln w="0">
            <a:noFill/>
            <a:prstDash val="solid"/>
          </a:ln>
        </p:spPr>
        <p:txBody>
          <a:bodyPr lIns="0" tIns="0" rIns="0" bIns="0" anchor="t">
            <a:noAutofit/>
          </a:bodyPr>
          <a:lstStyle/>
          <a:p>
            <a:pPr algn="l">
              <a:buNone/>
              <a:defRPr sz="1350" b="0">
                <a:solidFill>
                  <a:srgbClr val="5B6472"/>
                </a:solidFill>
                <a:latin typeface="Aptos"/>
                <a:ea typeface="Aptos"/>
                <a:cs typeface="Aptos"/>
              </a:defRPr>
            </a:pPr>
            <a:r>
              <a:rPr sz="1600" b="0">
                <a:solidFill>
                  <a:srgbClr val="5B6472"/>
                </a:solidFill>
                <a:latin typeface="Aptos"/>
                <a:ea typeface="Aptos"/>
                <a:cs typeface="Aptos"/>
              </a:rPr>
              <a:t>Does a monotonic distance penalty suppress important remote information, and can relevance gating relax it safely?</a:t>
            </a:r>
          </a:p>
        </p:txBody>
      </p:sp>
      <p:sp>
        <p:nvSpPr>
          <p:cNvPr id="14" name="矩形 13">
            <a:extLst>
              <a:ext uri="{FF2B5EF4-FFF2-40B4-BE49-F238E27FC236}">
                <a16:creationId xmlns:a16="http://schemas.microsoft.com/office/drawing/2014/main" id="{F757130F-AE73-40DF-ABBC-0CC06631B3DC}"/>
              </a:ext>
            </a:extLst>
          </p:cNvPr>
          <p:cNvSpPr>
            <a:spLocks noGrp="1"/>
          </p:cNvSpPr>
          <p:nvPr/>
        </p:nvSpPr>
        <p:spPr>
          <a:xfrm>
            <a:off x="609600" y="4305300"/>
            <a:ext cx="10934700" cy="742950"/>
          </a:xfrm>
          <a:prstGeom prst="rect">
            <a:avLst/>
          </a:prstGeom>
          <a:solidFill>
            <a:srgbClr val="F1F5F9"/>
          </a:solidFill>
          <a:ln w="9525">
            <a:solidFill>
              <a:srgbClr val="F1F5F9"/>
            </a:solidFill>
            <a:prstDash val="solid"/>
          </a:ln>
        </p:spPr>
        <p:txBody>
          <a:bodyPr/>
          <a:lstStyle/>
          <a:p>
            <a:endParaRPr/>
          </a:p>
        </p:txBody>
      </p:sp>
      <p:sp>
        <p:nvSpPr>
          <p:cNvPr id="15" name="矩形 14">
            <a:extLst>
              <a:ext uri="{FF2B5EF4-FFF2-40B4-BE49-F238E27FC236}">
                <a16:creationId xmlns:a16="http://schemas.microsoft.com/office/drawing/2014/main" id="{52C788DD-3E46-4D6A-A83A-934EB082C20B}"/>
              </a:ext>
            </a:extLst>
          </p:cNvPr>
          <p:cNvSpPr>
            <a:spLocks noGrp="1"/>
          </p:cNvSpPr>
          <p:nvPr/>
        </p:nvSpPr>
        <p:spPr>
          <a:xfrm>
            <a:off x="838200" y="4476750"/>
            <a:ext cx="2571750" cy="304800"/>
          </a:xfrm>
          <a:prstGeom prst="rect">
            <a:avLst/>
          </a:prstGeom>
          <a:noFill/>
          <a:ln w="0">
            <a:noFill/>
            <a:prstDash val="solid"/>
          </a:ln>
        </p:spPr>
        <p:txBody>
          <a:bodyPr lIns="0" tIns="0" rIns="0" bIns="0" anchor="t">
            <a:noAutofit/>
          </a:bodyPr>
          <a:lstStyle/>
          <a:p>
            <a:pPr algn="l">
              <a:buNone/>
              <a:defRPr sz="1500" b="1">
                <a:solidFill>
                  <a:srgbClr val="6D3CC7"/>
                </a:solidFill>
                <a:latin typeface="Aptos"/>
                <a:ea typeface="Aptos"/>
                <a:cs typeface="Aptos"/>
              </a:defRPr>
            </a:pPr>
            <a:r>
              <a:rPr sz="1600" b="1">
                <a:solidFill>
                  <a:srgbClr val="6D3CC7"/>
                </a:solidFill>
                <a:latin typeface="Aptos"/>
                <a:ea typeface="Aptos"/>
                <a:cs typeface="Aptos"/>
              </a:rPr>
              <a:t>FFN concepts → communication</a:t>
            </a:r>
          </a:p>
        </p:txBody>
      </p:sp>
      <p:sp>
        <p:nvSpPr>
          <p:cNvPr id="16" name="矩形 15">
            <a:extLst>
              <a:ext uri="{FF2B5EF4-FFF2-40B4-BE49-F238E27FC236}">
                <a16:creationId xmlns:a16="http://schemas.microsoft.com/office/drawing/2014/main" id="{127B955A-84CB-4D6B-833A-9D0D6D14C7F9}"/>
              </a:ext>
            </a:extLst>
          </p:cNvPr>
          <p:cNvSpPr>
            <a:spLocks noGrp="1"/>
          </p:cNvSpPr>
          <p:nvPr/>
        </p:nvSpPr>
        <p:spPr>
          <a:xfrm>
            <a:off x="3619500" y="4467225"/>
            <a:ext cx="7543800" cy="381000"/>
          </a:xfrm>
          <a:prstGeom prst="rect">
            <a:avLst/>
          </a:prstGeom>
          <a:noFill/>
          <a:ln w="0">
            <a:noFill/>
            <a:prstDash val="solid"/>
          </a:ln>
        </p:spPr>
        <p:txBody>
          <a:bodyPr lIns="0" tIns="0" rIns="0" bIns="0" anchor="t">
            <a:noAutofit/>
          </a:bodyPr>
          <a:lstStyle/>
          <a:p>
            <a:pPr algn="l">
              <a:buNone/>
              <a:defRPr sz="1350" b="0">
                <a:solidFill>
                  <a:srgbClr val="5B6472"/>
                </a:solidFill>
                <a:latin typeface="Aptos"/>
                <a:ea typeface="Aptos"/>
                <a:cs typeface="Aptos"/>
              </a:defRPr>
            </a:pPr>
            <a:r>
              <a:rPr sz="1600" b="0">
                <a:solidFill>
                  <a:srgbClr val="5B6472"/>
                </a:solidFill>
                <a:latin typeface="Aptos"/>
                <a:ea typeface="Aptos"/>
                <a:cs typeface="Aptos"/>
              </a:rPr>
              <a:t>Do pre-down-projection concept slots need cross-token communication, and is it better than simple projection?</a:t>
            </a:r>
          </a:p>
        </p:txBody>
      </p:sp>
      <p:sp>
        <p:nvSpPr>
          <p:cNvPr id="17" name="矩形 16">
            <a:extLst>
              <a:ext uri="{FF2B5EF4-FFF2-40B4-BE49-F238E27FC236}">
                <a16:creationId xmlns:a16="http://schemas.microsoft.com/office/drawing/2014/main" id="{50779A34-0D62-4EA1-ACE9-7572358B4ABD}"/>
              </a:ext>
            </a:extLst>
          </p:cNvPr>
          <p:cNvSpPr>
            <a:spLocks noGrp="1"/>
          </p:cNvSpPr>
          <p:nvPr/>
        </p:nvSpPr>
        <p:spPr>
          <a:xfrm>
            <a:off x="609600" y="5467350"/>
            <a:ext cx="10934700" cy="742950"/>
          </a:xfrm>
          <a:prstGeom prst="rect">
            <a:avLst/>
          </a:prstGeom>
          <a:solidFill>
            <a:srgbClr val="111A2E"/>
          </a:solidFill>
          <a:ln w="0">
            <a:solidFill>
              <a:srgbClr val="111A2E"/>
            </a:solidFill>
            <a:prstDash val="solid"/>
          </a:ln>
        </p:spPr>
        <p:txBody>
          <a:bodyPr/>
          <a:lstStyle/>
          <a:p>
            <a:endParaRPr/>
          </a:p>
        </p:txBody>
      </p:sp>
      <p:sp>
        <p:nvSpPr>
          <p:cNvPr id="18" name="矩形 17">
            <a:extLst>
              <a:ext uri="{FF2B5EF4-FFF2-40B4-BE49-F238E27FC236}">
                <a16:creationId xmlns:a16="http://schemas.microsoft.com/office/drawing/2014/main" id="{1291F74F-4316-4825-8B8C-80556858E427}"/>
              </a:ext>
            </a:extLst>
          </p:cNvPr>
          <p:cNvSpPr>
            <a:spLocks noGrp="1"/>
          </p:cNvSpPr>
          <p:nvPr/>
        </p:nvSpPr>
        <p:spPr>
          <a:xfrm>
            <a:off x="819150" y="5629275"/>
            <a:ext cx="10515600" cy="304800"/>
          </a:xfrm>
          <a:prstGeom prst="rect">
            <a:avLst/>
          </a:prstGeom>
          <a:noFill/>
          <a:ln w="0">
            <a:noFill/>
            <a:prstDash val="solid"/>
          </a:ln>
        </p:spPr>
        <p:txBody>
          <a:bodyPr lIns="0" tIns="0" rIns="0" bIns="0" anchor="t">
            <a:noAutofit/>
          </a:bodyPr>
          <a:lstStyle/>
          <a:p>
            <a:pPr algn="ctr">
              <a:buNone/>
              <a:defRPr sz="1350" b="1">
                <a:solidFill>
                  <a:srgbClr val="FFFFFF"/>
                </a:solidFill>
                <a:latin typeface="Aptos"/>
                <a:ea typeface="Aptos"/>
                <a:cs typeface="Aptos"/>
              </a:defRPr>
            </a:pPr>
            <a:r>
              <a:rPr sz="1600" b="1">
                <a:solidFill>
                  <a:srgbClr val="FFFFFF"/>
                </a:solidFill>
                <a:latin typeface="Aptos"/>
                <a:ea typeface="Aptos"/>
                <a:cs typeface="Aptos"/>
              </a:rPr>
              <a:t>Shared gap: improvements in one metric are often treated as overall interpretability gains without parameter matching, cross-seed replication, and causal intervention.</a:t>
            </a:r>
          </a:p>
        </p:txBody>
      </p:sp>
    </p:spTree>
    <p:extLst>
      <p:ext uri="{BB962C8B-B14F-4D97-AF65-F5344CB8AC3E}">
        <p14:creationId xmlns:p14="http://schemas.microsoft.com/office/powerpoint/2010/main" val="1247362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5" name="矩形 24">
            <a:extLst>
              <a:ext uri="{FF2B5EF4-FFF2-40B4-BE49-F238E27FC236}">
                <a16:creationId xmlns:a16="http://schemas.microsoft.com/office/drawing/2014/main" id="{0522C474-3C35-47E4-8A92-FB6991250F91}"/>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Research objective</a:t>
            </a:r>
          </a:p>
        </p:txBody>
      </p:sp>
      <p:sp>
        <p:nvSpPr>
          <p:cNvPr id="2" name="矩形 1">
            <a:extLst>
              <a:ext uri="{FF2B5EF4-FFF2-40B4-BE49-F238E27FC236}">
                <a16:creationId xmlns:a16="http://schemas.microsoft.com/office/drawing/2014/main" id="{B4244EA5-1573-46D0-A4B7-76ADFF1AE96C}"/>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85501" lnSpcReduction="20000"/>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Find the smallest structural interface that passes task, semantic, causal, and cost checks</a:t>
            </a:r>
          </a:p>
        </p:txBody>
      </p:sp>
      <p:sp>
        <p:nvSpPr>
          <p:cNvPr id="3" name="直接连接符 2">
            <a:extLst>
              <a:ext uri="{FF2B5EF4-FFF2-40B4-BE49-F238E27FC236}">
                <a16:creationId xmlns:a16="http://schemas.microsoft.com/office/drawing/2014/main" id="{F62010F1-9493-40A6-9BCD-D02AA94F098F}"/>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D65DC4E3-72DF-44B7-B479-BF01F2B1F5A6}"/>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10</a:t>
            </a:r>
          </a:p>
        </p:txBody>
      </p:sp>
      <p:sp>
        <p:nvSpPr>
          <p:cNvPr id="5" name="矩形 4">
            <a:extLst>
              <a:ext uri="{FF2B5EF4-FFF2-40B4-BE49-F238E27FC236}">
                <a16:creationId xmlns:a16="http://schemas.microsoft.com/office/drawing/2014/main" id="{90CB2A0A-D5FA-494D-9750-D6CC2762B238}"/>
              </a:ext>
            </a:extLst>
          </p:cNvPr>
          <p:cNvSpPr>
            <a:spLocks noGrp="1"/>
          </p:cNvSpPr>
          <p:nvPr/>
        </p:nvSpPr>
        <p:spPr>
          <a:xfrm>
            <a:off x="609600" y="1504950"/>
            <a:ext cx="10934700" cy="895350"/>
          </a:xfrm>
          <a:prstGeom prst="rect">
            <a:avLst/>
          </a:prstGeom>
          <a:solidFill>
            <a:srgbClr val="111A2E"/>
          </a:solidFill>
          <a:ln w="0">
            <a:solidFill>
              <a:srgbClr val="111A2E"/>
            </a:solidFill>
            <a:prstDash val="solid"/>
          </a:ln>
        </p:spPr>
        <p:txBody>
          <a:bodyPr/>
          <a:lstStyle/>
          <a:p>
            <a:endParaRPr/>
          </a:p>
        </p:txBody>
      </p:sp>
      <p:sp>
        <p:nvSpPr>
          <p:cNvPr id="6" name="矩形 5">
            <a:extLst>
              <a:ext uri="{FF2B5EF4-FFF2-40B4-BE49-F238E27FC236}">
                <a16:creationId xmlns:a16="http://schemas.microsoft.com/office/drawing/2014/main" id="{711AA777-04EF-4A00-ACCB-E19BA5973302}"/>
              </a:ext>
            </a:extLst>
          </p:cNvPr>
          <p:cNvSpPr>
            <a:spLocks noGrp="1"/>
          </p:cNvSpPr>
          <p:nvPr/>
        </p:nvSpPr>
        <p:spPr>
          <a:xfrm>
            <a:off x="838200" y="1724025"/>
            <a:ext cx="10477500" cy="457200"/>
          </a:xfrm>
          <a:prstGeom prst="rect">
            <a:avLst/>
          </a:prstGeom>
          <a:noFill/>
          <a:ln w="0">
            <a:noFill/>
            <a:prstDash val="solid"/>
          </a:ln>
        </p:spPr>
        <p:txBody>
          <a:bodyPr lIns="0" tIns="0" rIns="0" bIns="0" anchor="t">
            <a:normAutofit fontScale="94456" lnSpcReduction="10000"/>
          </a:bodyPr>
          <a:lstStyle/>
          <a:p>
            <a:pPr algn="ctr">
              <a:buNone/>
              <a:defRPr sz="1725" b="1">
                <a:solidFill>
                  <a:srgbClr val="FFFFFF"/>
                </a:solidFill>
                <a:latin typeface="Aptos"/>
                <a:ea typeface="Aptos"/>
                <a:cs typeface="Aptos"/>
              </a:defRPr>
            </a:pPr>
            <a:r>
              <a:rPr sz="1725" b="1" dirty="0">
                <a:solidFill>
                  <a:srgbClr val="FFFFFF"/>
                </a:solidFill>
                <a:latin typeface="Aptos"/>
                <a:ea typeface="Aptos"/>
                <a:cs typeface="Aptos"/>
              </a:rPr>
              <a:t>Overall objective: induce internal representations that are easier to understand, decompose, and intervene on, while broadly preserving language-model capability and efficiency.</a:t>
            </a:r>
          </a:p>
        </p:txBody>
      </p:sp>
      <p:sp>
        <p:nvSpPr>
          <p:cNvPr id="7" name="直接连接符 6">
            <a:extLst>
              <a:ext uri="{FF2B5EF4-FFF2-40B4-BE49-F238E27FC236}">
                <a16:creationId xmlns:a16="http://schemas.microsoft.com/office/drawing/2014/main" id="{835B12E5-33B4-49D5-B37B-A17F6D8B0226}"/>
              </a:ext>
            </a:extLst>
          </p:cNvPr>
          <p:cNvSpPr>
            <a:spLocks noGrp="1"/>
          </p:cNvSpPr>
          <p:nvPr/>
        </p:nvSpPr>
        <p:spPr>
          <a:xfrm>
            <a:off x="1143000" y="3143250"/>
            <a:ext cx="9525000" cy="0"/>
          </a:xfrm>
          <a:prstGeom prst="line">
            <a:avLst/>
          </a:prstGeom>
          <a:noFill/>
          <a:ln w="38100">
            <a:solidFill>
              <a:srgbClr val="D7DEE8"/>
            </a:solidFill>
            <a:prstDash val="solid"/>
          </a:ln>
        </p:spPr>
        <p:txBody>
          <a:bodyPr/>
          <a:lstStyle/>
          <a:p>
            <a:endParaRPr/>
          </a:p>
        </p:txBody>
      </p:sp>
      <p:sp>
        <p:nvSpPr>
          <p:cNvPr id="8" name="矩形 7">
            <a:extLst>
              <a:ext uri="{FF2B5EF4-FFF2-40B4-BE49-F238E27FC236}">
                <a16:creationId xmlns:a16="http://schemas.microsoft.com/office/drawing/2014/main" id="{39694C32-4173-4031-985F-68B24D6ED3FD}"/>
              </a:ext>
            </a:extLst>
          </p:cNvPr>
          <p:cNvSpPr>
            <a:spLocks noGrp="1"/>
          </p:cNvSpPr>
          <p:nvPr/>
        </p:nvSpPr>
        <p:spPr>
          <a:xfrm>
            <a:off x="1657350" y="3009900"/>
            <a:ext cx="266700" cy="266700"/>
          </a:xfrm>
          <a:prstGeom prst="rect">
            <a:avLst/>
          </a:prstGeom>
          <a:solidFill>
            <a:srgbClr val="2457D6"/>
          </a:solidFill>
          <a:ln w="0">
            <a:solidFill>
              <a:srgbClr val="2457D6"/>
            </a:solidFill>
            <a:prstDash val="solid"/>
          </a:ln>
        </p:spPr>
        <p:txBody>
          <a:bodyPr/>
          <a:lstStyle/>
          <a:p>
            <a:endParaRPr/>
          </a:p>
        </p:txBody>
      </p:sp>
      <p:sp>
        <p:nvSpPr>
          <p:cNvPr id="9" name="矩形 8">
            <a:extLst>
              <a:ext uri="{FF2B5EF4-FFF2-40B4-BE49-F238E27FC236}">
                <a16:creationId xmlns:a16="http://schemas.microsoft.com/office/drawing/2014/main" id="{02EAF6E4-1F7E-4E86-AAAB-A07215D4B765}"/>
              </a:ext>
            </a:extLst>
          </p:cNvPr>
          <p:cNvSpPr>
            <a:spLocks noGrp="1"/>
          </p:cNvSpPr>
          <p:nvPr/>
        </p:nvSpPr>
        <p:spPr>
          <a:xfrm>
            <a:off x="514350" y="3676650"/>
            <a:ext cx="2609850" cy="228600"/>
          </a:xfrm>
          <a:prstGeom prst="rect">
            <a:avLst/>
          </a:prstGeom>
          <a:noFill/>
          <a:ln w="0">
            <a:noFill/>
            <a:prstDash val="solid"/>
          </a:ln>
        </p:spPr>
        <p:txBody>
          <a:bodyPr lIns="0" tIns="0" rIns="0" bIns="0" anchor="t">
            <a:normAutofit/>
          </a:bodyPr>
          <a:lstStyle/>
          <a:p>
            <a:pPr algn="ctr">
              <a:buNone/>
              <a:defRPr sz="1125" b="1">
                <a:solidFill>
                  <a:srgbClr val="2457D6"/>
                </a:solidFill>
                <a:latin typeface="Aptos"/>
                <a:ea typeface="Aptos"/>
                <a:cs typeface="Aptos"/>
              </a:defRPr>
            </a:pPr>
            <a:r>
              <a:rPr sz="1200" b="1">
                <a:solidFill>
                  <a:srgbClr val="2457D6"/>
                </a:solidFill>
                <a:latin typeface="Aptos"/>
                <a:ea typeface="Aptos"/>
                <a:cs typeface="Aptos"/>
              </a:rPr>
              <a:t>Experiment 1</a:t>
            </a:r>
          </a:p>
        </p:txBody>
      </p:sp>
      <p:sp>
        <p:nvSpPr>
          <p:cNvPr id="10" name="矩形 9">
            <a:extLst>
              <a:ext uri="{FF2B5EF4-FFF2-40B4-BE49-F238E27FC236}">
                <a16:creationId xmlns:a16="http://schemas.microsoft.com/office/drawing/2014/main" id="{5A23FB97-16B0-4268-8E7B-886793B255AB}"/>
              </a:ext>
            </a:extLst>
          </p:cNvPr>
          <p:cNvSpPr>
            <a:spLocks noGrp="1"/>
          </p:cNvSpPr>
          <p:nvPr/>
        </p:nvSpPr>
        <p:spPr>
          <a:xfrm>
            <a:off x="514350" y="4057650"/>
            <a:ext cx="2609850" cy="323850"/>
          </a:xfrm>
          <a:prstGeom prst="rect">
            <a:avLst/>
          </a:prstGeom>
          <a:noFill/>
          <a:ln w="0">
            <a:noFill/>
            <a:prstDash val="solid"/>
          </a:ln>
        </p:spPr>
        <p:txBody>
          <a:bodyPr lIns="0" tIns="0" rIns="0" bIns="0" anchor="t">
            <a:normAutofit/>
          </a:bodyPr>
          <a:lstStyle/>
          <a:p>
            <a:pPr algn="ctr">
              <a:buNone/>
              <a:defRPr sz="1725" b="1">
                <a:solidFill>
                  <a:srgbClr val="111827"/>
                </a:solidFill>
                <a:latin typeface="Aptos"/>
                <a:ea typeface="Aptos"/>
                <a:cs typeface="Aptos"/>
              </a:defRPr>
            </a:pPr>
            <a:r>
              <a:rPr sz="1725" b="1">
                <a:solidFill>
                  <a:srgbClr val="111827"/>
                </a:solidFill>
                <a:latin typeface="Aptos"/>
                <a:ea typeface="Aptos"/>
                <a:cs typeface="Aptos"/>
              </a:rPr>
              <a:t>Position decoupling</a:t>
            </a:r>
          </a:p>
        </p:txBody>
      </p:sp>
      <p:sp>
        <p:nvSpPr>
          <p:cNvPr id="11" name="矩形 10">
            <a:extLst>
              <a:ext uri="{FF2B5EF4-FFF2-40B4-BE49-F238E27FC236}">
                <a16:creationId xmlns:a16="http://schemas.microsoft.com/office/drawing/2014/main" id="{F8DA449F-BA6C-41E7-B428-78F9F6AF79DC}"/>
              </a:ext>
            </a:extLst>
          </p:cNvPr>
          <p:cNvSpPr>
            <a:spLocks noGrp="1"/>
          </p:cNvSpPr>
          <p:nvPr/>
        </p:nvSpPr>
        <p:spPr>
          <a:xfrm>
            <a:off x="704850" y="4629150"/>
            <a:ext cx="2228850" cy="552450"/>
          </a:xfrm>
          <a:prstGeom prst="rect">
            <a:avLst/>
          </a:prstGeom>
          <a:noFill/>
          <a:ln w="0">
            <a:noFill/>
            <a:prstDash val="solid"/>
          </a:ln>
        </p:spPr>
        <p:txBody>
          <a:bodyPr lIns="0" tIns="0" rIns="0" bIns="0" anchor="t">
            <a:normAutofit/>
          </a:bodyPr>
          <a:lstStyle/>
          <a:p>
            <a:pPr algn="ctr">
              <a:buNone/>
              <a:defRPr sz="1275" b="0">
                <a:solidFill>
                  <a:srgbClr val="5B6472"/>
                </a:solidFill>
                <a:latin typeface="Aptos"/>
                <a:ea typeface="Aptos"/>
                <a:cs typeface="Aptos"/>
              </a:defRPr>
            </a:pPr>
            <a:r>
              <a:rPr sz="1600" b="0" dirty="0">
                <a:solidFill>
                  <a:srgbClr val="5B6472"/>
                </a:solidFill>
                <a:latin typeface="Aptos"/>
                <a:ea typeface="Aptos"/>
                <a:cs typeface="Aptos"/>
              </a:rPr>
              <a:t>Does </a:t>
            </a:r>
            <a:r>
              <a:rPr sz="1600" b="0" dirty="0" err="1">
                <a:solidFill>
                  <a:srgbClr val="5B6472"/>
                </a:solidFill>
                <a:latin typeface="Aptos"/>
                <a:ea typeface="Aptos"/>
                <a:cs typeface="Aptos"/>
              </a:rPr>
              <a:t>PoPE</a:t>
            </a:r>
            <a:r>
              <a:rPr sz="1600" b="0" dirty="0">
                <a:solidFill>
                  <a:srgbClr val="5B6472"/>
                </a:solidFill>
                <a:latin typeface="Aptos"/>
                <a:ea typeface="Aptos"/>
                <a:cs typeface="Aptos"/>
              </a:rPr>
              <a:t> improve SAE representations?</a:t>
            </a:r>
          </a:p>
        </p:txBody>
      </p:sp>
      <p:sp>
        <p:nvSpPr>
          <p:cNvPr id="12" name="矩形 11">
            <a:extLst>
              <a:ext uri="{FF2B5EF4-FFF2-40B4-BE49-F238E27FC236}">
                <a16:creationId xmlns:a16="http://schemas.microsoft.com/office/drawing/2014/main" id="{6491062E-AC95-4D35-B1F3-209DDEEC5F8A}"/>
              </a:ext>
            </a:extLst>
          </p:cNvPr>
          <p:cNvSpPr>
            <a:spLocks noGrp="1"/>
          </p:cNvSpPr>
          <p:nvPr/>
        </p:nvSpPr>
        <p:spPr>
          <a:xfrm>
            <a:off x="4572000" y="3009900"/>
            <a:ext cx="266700" cy="266700"/>
          </a:xfrm>
          <a:prstGeom prst="rect">
            <a:avLst/>
          </a:prstGeom>
          <a:solidFill>
            <a:srgbClr val="0F766E"/>
          </a:solidFill>
          <a:ln w="0">
            <a:solidFill>
              <a:srgbClr val="0F766E"/>
            </a:solidFill>
            <a:prstDash val="solid"/>
          </a:ln>
        </p:spPr>
        <p:txBody>
          <a:bodyPr/>
          <a:lstStyle/>
          <a:p>
            <a:endParaRPr/>
          </a:p>
        </p:txBody>
      </p:sp>
      <p:sp>
        <p:nvSpPr>
          <p:cNvPr id="13" name="矩形 12">
            <a:extLst>
              <a:ext uri="{FF2B5EF4-FFF2-40B4-BE49-F238E27FC236}">
                <a16:creationId xmlns:a16="http://schemas.microsoft.com/office/drawing/2014/main" id="{760928D1-E95C-451C-AFBA-F1782D567584}"/>
              </a:ext>
            </a:extLst>
          </p:cNvPr>
          <p:cNvSpPr>
            <a:spLocks noGrp="1"/>
          </p:cNvSpPr>
          <p:nvPr/>
        </p:nvSpPr>
        <p:spPr>
          <a:xfrm>
            <a:off x="3429000" y="3676650"/>
            <a:ext cx="2609850" cy="228600"/>
          </a:xfrm>
          <a:prstGeom prst="rect">
            <a:avLst/>
          </a:prstGeom>
          <a:noFill/>
          <a:ln w="0">
            <a:noFill/>
            <a:prstDash val="solid"/>
          </a:ln>
        </p:spPr>
        <p:txBody>
          <a:bodyPr lIns="0" tIns="0" rIns="0" bIns="0" anchor="t">
            <a:normAutofit/>
          </a:bodyPr>
          <a:lstStyle/>
          <a:p>
            <a:pPr algn="ctr">
              <a:buNone/>
              <a:defRPr sz="1125" b="1">
                <a:solidFill>
                  <a:srgbClr val="0F766E"/>
                </a:solidFill>
                <a:latin typeface="Aptos"/>
                <a:ea typeface="Aptos"/>
                <a:cs typeface="Aptos"/>
              </a:defRPr>
            </a:pPr>
            <a:r>
              <a:rPr sz="1200" b="1">
                <a:solidFill>
                  <a:srgbClr val="0F766E"/>
                </a:solidFill>
                <a:latin typeface="Aptos"/>
                <a:ea typeface="Aptos"/>
                <a:cs typeface="Aptos"/>
              </a:rPr>
              <a:t>Experiment 2</a:t>
            </a:r>
          </a:p>
        </p:txBody>
      </p:sp>
      <p:sp>
        <p:nvSpPr>
          <p:cNvPr id="14" name="矩形 13">
            <a:extLst>
              <a:ext uri="{FF2B5EF4-FFF2-40B4-BE49-F238E27FC236}">
                <a16:creationId xmlns:a16="http://schemas.microsoft.com/office/drawing/2014/main" id="{98B63287-90A5-4F20-A245-928AEDAB777C}"/>
              </a:ext>
            </a:extLst>
          </p:cNvPr>
          <p:cNvSpPr>
            <a:spLocks noGrp="1"/>
          </p:cNvSpPr>
          <p:nvPr/>
        </p:nvSpPr>
        <p:spPr>
          <a:xfrm>
            <a:off x="3429000" y="4057650"/>
            <a:ext cx="2609850" cy="323850"/>
          </a:xfrm>
          <a:prstGeom prst="rect">
            <a:avLst/>
          </a:prstGeom>
          <a:noFill/>
          <a:ln w="0">
            <a:noFill/>
            <a:prstDash val="solid"/>
          </a:ln>
        </p:spPr>
        <p:txBody>
          <a:bodyPr lIns="0" tIns="0" rIns="0" bIns="0" anchor="t">
            <a:normAutofit/>
          </a:bodyPr>
          <a:lstStyle/>
          <a:p>
            <a:pPr algn="ctr">
              <a:buNone/>
              <a:defRPr sz="1725" b="1">
                <a:solidFill>
                  <a:srgbClr val="111827"/>
                </a:solidFill>
                <a:latin typeface="Aptos"/>
                <a:ea typeface="Aptos"/>
                <a:cs typeface="Aptos"/>
              </a:defRPr>
            </a:pPr>
            <a:r>
              <a:rPr sz="1725" b="1">
                <a:solidFill>
                  <a:srgbClr val="111827"/>
                </a:solidFill>
                <a:latin typeface="Aptos"/>
                <a:ea typeface="Aptos"/>
                <a:cs typeface="Aptos"/>
              </a:rPr>
              <a:t>Structural sparsity</a:t>
            </a:r>
          </a:p>
        </p:txBody>
      </p:sp>
      <p:sp>
        <p:nvSpPr>
          <p:cNvPr id="15" name="矩形 14">
            <a:extLst>
              <a:ext uri="{FF2B5EF4-FFF2-40B4-BE49-F238E27FC236}">
                <a16:creationId xmlns:a16="http://schemas.microsoft.com/office/drawing/2014/main" id="{B70DB824-3710-4014-8165-3D4C09E53ADA}"/>
              </a:ext>
            </a:extLst>
          </p:cNvPr>
          <p:cNvSpPr>
            <a:spLocks noGrp="1"/>
          </p:cNvSpPr>
          <p:nvPr/>
        </p:nvSpPr>
        <p:spPr>
          <a:xfrm>
            <a:off x="3619500" y="4629150"/>
            <a:ext cx="2228850" cy="552450"/>
          </a:xfrm>
          <a:prstGeom prst="rect">
            <a:avLst/>
          </a:prstGeom>
          <a:noFill/>
          <a:ln w="0">
            <a:noFill/>
            <a:prstDash val="solid"/>
          </a:ln>
        </p:spPr>
        <p:txBody>
          <a:bodyPr lIns="0" tIns="0" rIns="0" bIns="0" anchor="t">
            <a:normAutofit/>
          </a:bodyPr>
          <a:lstStyle/>
          <a:p>
            <a:pPr algn="ctr">
              <a:buNone/>
              <a:defRPr sz="1275" b="0">
                <a:solidFill>
                  <a:srgbClr val="5B6472"/>
                </a:solidFill>
                <a:latin typeface="Aptos"/>
                <a:ea typeface="Aptos"/>
                <a:cs typeface="Aptos"/>
              </a:defRPr>
            </a:pPr>
            <a:r>
              <a:rPr sz="1600" b="0" dirty="0">
                <a:solidFill>
                  <a:srgbClr val="5B6472"/>
                </a:solidFill>
                <a:latin typeface="Aptos"/>
                <a:ea typeface="Aptos"/>
                <a:cs typeface="Aptos"/>
              </a:rPr>
              <a:t>Does sparsity promote </a:t>
            </a:r>
            <a:r>
              <a:rPr sz="1600" b="0" dirty="0" err="1">
                <a:solidFill>
                  <a:srgbClr val="5B6472"/>
                </a:solidFill>
                <a:latin typeface="Aptos"/>
                <a:ea typeface="Aptos"/>
                <a:cs typeface="Aptos"/>
              </a:rPr>
              <a:t>monosemanticity</a:t>
            </a:r>
            <a:r>
              <a:rPr sz="1600" b="0" dirty="0">
                <a:solidFill>
                  <a:srgbClr val="5B6472"/>
                </a:solidFill>
                <a:latin typeface="Aptos"/>
                <a:ea typeface="Aptos"/>
                <a:cs typeface="Aptos"/>
              </a:rPr>
              <a:t>?</a:t>
            </a:r>
          </a:p>
        </p:txBody>
      </p:sp>
      <p:sp>
        <p:nvSpPr>
          <p:cNvPr id="16" name="矩形 15">
            <a:extLst>
              <a:ext uri="{FF2B5EF4-FFF2-40B4-BE49-F238E27FC236}">
                <a16:creationId xmlns:a16="http://schemas.microsoft.com/office/drawing/2014/main" id="{B40B63D3-504B-4B4B-82F1-2A2CB62EF282}"/>
              </a:ext>
            </a:extLst>
          </p:cNvPr>
          <p:cNvSpPr>
            <a:spLocks noGrp="1"/>
          </p:cNvSpPr>
          <p:nvPr/>
        </p:nvSpPr>
        <p:spPr>
          <a:xfrm>
            <a:off x="7486650" y="3009900"/>
            <a:ext cx="266700" cy="266700"/>
          </a:xfrm>
          <a:prstGeom prst="rect">
            <a:avLst/>
          </a:prstGeom>
          <a:solidFill>
            <a:srgbClr val="B45309"/>
          </a:solidFill>
          <a:ln w="0">
            <a:solidFill>
              <a:srgbClr val="B45309"/>
            </a:solidFill>
            <a:prstDash val="solid"/>
          </a:ln>
        </p:spPr>
        <p:txBody>
          <a:bodyPr/>
          <a:lstStyle/>
          <a:p>
            <a:endParaRPr/>
          </a:p>
        </p:txBody>
      </p:sp>
      <p:sp>
        <p:nvSpPr>
          <p:cNvPr id="17" name="矩形 16">
            <a:extLst>
              <a:ext uri="{FF2B5EF4-FFF2-40B4-BE49-F238E27FC236}">
                <a16:creationId xmlns:a16="http://schemas.microsoft.com/office/drawing/2014/main" id="{9847EC08-40D7-4E74-946E-9AA5EF5DA3E9}"/>
              </a:ext>
            </a:extLst>
          </p:cNvPr>
          <p:cNvSpPr>
            <a:spLocks noGrp="1"/>
          </p:cNvSpPr>
          <p:nvPr/>
        </p:nvSpPr>
        <p:spPr>
          <a:xfrm>
            <a:off x="6343650" y="3676650"/>
            <a:ext cx="2609850" cy="228600"/>
          </a:xfrm>
          <a:prstGeom prst="rect">
            <a:avLst/>
          </a:prstGeom>
          <a:noFill/>
          <a:ln w="0">
            <a:noFill/>
            <a:prstDash val="solid"/>
          </a:ln>
        </p:spPr>
        <p:txBody>
          <a:bodyPr lIns="0" tIns="0" rIns="0" bIns="0" anchor="t">
            <a:normAutofit/>
          </a:bodyPr>
          <a:lstStyle/>
          <a:p>
            <a:pPr algn="ctr">
              <a:buNone/>
              <a:defRPr sz="1125" b="1">
                <a:solidFill>
                  <a:srgbClr val="B45309"/>
                </a:solidFill>
                <a:latin typeface="Aptos"/>
                <a:ea typeface="Aptos"/>
                <a:cs typeface="Aptos"/>
              </a:defRPr>
            </a:pPr>
            <a:r>
              <a:rPr sz="1200" b="1">
                <a:solidFill>
                  <a:srgbClr val="B45309"/>
                </a:solidFill>
                <a:latin typeface="Aptos"/>
                <a:ea typeface="Aptos"/>
                <a:cs typeface="Aptos"/>
              </a:rPr>
              <a:t>Experiment 3</a:t>
            </a:r>
          </a:p>
        </p:txBody>
      </p:sp>
      <p:sp>
        <p:nvSpPr>
          <p:cNvPr id="18" name="矩形 17">
            <a:extLst>
              <a:ext uri="{FF2B5EF4-FFF2-40B4-BE49-F238E27FC236}">
                <a16:creationId xmlns:a16="http://schemas.microsoft.com/office/drawing/2014/main" id="{C0B9C420-8022-4398-80C8-2F02ED7CA69D}"/>
              </a:ext>
            </a:extLst>
          </p:cNvPr>
          <p:cNvSpPr>
            <a:spLocks noGrp="1"/>
          </p:cNvSpPr>
          <p:nvPr/>
        </p:nvSpPr>
        <p:spPr>
          <a:xfrm>
            <a:off x="6343650" y="4057650"/>
            <a:ext cx="2609850" cy="323850"/>
          </a:xfrm>
          <a:prstGeom prst="rect">
            <a:avLst/>
          </a:prstGeom>
          <a:noFill/>
          <a:ln w="0">
            <a:noFill/>
            <a:prstDash val="solid"/>
          </a:ln>
        </p:spPr>
        <p:txBody>
          <a:bodyPr lIns="0" tIns="0" rIns="0" bIns="0" anchor="t">
            <a:normAutofit/>
          </a:bodyPr>
          <a:lstStyle/>
          <a:p>
            <a:pPr algn="ctr">
              <a:buNone/>
              <a:defRPr sz="1725" b="1">
                <a:solidFill>
                  <a:srgbClr val="111827"/>
                </a:solidFill>
                <a:latin typeface="Aptos"/>
                <a:ea typeface="Aptos"/>
                <a:cs typeface="Aptos"/>
              </a:defRPr>
            </a:pPr>
            <a:r>
              <a:rPr sz="1725" b="1">
                <a:solidFill>
                  <a:srgbClr val="111827"/>
                </a:solidFill>
                <a:latin typeface="Aptos"/>
                <a:ea typeface="Aptos"/>
                <a:cs typeface="Aptos"/>
              </a:rPr>
              <a:t>RA-CABLE</a:t>
            </a:r>
          </a:p>
        </p:txBody>
      </p:sp>
      <p:sp>
        <p:nvSpPr>
          <p:cNvPr id="19" name="矩形 18">
            <a:extLst>
              <a:ext uri="{FF2B5EF4-FFF2-40B4-BE49-F238E27FC236}">
                <a16:creationId xmlns:a16="http://schemas.microsoft.com/office/drawing/2014/main" id="{FEF2F1E6-7376-4001-8152-A042E27D0324}"/>
              </a:ext>
            </a:extLst>
          </p:cNvPr>
          <p:cNvSpPr>
            <a:spLocks noGrp="1"/>
          </p:cNvSpPr>
          <p:nvPr/>
        </p:nvSpPr>
        <p:spPr>
          <a:xfrm>
            <a:off x="6534150" y="4629150"/>
            <a:ext cx="2228850" cy="552450"/>
          </a:xfrm>
          <a:prstGeom prst="rect">
            <a:avLst/>
          </a:prstGeom>
          <a:noFill/>
          <a:ln w="0">
            <a:noFill/>
            <a:prstDash val="solid"/>
          </a:ln>
        </p:spPr>
        <p:txBody>
          <a:bodyPr lIns="0" tIns="0" rIns="0" bIns="0" anchor="t">
            <a:normAutofit/>
          </a:bodyPr>
          <a:lstStyle/>
          <a:p>
            <a:pPr algn="ctr">
              <a:buNone/>
              <a:defRPr sz="1275" b="0">
                <a:solidFill>
                  <a:srgbClr val="5B6472"/>
                </a:solidFill>
                <a:latin typeface="Aptos"/>
                <a:ea typeface="Aptos"/>
                <a:cs typeface="Aptos"/>
              </a:defRPr>
            </a:pPr>
            <a:r>
              <a:rPr sz="1600" b="0" dirty="0">
                <a:solidFill>
                  <a:srgbClr val="5B6472"/>
                </a:solidFill>
                <a:latin typeface="Aptos"/>
                <a:ea typeface="Aptos"/>
                <a:cs typeface="Aptos"/>
              </a:rPr>
              <a:t>Does relevance improve remote information use?</a:t>
            </a:r>
          </a:p>
        </p:txBody>
      </p:sp>
      <p:sp>
        <p:nvSpPr>
          <p:cNvPr id="20" name="矩形 19">
            <a:extLst>
              <a:ext uri="{FF2B5EF4-FFF2-40B4-BE49-F238E27FC236}">
                <a16:creationId xmlns:a16="http://schemas.microsoft.com/office/drawing/2014/main" id="{8C36C4DC-6042-4407-A98F-E3C52F081E00}"/>
              </a:ext>
            </a:extLst>
          </p:cNvPr>
          <p:cNvSpPr>
            <a:spLocks noGrp="1"/>
          </p:cNvSpPr>
          <p:nvPr/>
        </p:nvSpPr>
        <p:spPr>
          <a:xfrm>
            <a:off x="10401300" y="3009900"/>
            <a:ext cx="266700" cy="266700"/>
          </a:xfrm>
          <a:prstGeom prst="rect">
            <a:avLst/>
          </a:prstGeom>
          <a:solidFill>
            <a:srgbClr val="6D3CC7"/>
          </a:solidFill>
          <a:ln w="0">
            <a:solidFill>
              <a:srgbClr val="6D3CC7"/>
            </a:solidFill>
            <a:prstDash val="solid"/>
          </a:ln>
        </p:spPr>
        <p:txBody>
          <a:bodyPr/>
          <a:lstStyle/>
          <a:p>
            <a:endParaRPr/>
          </a:p>
        </p:txBody>
      </p:sp>
      <p:sp>
        <p:nvSpPr>
          <p:cNvPr id="21" name="矩形 20">
            <a:extLst>
              <a:ext uri="{FF2B5EF4-FFF2-40B4-BE49-F238E27FC236}">
                <a16:creationId xmlns:a16="http://schemas.microsoft.com/office/drawing/2014/main" id="{8BF50D58-37C0-4851-8F0D-C57F8DCB0527}"/>
              </a:ext>
            </a:extLst>
          </p:cNvPr>
          <p:cNvSpPr>
            <a:spLocks noGrp="1"/>
          </p:cNvSpPr>
          <p:nvPr/>
        </p:nvSpPr>
        <p:spPr>
          <a:xfrm>
            <a:off x="9258300" y="3676650"/>
            <a:ext cx="2609850" cy="228600"/>
          </a:xfrm>
          <a:prstGeom prst="rect">
            <a:avLst/>
          </a:prstGeom>
          <a:noFill/>
          <a:ln w="0">
            <a:noFill/>
            <a:prstDash val="solid"/>
          </a:ln>
        </p:spPr>
        <p:txBody>
          <a:bodyPr lIns="0" tIns="0" rIns="0" bIns="0" anchor="t">
            <a:normAutofit/>
          </a:bodyPr>
          <a:lstStyle/>
          <a:p>
            <a:pPr algn="ctr">
              <a:buNone/>
              <a:defRPr sz="1125" b="1">
                <a:solidFill>
                  <a:srgbClr val="6D3CC7"/>
                </a:solidFill>
                <a:latin typeface="Aptos"/>
                <a:ea typeface="Aptos"/>
                <a:cs typeface="Aptos"/>
              </a:defRPr>
            </a:pPr>
            <a:r>
              <a:rPr sz="1200" b="1">
                <a:solidFill>
                  <a:srgbClr val="6D3CC7"/>
                </a:solidFill>
                <a:latin typeface="Aptos"/>
                <a:ea typeface="Aptos"/>
                <a:cs typeface="Aptos"/>
              </a:rPr>
              <a:t>Experiment 4</a:t>
            </a:r>
          </a:p>
        </p:txBody>
      </p:sp>
      <p:sp>
        <p:nvSpPr>
          <p:cNvPr id="22" name="矩形 21">
            <a:extLst>
              <a:ext uri="{FF2B5EF4-FFF2-40B4-BE49-F238E27FC236}">
                <a16:creationId xmlns:a16="http://schemas.microsoft.com/office/drawing/2014/main" id="{B0D03575-63CB-4B86-A72D-4031C5D50746}"/>
              </a:ext>
            </a:extLst>
          </p:cNvPr>
          <p:cNvSpPr>
            <a:spLocks noGrp="1"/>
          </p:cNvSpPr>
          <p:nvPr/>
        </p:nvSpPr>
        <p:spPr>
          <a:xfrm>
            <a:off x="9258300" y="4057650"/>
            <a:ext cx="2609850" cy="323850"/>
          </a:xfrm>
          <a:prstGeom prst="rect">
            <a:avLst/>
          </a:prstGeom>
          <a:noFill/>
          <a:ln w="0">
            <a:noFill/>
            <a:prstDash val="solid"/>
          </a:ln>
        </p:spPr>
        <p:txBody>
          <a:bodyPr lIns="0" tIns="0" rIns="0" bIns="0" anchor="t">
            <a:normAutofit/>
          </a:bodyPr>
          <a:lstStyle/>
          <a:p>
            <a:pPr algn="ctr">
              <a:buNone/>
              <a:defRPr sz="1725" b="1">
                <a:solidFill>
                  <a:srgbClr val="111827"/>
                </a:solidFill>
                <a:latin typeface="Aptos"/>
                <a:ea typeface="Aptos"/>
                <a:cs typeface="Aptos"/>
              </a:defRPr>
            </a:pPr>
            <a:r>
              <a:rPr sz="1725" b="1">
                <a:solidFill>
                  <a:srgbClr val="111827"/>
                </a:solidFill>
                <a:latin typeface="Aptos"/>
                <a:ea typeface="Aptos"/>
                <a:cs typeface="Aptos"/>
              </a:rPr>
              <a:t>Concept interface</a:t>
            </a:r>
          </a:p>
        </p:txBody>
      </p:sp>
      <p:sp>
        <p:nvSpPr>
          <p:cNvPr id="23" name="矩形 22">
            <a:extLst>
              <a:ext uri="{FF2B5EF4-FFF2-40B4-BE49-F238E27FC236}">
                <a16:creationId xmlns:a16="http://schemas.microsoft.com/office/drawing/2014/main" id="{50C86900-D20B-4F2C-9A91-9B1F7E58914D}"/>
              </a:ext>
            </a:extLst>
          </p:cNvPr>
          <p:cNvSpPr>
            <a:spLocks noGrp="1"/>
          </p:cNvSpPr>
          <p:nvPr/>
        </p:nvSpPr>
        <p:spPr>
          <a:xfrm>
            <a:off x="9448800" y="4629150"/>
            <a:ext cx="2228850" cy="552450"/>
          </a:xfrm>
          <a:prstGeom prst="rect">
            <a:avLst/>
          </a:prstGeom>
          <a:noFill/>
          <a:ln w="0">
            <a:noFill/>
            <a:prstDash val="solid"/>
          </a:ln>
        </p:spPr>
        <p:txBody>
          <a:bodyPr lIns="0" tIns="0" rIns="0" bIns="0" anchor="t">
            <a:noAutofit/>
          </a:bodyPr>
          <a:lstStyle/>
          <a:p>
            <a:pPr algn="ctr">
              <a:buNone/>
              <a:defRPr sz="1275" b="0">
                <a:solidFill>
                  <a:srgbClr val="5B6472"/>
                </a:solidFill>
                <a:latin typeface="Aptos"/>
                <a:ea typeface="Aptos"/>
                <a:cs typeface="Aptos"/>
              </a:defRPr>
            </a:pPr>
            <a:r>
              <a:rPr sz="1600" b="0" dirty="0">
                <a:solidFill>
                  <a:srgbClr val="5B6472"/>
                </a:solidFill>
                <a:latin typeface="Aptos"/>
                <a:ea typeface="Aptos"/>
                <a:cs typeface="Aptos"/>
              </a:rPr>
              <a:t>Does a second concept Attention mechanism add value?</a:t>
            </a:r>
          </a:p>
        </p:txBody>
      </p:sp>
      <p:sp>
        <p:nvSpPr>
          <p:cNvPr id="24" name="矩形 23">
            <a:extLst>
              <a:ext uri="{FF2B5EF4-FFF2-40B4-BE49-F238E27FC236}">
                <a16:creationId xmlns:a16="http://schemas.microsoft.com/office/drawing/2014/main" id="{66469770-BA5A-4309-A3F6-4FEB8C568B43}"/>
              </a:ext>
            </a:extLst>
          </p:cNvPr>
          <p:cNvSpPr>
            <a:spLocks noGrp="1"/>
          </p:cNvSpPr>
          <p:nvPr/>
        </p:nvSpPr>
        <p:spPr>
          <a:xfrm>
            <a:off x="609600" y="5734050"/>
            <a:ext cx="10934700" cy="304800"/>
          </a:xfrm>
          <a:prstGeom prst="rect">
            <a:avLst/>
          </a:prstGeom>
          <a:noFill/>
          <a:ln w="0">
            <a:noFill/>
            <a:prstDash val="solid"/>
          </a:ln>
        </p:spPr>
        <p:txBody>
          <a:bodyPr lIns="0" tIns="0" rIns="0" bIns="0" anchor="t">
            <a:noAutofit/>
          </a:bodyPr>
          <a:lstStyle/>
          <a:p>
            <a:pPr algn="ctr">
              <a:buNone/>
              <a:defRPr sz="1350" b="1">
                <a:solidFill>
                  <a:srgbClr val="2457D6"/>
                </a:solidFill>
                <a:latin typeface="Aptos"/>
                <a:ea typeface="Aptos"/>
                <a:cs typeface="Aptos"/>
              </a:defRPr>
            </a:pPr>
            <a:r>
              <a:rPr sz="1600" b="1" dirty="0">
                <a:solidFill>
                  <a:srgbClr val="2457D6"/>
                </a:solidFill>
                <a:latin typeface="Aptos"/>
                <a:ea typeface="Aptos"/>
                <a:cs typeface="Aptos"/>
              </a:rPr>
              <a:t>Strategy: start from a simple baseline, add one major structural variable at a time, and scale only after demonstrating an independent, reproducible benefit.</a:t>
            </a:r>
          </a:p>
        </p:txBody>
      </p:sp>
    </p:spTree>
    <p:extLst>
      <p:ext uri="{BB962C8B-B14F-4D97-AF65-F5344CB8AC3E}">
        <p14:creationId xmlns:p14="http://schemas.microsoft.com/office/powerpoint/2010/main" val="847409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6C99A083-C964-4B54-AE36-1F3148EDC677}"/>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1: objective and theoretical basis</a:t>
            </a:r>
          </a:p>
        </p:txBody>
      </p:sp>
      <p:sp>
        <p:nvSpPr>
          <p:cNvPr id="2" name="矩形 1">
            <a:extLst>
              <a:ext uri="{FF2B5EF4-FFF2-40B4-BE49-F238E27FC236}">
                <a16:creationId xmlns:a16="http://schemas.microsoft.com/office/drawing/2014/main" id="{39D0D060-810B-481D-9284-B036BCF3688B}"/>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92949"/>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Can explicitly separating ‘what’ from ‘where’ improve SAE representations?</a:t>
            </a:r>
          </a:p>
        </p:txBody>
      </p:sp>
      <p:sp>
        <p:nvSpPr>
          <p:cNvPr id="3" name="直接连接符 2">
            <a:extLst>
              <a:ext uri="{FF2B5EF4-FFF2-40B4-BE49-F238E27FC236}">
                <a16:creationId xmlns:a16="http://schemas.microsoft.com/office/drawing/2014/main" id="{788CB3BA-28C6-4389-A824-B81EC5AF2192}"/>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F9F37018-A8FF-4CA7-A1B4-E65459B712D8}"/>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11</a:t>
            </a:r>
          </a:p>
        </p:txBody>
      </p:sp>
      <p:sp>
        <p:nvSpPr>
          <p:cNvPr id="5" name="矩形 4">
            <a:extLst>
              <a:ext uri="{FF2B5EF4-FFF2-40B4-BE49-F238E27FC236}">
                <a16:creationId xmlns:a16="http://schemas.microsoft.com/office/drawing/2014/main" id="{2CCDA8E4-52F1-467F-8247-800421BA860F}"/>
              </a:ext>
            </a:extLst>
          </p:cNvPr>
          <p:cNvSpPr>
            <a:spLocks noGrp="1"/>
          </p:cNvSpPr>
          <p:nvPr/>
        </p:nvSpPr>
        <p:spPr>
          <a:xfrm>
            <a:off x="609600" y="1504950"/>
            <a:ext cx="10934700" cy="723900"/>
          </a:xfrm>
          <a:prstGeom prst="rect">
            <a:avLst/>
          </a:prstGeom>
          <a:solidFill>
            <a:srgbClr val="EAF1FF"/>
          </a:solidFill>
          <a:ln w="0">
            <a:solidFill>
              <a:srgbClr val="EAF1FF"/>
            </a:solidFill>
            <a:prstDash val="solid"/>
          </a:ln>
        </p:spPr>
        <p:txBody>
          <a:bodyPr/>
          <a:lstStyle/>
          <a:p>
            <a:endParaRPr/>
          </a:p>
        </p:txBody>
      </p:sp>
      <p:sp>
        <p:nvSpPr>
          <p:cNvPr id="6" name="矩形 5">
            <a:extLst>
              <a:ext uri="{FF2B5EF4-FFF2-40B4-BE49-F238E27FC236}">
                <a16:creationId xmlns:a16="http://schemas.microsoft.com/office/drawing/2014/main" id="{B8A6610D-0A80-4DFD-9E5E-E8029269D2BA}"/>
              </a:ext>
            </a:extLst>
          </p:cNvPr>
          <p:cNvSpPr>
            <a:spLocks noGrp="1"/>
          </p:cNvSpPr>
          <p:nvPr/>
        </p:nvSpPr>
        <p:spPr>
          <a:xfrm>
            <a:off x="838200" y="1704975"/>
            <a:ext cx="10477500" cy="323850"/>
          </a:xfrm>
          <a:prstGeom prst="rect">
            <a:avLst/>
          </a:prstGeom>
          <a:noFill/>
          <a:ln w="0">
            <a:noFill/>
            <a:prstDash val="solid"/>
          </a:ln>
        </p:spPr>
        <p:txBody>
          <a:bodyPr lIns="0" tIns="0" rIns="0" bIns="0" anchor="t">
            <a:noAutofit/>
          </a:bodyPr>
          <a:lstStyle/>
          <a:p>
            <a:pPr algn="ctr">
              <a:buNone/>
              <a:defRPr sz="1575" b="1">
                <a:solidFill>
                  <a:srgbClr val="2457D6"/>
                </a:solidFill>
                <a:latin typeface="Aptos"/>
                <a:ea typeface="Aptos"/>
                <a:cs typeface="Aptos"/>
              </a:defRPr>
            </a:pPr>
            <a:r>
              <a:rPr sz="1600" b="1" dirty="0">
                <a:solidFill>
                  <a:srgbClr val="2457D6"/>
                </a:solidFill>
                <a:latin typeface="Aptos"/>
                <a:ea typeface="Aptos"/>
                <a:cs typeface="Aptos"/>
              </a:rPr>
              <a:t>Objective: test whether the way position and content are combined in Attention affects the decomposability of later residual representations.</a:t>
            </a:r>
          </a:p>
        </p:txBody>
      </p:sp>
      <p:sp>
        <p:nvSpPr>
          <p:cNvPr id="7" name="矩形 6">
            <a:extLst>
              <a:ext uri="{FF2B5EF4-FFF2-40B4-BE49-F238E27FC236}">
                <a16:creationId xmlns:a16="http://schemas.microsoft.com/office/drawing/2014/main" id="{D8F390C8-0056-4BCB-BEB6-A5BB2CDEFA8F}"/>
              </a:ext>
            </a:extLst>
          </p:cNvPr>
          <p:cNvSpPr>
            <a:spLocks noGrp="1"/>
          </p:cNvSpPr>
          <p:nvPr/>
        </p:nvSpPr>
        <p:spPr>
          <a:xfrm>
            <a:off x="609600" y="2609850"/>
            <a:ext cx="5181600" cy="2133600"/>
          </a:xfrm>
          <a:prstGeom prst="rect">
            <a:avLst/>
          </a:prstGeom>
          <a:solidFill>
            <a:srgbClr val="FFFFFF"/>
          </a:solidFill>
          <a:ln w="9525">
            <a:solidFill>
              <a:srgbClr val="D7DEE8"/>
            </a:solidFill>
            <a:prstDash val="solid"/>
          </a:ln>
        </p:spPr>
        <p:txBody>
          <a:bodyPr/>
          <a:lstStyle/>
          <a:p>
            <a:endParaRPr/>
          </a:p>
        </p:txBody>
      </p:sp>
      <p:sp>
        <p:nvSpPr>
          <p:cNvPr id="8" name="矩形 7">
            <a:extLst>
              <a:ext uri="{FF2B5EF4-FFF2-40B4-BE49-F238E27FC236}">
                <a16:creationId xmlns:a16="http://schemas.microsoft.com/office/drawing/2014/main" id="{6B28E684-2D10-418F-A253-BE5FC45564DD}"/>
              </a:ext>
            </a:extLst>
          </p:cNvPr>
          <p:cNvSpPr>
            <a:spLocks noGrp="1"/>
          </p:cNvSpPr>
          <p:nvPr/>
        </p:nvSpPr>
        <p:spPr>
          <a:xfrm>
            <a:off x="838200" y="2800350"/>
            <a:ext cx="800100" cy="266700"/>
          </a:xfrm>
          <a:prstGeom prst="rect">
            <a:avLst/>
          </a:prstGeom>
          <a:solidFill>
            <a:srgbClr val="EAF1FF"/>
          </a:solidFill>
          <a:ln w="0">
            <a:solidFill>
              <a:srgbClr val="EAF1FF"/>
            </a:solidFill>
            <a:prstDash val="solid"/>
          </a:ln>
        </p:spPr>
        <p:txBody>
          <a:bodyPr/>
          <a:lstStyle/>
          <a:p>
            <a:endParaRPr/>
          </a:p>
        </p:txBody>
      </p:sp>
      <p:sp>
        <p:nvSpPr>
          <p:cNvPr id="9" name="矩形 8">
            <a:extLst>
              <a:ext uri="{FF2B5EF4-FFF2-40B4-BE49-F238E27FC236}">
                <a16:creationId xmlns:a16="http://schemas.microsoft.com/office/drawing/2014/main" id="{421DEB6F-FD18-49CB-93A4-322AE0D85E30}"/>
              </a:ext>
            </a:extLst>
          </p:cNvPr>
          <p:cNvSpPr>
            <a:spLocks noGrp="1"/>
          </p:cNvSpPr>
          <p:nvPr/>
        </p:nvSpPr>
        <p:spPr>
          <a:xfrm>
            <a:off x="838200" y="2828925"/>
            <a:ext cx="800100" cy="190500"/>
          </a:xfrm>
          <a:prstGeom prst="rect">
            <a:avLst/>
          </a:prstGeom>
          <a:noFill/>
          <a:ln w="0">
            <a:noFill/>
            <a:prstDash val="solid"/>
          </a:ln>
        </p:spPr>
        <p:txBody>
          <a:bodyPr lIns="0" tIns="0" rIns="0" bIns="0" anchor="ctr">
            <a:normAutofit/>
          </a:bodyPr>
          <a:lstStyle/>
          <a:p>
            <a:pPr algn="ctr">
              <a:buNone/>
              <a:defRPr sz="975" b="1">
                <a:solidFill>
                  <a:srgbClr val="2457D6"/>
                </a:solidFill>
                <a:latin typeface="Aptos"/>
                <a:ea typeface="Aptos"/>
                <a:cs typeface="Aptos"/>
              </a:defRPr>
            </a:pPr>
            <a:r>
              <a:rPr sz="1050" b="1">
                <a:solidFill>
                  <a:srgbClr val="2457D6"/>
                </a:solidFill>
                <a:latin typeface="Aptos"/>
                <a:ea typeface="Aptos"/>
                <a:cs typeface="Aptos"/>
              </a:rPr>
              <a:t>RoPE</a:t>
            </a:r>
          </a:p>
        </p:txBody>
      </p:sp>
      <p:pic>
        <p:nvPicPr>
          <p:cNvPr id="31" name="图形 27"/>
          <p:cNvPicPr>
            <a:picLocks noChangeAspect="1"/>
          </p:cNvPicPr>
          <p:nvPr/>
        </p:nvPicPr>
        <p:blipFill>
          <a:blip>
            <a:extLst>
              <a:ext uri="{96DAC541-7B7A-43D3-8B79-37D633B846F1}">
                <asvg:svgBlip xmlns:asvg="http://schemas.microsoft.com/office/drawing/2016/SVG/main" r:embed="rId3"/>
              </a:ext>
            </a:extLst>
          </a:blip>
          <a:stretch/>
        </p:blipFill>
        <p:spPr>
          <a:xfrm>
            <a:off x="1790700" y="2724150"/>
            <a:ext cx="3829050" cy="723900"/>
          </a:xfrm>
          <a:prstGeom prst="rect">
            <a:avLst/>
          </a:prstGeom>
        </p:spPr>
      </p:pic>
      <p:sp>
        <p:nvSpPr>
          <p:cNvPr id="11" name="矩形 10">
            <a:extLst>
              <a:ext uri="{FF2B5EF4-FFF2-40B4-BE49-F238E27FC236}">
                <a16:creationId xmlns:a16="http://schemas.microsoft.com/office/drawing/2014/main" id="{57208BEE-7EBA-4C55-A5F3-DA1FAE57239F}"/>
              </a:ext>
            </a:extLst>
          </p:cNvPr>
          <p:cNvSpPr>
            <a:spLocks noGrp="1"/>
          </p:cNvSpPr>
          <p:nvPr/>
        </p:nvSpPr>
        <p:spPr>
          <a:xfrm>
            <a:off x="876300" y="3638550"/>
            <a:ext cx="4648200" cy="666750"/>
          </a:xfrm>
          <a:prstGeom prst="rect">
            <a:avLst/>
          </a:prstGeom>
          <a:noFill/>
          <a:ln w="0">
            <a:noFill/>
            <a:prstDash val="solid"/>
          </a:ln>
        </p:spPr>
        <p:txBody>
          <a:bodyPr lIns="0" tIns="0" rIns="0" bIns="0" anchor="t">
            <a:noAutofit/>
          </a:bodyPr>
          <a:lstStyle/>
          <a:p>
            <a:pPr algn="ctr">
              <a:buNone/>
              <a:defRPr sz="1350" b="0">
                <a:solidFill>
                  <a:srgbClr val="5B6472"/>
                </a:solidFill>
                <a:latin typeface="Aptos"/>
                <a:ea typeface="Aptos"/>
                <a:cs typeface="Aptos"/>
              </a:defRPr>
            </a:pPr>
            <a:r>
              <a:rPr sz="1600" b="0" dirty="0">
                <a:solidFill>
                  <a:srgbClr val="5B6472"/>
                </a:solidFill>
                <a:latin typeface="Aptos"/>
                <a:ea typeface="Aptos"/>
                <a:cs typeface="Aptos"/>
              </a:rPr>
              <a:t>Content phase and relative position appear in the same cosine term, so ‘what’ and ‘where’ jointly determine the Attention score.</a:t>
            </a:r>
          </a:p>
        </p:txBody>
      </p:sp>
      <p:sp>
        <p:nvSpPr>
          <p:cNvPr id="12" name="矩形 11">
            <a:extLst>
              <a:ext uri="{FF2B5EF4-FFF2-40B4-BE49-F238E27FC236}">
                <a16:creationId xmlns:a16="http://schemas.microsoft.com/office/drawing/2014/main" id="{67435529-133A-43CA-9624-F32F3DE20CF8}"/>
              </a:ext>
            </a:extLst>
          </p:cNvPr>
          <p:cNvSpPr>
            <a:spLocks noGrp="1"/>
          </p:cNvSpPr>
          <p:nvPr/>
        </p:nvSpPr>
        <p:spPr>
          <a:xfrm>
            <a:off x="6057900" y="2609850"/>
            <a:ext cx="5486400" cy="2133600"/>
          </a:xfrm>
          <a:prstGeom prst="rect">
            <a:avLst/>
          </a:prstGeom>
          <a:solidFill>
            <a:srgbClr val="FFFFFF"/>
          </a:solidFill>
          <a:ln w="9525">
            <a:solidFill>
              <a:srgbClr val="D7DEE8"/>
            </a:solidFill>
            <a:prstDash val="solid"/>
          </a:ln>
        </p:spPr>
        <p:txBody>
          <a:bodyPr/>
          <a:lstStyle/>
          <a:p>
            <a:endParaRPr/>
          </a:p>
        </p:txBody>
      </p:sp>
      <p:sp>
        <p:nvSpPr>
          <p:cNvPr id="13" name="矩形 12">
            <a:extLst>
              <a:ext uri="{FF2B5EF4-FFF2-40B4-BE49-F238E27FC236}">
                <a16:creationId xmlns:a16="http://schemas.microsoft.com/office/drawing/2014/main" id="{6112D554-4DD9-4CAB-8856-392776D65513}"/>
              </a:ext>
            </a:extLst>
          </p:cNvPr>
          <p:cNvSpPr>
            <a:spLocks noGrp="1"/>
          </p:cNvSpPr>
          <p:nvPr/>
        </p:nvSpPr>
        <p:spPr>
          <a:xfrm>
            <a:off x="6286500" y="2800350"/>
            <a:ext cx="800100" cy="266700"/>
          </a:xfrm>
          <a:prstGeom prst="rect">
            <a:avLst/>
          </a:prstGeom>
          <a:solidFill>
            <a:srgbClr val="FDECEC"/>
          </a:solidFill>
          <a:ln w="0">
            <a:solidFill>
              <a:srgbClr val="FDECEC"/>
            </a:solidFill>
            <a:prstDash val="solid"/>
          </a:ln>
        </p:spPr>
        <p:txBody>
          <a:bodyPr/>
          <a:lstStyle/>
          <a:p>
            <a:endParaRPr/>
          </a:p>
        </p:txBody>
      </p:sp>
      <p:sp>
        <p:nvSpPr>
          <p:cNvPr id="14" name="矩形 13">
            <a:extLst>
              <a:ext uri="{FF2B5EF4-FFF2-40B4-BE49-F238E27FC236}">
                <a16:creationId xmlns:a16="http://schemas.microsoft.com/office/drawing/2014/main" id="{3FDDCE7F-9933-4A01-9333-70C239605B9C}"/>
              </a:ext>
            </a:extLst>
          </p:cNvPr>
          <p:cNvSpPr>
            <a:spLocks noGrp="1"/>
          </p:cNvSpPr>
          <p:nvPr/>
        </p:nvSpPr>
        <p:spPr>
          <a:xfrm>
            <a:off x="6286500" y="2828925"/>
            <a:ext cx="800100" cy="190500"/>
          </a:xfrm>
          <a:prstGeom prst="rect">
            <a:avLst/>
          </a:prstGeom>
          <a:noFill/>
          <a:ln w="0">
            <a:noFill/>
            <a:prstDash val="solid"/>
          </a:ln>
        </p:spPr>
        <p:txBody>
          <a:bodyPr lIns="0" tIns="0" rIns="0" bIns="0" anchor="ctr">
            <a:normAutofit/>
          </a:bodyPr>
          <a:lstStyle/>
          <a:p>
            <a:pPr algn="ctr">
              <a:buNone/>
              <a:defRPr sz="975" b="1">
                <a:solidFill>
                  <a:srgbClr val="B42318"/>
                </a:solidFill>
                <a:latin typeface="Aptos"/>
                <a:ea typeface="Aptos"/>
                <a:cs typeface="Aptos"/>
              </a:defRPr>
            </a:pPr>
            <a:r>
              <a:rPr sz="1050" b="1">
                <a:solidFill>
                  <a:srgbClr val="B42318"/>
                </a:solidFill>
                <a:latin typeface="Aptos"/>
                <a:ea typeface="Aptos"/>
                <a:cs typeface="Aptos"/>
              </a:rPr>
              <a:t>PoPE</a:t>
            </a:r>
          </a:p>
        </p:txBody>
      </p:sp>
      <p:pic>
        <p:nvPicPr>
          <p:cNvPr id="36" name="图形 32"/>
          <p:cNvPicPr>
            <a:picLocks noChangeAspect="1"/>
          </p:cNvPicPr>
          <p:nvPr/>
        </p:nvPicPr>
        <p:blipFill>
          <a:blip>
            <a:extLst>
              <a:ext uri="{96DAC541-7B7A-43D3-8B79-37D633B846F1}">
                <asvg:svgBlip xmlns:asvg="http://schemas.microsoft.com/office/drawing/2016/SVG/main" r:embed="rId4"/>
              </a:ext>
            </a:extLst>
          </a:blip>
          <a:stretch/>
        </p:blipFill>
        <p:spPr>
          <a:xfrm>
            <a:off x="7181850" y="2724150"/>
            <a:ext cx="4210050" cy="723900"/>
          </a:xfrm>
          <a:prstGeom prst="rect">
            <a:avLst/>
          </a:prstGeom>
        </p:spPr>
      </p:pic>
      <p:sp>
        <p:nvSpPr>
          <p:cNvPr id="16" name="矩形 15">
            <a:extLst>
              <a:ext uri="{FF2B5EF4-FFF2-40B4-BE49-F238E27FC236}">
                <a16:creationId xmlns:a16="http://schemas.microsoft.com/office/drawing/2014/main" id="{3B65944B-E4B5-440C-9773-90EA80E697CB}"/>
              </a:ext>
            </a:extLst>
          </p:cNvPr>
          <p:cNvSpPr>
            <a:spLocks noGrp="1"/>
          </p:cNvSpPr>
          <p:nvPr/>
        </p:nvSpPr>
        <p:spPr>
          <a:xfrm>
            <a:off x="6324600" y="3638550"/>
            <a:ext cx="4953000" cy="666750"/>
          </a:xfrm>
          <a:prstGeom prst="rect">
            <a:avLst/>
          </a:prstGeom>
          <a:noFill/>
          <a:ln w="0">
            <a:noFill/>
            <a:prstDash val="solid"/>
          </a:ln>
        </p:spPr>
        <p:txBody>
          <a:bodyPr lIns="0" tIns="0" rIns="0" bIns="0" anchor="t">
            <a:noAutofit/>
          </a:bodyPr>
          <a:lstStyle/>
          <a:p>
            <a:pPr algn="ctr">
              <a:buNone/>
              <a:defRPr sz="1350" b="0">
                <a:solidFill>
                  <a:srgbClr val="5B6472"/>
                </a:solidFill>
                <a:latin typeface="Aptos"/>
                <a:ea typeface="Aptos"/>
                <a:cs typeface="Aptos"/>
              </a:defRPr>
            </a:pPr>
            <a:r>
              <a:rPr sz="1600" b="0" dirty="0">
                <a:solidFill>
                  <a:srgbClr val="5B6472"/>
                </a:solidFill>
                <a:latin typeface="Aptos"/>
                <a:ea typeface="Aptos"/>
                <a:cs typeface="Aptos"/>
              </a:rPr>
              <a:t>Content is retained only in the magnitude, while direction is set by positional phase and per-head biases, explicitly separating ‘what’ from ‘where’.</a:t>
            </a:r>
          </a:p>
        </p:txBody>
      </p:sp>
      <p:sp>
        <p:nvSpPr>
          <p:cNvPr id="17" name="矩形 16">
            <a:extLst>
              <a:ext uri="{FF2B5EF4-FFF2-40B4-BE49-F238E27FC236}">
                <a16:creationId xmlns:a16="http://schemas.microsoft.com/office/drawing/2014/main" id="{CC71FFAA-2E65-4A66-A12F-B0AFDFB9E292}"/>
              </a:ext>
            </a:extLst>
          </p:cNvPr>
          <p:cNvSpPr>
            <a:spLocks noGrp="1"/>
          </p:cNvSpPr>
          <p:nvPr/>
        </p:nvSpPr>
        <p:spPr>
          <a:xfrm>
            <a:off x="609600" y="5162550"/>
            <a:ext cx="10934700" cy="819150"/>
          </a:xfrm>
          <a:prstGeom prst="rect">
            <a:avLst/>
          </a:prstGeom>
          <a:solidFill>
            <a:srgbClr val="111A2E"/>
          </a:solidFill>
          <a:ln w="0">
            <a:solidFill>
              <a:srgbClr val="111A2E"/>
            </a:solidFill>
            <a:prstDash val="solid"/>
          </a:ln>
        </p:spPr>
        <p:txBody>
          <a:bodyPr/>
          <a:lstStyle/>
          <a:p>
            <a:endParaRPr/>
          </a:p>
        </p:txBody>
      </p:sp>
      <p:sp>
        <p:nvSpPr>
          <p:cNvPr id="18" name="矩形 17">
            <a:extLst>
              <a:ext uri="{FF2B5EF4-FFF2-40B4-BE49-F238E27FC236}">
                <a16:creationId xmlns:a16="http://schemas.microsoft.com/office/drawing/2014/main" id="{8744B1F2-6FAB-4214-A0FB-338752CEE8A1}"/>
              </a:ext>
            </a:extLst>
          </p:cNvPr>
          <p:cNvSpPr>
            <a:spLocks noGrp="1"/>
          </p:cNvSpPr>
          <p:nvPr/>
        </p:nvSpPr>
        <p:spPr>
          <a:xfrm>
            <a:off x="838200" y="5381625"/>
            <a:ext cx="10477500" cy="400050"/>
          </a:xfrm>
          <a:prstGeom prst="rect">
            <a:avLst/>
          </a:prstGeom>
          <a:noFill/>
          <a:ln w="0">
            <a:noFill/>
            <a:prstDash val="solid"/>
          </a:ln>
        </p:spPr>
        <p:txBody>
          <a:bodyPr lIns="0" tIns="0" rIns="0" bIns="0" anchor="t">
            <a:noAutofit/>
          </a:bodyPr>
          <a:lstStyle/>
          <a:p>
            <a:pPr algn="ctr">
              <a:buNone/>
              <a:defRPr sz="1425" b="1">
                <a:solidFill>
                  <a:srgbClr val="FFFFFF"/>
                </a:solidFill>
                <a:latin typeface="Aptos"/>
                <a:ea typeface="Aptos"/>
                <a:cs typeface="Aptos"/>
              </a:defRPr>
            </a:pPr>
            <a:r>
              <a:rPr sz="1600" b="1" dirty="0">
                <a:solidFill>
                  <a:srgbClr val="FFFFFF"/>
                </a:solidFill>
                <a:latin typeface="Aptos"/>
                <a:ea typeface="Aptos"/>
                <a:cs typeface="Aptos"/>
              </a:rPr>
              <a:t>Core hypothesis: if </a:t>
            </a:r>
            <a:r>
              <a:rPr sz="1600" b="1" dirty="0" err="1">
                <a:solidFill>
                  <a:srgbClr val="FFFFFF"/>
                </a:solidFill>
                <a:latin typeface="Aptos"/>
                <a:ea typeface="Aptos"/>
                <a:cs typeface="Aptos"/>
              </a:rPr>
              <a:t>RoPE's</a:t>
            </a:r>
            <a:r>
              <a:rPr sz="1600" b="1" dirty="0">
                <a:solidFill>
                  <a:srgbClr val="FFFFFF"/>
                </a:solidFill>
                <a:latin typeface="Aptos"/>
                <a:ea typeface="Aptos"/>
                <a:cs typeface="Aptos"/>
              </a:rPr>
              <a:t> content–position coupling is a major source of feature mixing, </a:t>
            </a:r>
            <a:r>
              <a:rPr sz="1600" b="1" dirty="0" err="1">
                <a:solidFill>
                  <a:srgbClr val="FFFFFF"/>
                </a:solidFill>
                <a:latin typeface="Aptos"/>
                <a:ea typeface="Aptos"/>
                <a:cs typeface="Aptos"/>
              </a:rPr>
              <a:t>PoPE</a:t>
            </a:r>
            <a:r>
              <a:rPr sz="1600" b="1" dirty="0">
                <a:solidFill>
                  <a:srgbClr val="FFFFFF"/>
                </a:solidFill>
                <a:latin typeface="Aptos"/>
                <a:ea typeface="Aptos"/>
                <a:cs typeface="Aptos"/>
              </a:rPr>
              <a:t> should improve SAE reconstruction, cross-seed stability, and token-identity preservation.</a:t>
            </a:r>
          </a:p>
        </p:txBody>
      </p:sp>
    </p:spTree>
    <p:extLst>
      <p:ext uri="{BB962C8B-B14F-4D97-AF65-F5344CB8AC3E}">
        <p14:creationId xmlns:p14="http://schemas.microsoft.com/office/powerpoint/2010/main" val="1092646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3" name="矩形 32">
            <a:extLst>
              <a:ext uri="{FF2B5EF4-FFF2-40B4-BE49-F238E27FC236}">
                <a16:creationId xmlns:a16="http://schemas.microsoft.com/office/drawing/2014/main" id="{D670865B-A639-4728-A04F-D02BF1EA2F4A}"/>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1: design and evaluation</a:t>
            </a:r>
          </a:p>
        </p:txBody>
      </p:sp>
      <p:sp>
        <p:nvSpPr>
          <p:cNvPr id="2" name="矩形 1">
            <a:extLst>
              <a:ext uri="{FF2B5EF4-FFF2-40B4-BE49-F238E27FC236}">
                <a16:creationId xmlns:a16="http://schemas.microsoft.com/office/drawing/2014/main" id="{8F4D90BD-0920-4D4E-BF97-912116A6E57B}"/>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79259" lnSpcReduction="10000"/>
          </a:bodyPr>
          <a:lstStyle/>
          <a:p>
            <a:pPr algn="l">
              <a:buNone/>
              <a:defRPr sz="2700" b="1">
                <a:solidFill>
                  <a:srgbClr val="111827"/>
                </a:solidFill>
                <a:latin typeface="Aptos"/>
                <a:ea typeface="Aptos"/>
                <a:cs typeface="Aptos"/>
              </a:defRPr>
            </a:pPr>
            <a:r>
              <a:rPr sz="2700" b="1" dirty="0">
                <a:solidFill>
                  <a:srgbClr val="111827"/>
                </a:solidFill>
                <a:latin typeface="Aptos"/>
                <a:ea typeface="Aptos"/>
                <a:cs typeface="Aptos"/>
              </a:rPr>
              <a:t>Five positional mechanisms are compared at both model and SAE levels under the same training budget</a:t>
            </a:r>
          </a:p>
        </p:txBody>
      </p:sp>
      <p:sp>
        <p:nvSpPr>
          <p:cNvPr id="3" name="直接连接符 2">
            <a:extLst>
              <a:ext uri="{FF2B5EF4-FFF2-40B4-BE49-F238E27FC236}">
                <a16:creationId xmlns:a16="http://schemas.microsoft.com/office/drawing/2014/main" id="{17E9432B-692E-4EEC-AC66-A350036039FE}"/>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3BC19D03-DF5D-410F-A21F-7CF8921C03D7}"/>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12</a:t>
            </a:r>
          </a:p>
        </p:txBody>
      </p:sp>
      <p:sp>
        <p:nvSpPr>
          <p:cNvPr id="5" name="矩形 4">
            <a:extLst>
              <a:ext uri="{FF2B5EF4-FFF2-40B4-BE49-F238E27FC236}">
                <a16:creationId xmlns:a16="http://schemas.microsoft.com/office/drawing/2014/main" id="{19F1CC20-A96B-404B-A8C9-B4917B34468B}"/>
              </a:ext>
            </a:extLst>
          </p:cNvPr>
          <p:cNvSpPr>
            <a:spLocks noGrp="1"/>
          </p:cNvSpPr>
          <p:nvPr/>
        </p:nvSpPr>
        <p:spPr>
          <a:xfrm>
            <a:off x="609600" y="1562100"/>
            <a:ext cx="2495550" cy="247650"/>
          </a:xfrm>
          <a:prstGeom prst="rect">
            <a:avLst/>
          </a:prstGeom>
          <a:noFill/>
          <a:ln w="0">
            <a:noFill/>
            <a:prstDash val="solid"/>
          </a:ln>
        </p:spPr>
        <p:txBody>
          <a:bodyPr lIns="0" tIns="0" rIns="0" bIns="0" anchor="t">
            <a:normAutofit/>
          </a:bodyPr>
          <a:lstStyle/>
          <a:p>
            <a:pPr algn="ctr">
              <a:buNone/>
              <a:defRPr sz="1200" b="1">
                <a:solidFill>
                  <a:srgbClr val="2457D6"/>
                </a:solidFill>
                <a:latin typeface="Aptos"/>
                <a:ea typeface="Aptos"/>
                <a:cs typeface="Aptos"/>
              </a:defRPr>
            </a:pPr>
            <a:r>
              <a:rPr sz="1600" b="1" dirty="0">
                <a:solidFill>
                  <a:srgbClr val="2457D6"/>
                </a:solidFill>
                <a:latin typeface="Aptos"/>
                <a:ea typeface="Aptos"/>
                <a:cs typeface="Aptos"/>
              </a:rPr>
              <a:t>Model</a:t>
            </a:r>
          </a:p>
        </p:txBody>
      </p:sp>
      <p:sp>
        <p:nvSpPr>
          <p:cNvPr id="6" name="矩形 5">
            <a:extLst>
              <a:ext uri="{FF2B5EF4-FFF2-40B4-BE49-F238E27FC236}">
                <a16:creationId xmlns:a16="http://schemas.microsoft.com/office/drawing/2014/main" id="{BD8D5B2D-7CEB-4112-B912-944A733CF18E}"/>
              </a:ext>
            </a:extLst>
          </p:cNvPr>
          <p:cNvSpPr>
            <a:spLocks noGrp="1"/>
          </p:cNvSpPr>
          <p:nvPr/>
        </p:nvSpPr>
        <p:spPr>
          <a:xfrm>
            <a:off x="723900" y="1943100"/>
            <a:ext cx="2266950" cy="514350"/>
          </a:xfrm>
          <a:prstGeom prst="rect">
            <a:avLst/>
          </a:prstGeom>
          <a:noFill/>
          <a:ln w="0">
            <a:noFill/>
            <a:prstDash val="solid"/>
          </a:ln>
        </p:spPr>
        <p:txBody>
          <a:bodyPr lIns="0" tIns="0" rIns="0" bIns="0" anchor="t">
            <a:normAutofit/>
          </a:bodyPr>
          <a:lstStyle/>
          <a:p>
            <a:pPr algn="ctr">
              <a:buNone/>
              <a:defRPr sz="1275" b="1">
                <a:solidFill>
                  <a:srgbClr val="111827"/>
                </a:solidFill>
                <a:latin typeface="Aptos"/>
                <a:ea typeface="Aptos"/>
                <a:cs typeface="Aptos"/>
              </a:defRPr>
            </a:pPr>
            <a:r>
              <a:rPr sz="1400" b="1" dirty="0">
                <a:solidFill>
                  <a:srgbClr val="111827"/>
                </a:solidFill>
                <a:latin typeface="Aptos"/>
                <a:ea typeface="Aptos"/>
                <a:cs typeface="Aptos"/>
              </a:rPr>
              <a:t>12 layers, 12 heads, </a:t>
            </a:r>
            <a:r>
              <a:rPr sz="1400" b="1" dirty="0" err="1">
                <a:solidFill>
                  <a:srgbClr val="111827"/>
                </a:solidFill>
                <a:latin typeface="Aptos"/>
                <a:ea typeface="Aptos"/>
                <a:cs typeface="Aptos"/>
              </a:rPr>
              <a:t>d_model</a:t>
            </a:r>
            <a:r>
              <a:rPr sz="1400" b="1" dirty="0">
                <a:solidFill>
                  <a:srgbClr val="111827"/>
                </a:solidFill>
                <a:latin typeface="Aptos"/>
                <a:ea typeface="Aptos"/>
                <a:cs typeface="Aptos"/>
              </a:rPr>
              <a:t>=768, </a:t>
            </a:r>
            <a:r>
              <a:rPr sz="1400" b="1" dirty="0" err="1">
                <a:solidFill>
                  <a:srgbClr val="111827"/>
                </a:solidFill>
                <a:latin typeface="Aptos"/>
                <a:ea typeface="Aptos"/>
                <a:cs typeface="Aptos"/>
              </a:rPr>
              <a:t>d_ff</a:t>
            </a:r>
            <a:r>
              <a:rPr sz="1400" b="1" dirty="0">
                <a:solidFill>
                  <a:srgbClr val="111827"/>
                </a:solidFill>
                <a:latin typeface="Aptos"/>
                <a:ea typeface="Aptos"/>
                <a:cs typeface="Aptos"/>
              </a:rPr>
              <a:t>=3072</a:t>
            </a:r>
          </a:p>
        </p:txBody>
      </p:sp>
      <p:sp>
        <p:nvSpPr>
          <p:cNvPr id="7" name="矩形 6">
            <a:extLst>
              <a:ext uri="{FF2B5EF4-FFF2-40B4-BE49-F238E27FC236}">
                <a16:creationId xmlns:a16="http://schemas.microsoft.com/office/drawing/2014/main" id="{3F83EBF1-D63C-4824-97F4-0D1BC2629922}"/>
              </a:ext>
            </a:extLst>
          </p:cNvPr>
          <p:cNvSpPr>
            <a:spLocks noGrp="1"/>
          </p:cNvSpPr>
          <p:nvPr/>
        </p:nvSpPr>
        <p:spPr>
          <a:xfrm>
            <a:off x="3352800" y="1562100"/>
            <a:ext cx="2495550" cy="247650"/>
          </a:xfrm>
          <a:prstGeom prst="rect">
            <a:avLst/>
          </a:prstGeom>
          <a:noFill/>
          <a:ln w="0">
            <a:noFill/>
            <a:prstDash val="solid"/>
          </a:ln>
        </p:spPr>
        <p:txBody>
          <a:bodyPr lIns="0" tIns="0" rIns="0" bIns="0" anchor="t">
            <a:normAutofit/>
          </a:bodyPr>
          <a:lstStyle/>
          <a:p>
            <a:pPr algn="ctr">
              <a:buNone/>
              <a:defRPr sz="1200" b="1">
                <a:solidFill>
                  <a:srgbClr val="2457D6"/>
                </a:solidFill>
                <a:latin typeface="Aptos"/>
                <a:ea typeface="Aptos"/>
                <a:cs typeface="Aptos"/>
              </a:defRPr>
            </a:pPr>
            <a:r>
              <a:rPr sz="1600" b="1" dirty="0">
                <a:solidFill>
                  <a:srgbClr val="2457D6"/>
                </a:solidFill>
                <a:latin typeface="Aptos"/>
                <a:ea typeface="Aptos"/>
                <a:cs typeface="Aptos"/>
              </a:rPr>
              <a:t>Data</a:t>
            </a:r>
          </a:p>
        </p:txBody>
      </p:sp>
      <p:sp>
        <p:nvSpPr>
          <p:cNvPr id="8" name="矩形 7">
            <a:extLst>
              <a:ext uri="{FF2B5EF4-FFF2-40B4-BE49-F238E27FC236}">
                <a16:creationId xmlns:a16="http://schemas.microsoft.com/office/drawing/2014/main" id="{C6342F59-B5BC-4547-9801-11D0A6F89ACB}"/>
              </a:ext>
            </a:extLst>
          </p:cNvPr>
          <p:cNvSpPr>
            <a:spLocks noGrp="1"/>
          </p:cNvSpPr>
          <p:nvPr/>
        </p:nvSpPr>
        <p:spPr>
          <a:xfrm>
            <a:off x="3467100" y="1943100"/>
            <a:ext cx="2266950" cy="514350"/>
          </a:xfrm>
          <a:prstGeom prst="rect">
            <a:avLst/>
          </a:prstGeom>
          <a:noFill/>
          <a:ln w="0">
            <a:noFill/>
            <a:prstDash val="solid"/>
          </a:ln>
        </p:spPr>
        <p:txBody>
          <a:bodyPr lIns="0" tIns="0" rIns="0" bIns="0" anchor="t">
            <a:normAutofit/>
          </a:bodyPr>
          <a:lstStyle/>
          <a:p>
            <a:pPr algn="ctr">
              <a:buNone/>
              <a:defRPr sz="1275" b="1">
                <a:solidFill>
                  <a:srgbClr val="111827"/>
                </a:solidFill>
                <a:latin typeface="Aptos"/>
                <a:ea typeface="Aptos"/>
                <a:cs typeface="Aptos"/>
              </a:defRPr>
            </a:pPr>
            <a:r>
              <a:rPr sz="1400" b="1" dirty="0" err="1">
                <a:solidFill>
                  <a:srgbClr val="111827"/>
                </a:solidFill>
                <a:latin typeface="Aptos"/>
                <a:ea typeface="Aptos"/>
                <a:cs typeface="Aptos"/>
              </a:rPr>
              <a:t>OpenWebText</a:t>
            </a:r>
            <a:r>
              <a:rPr sz="1400" b="1" dirty="0">
                <a:solidFill>
                  <a:srgbClr val="111827"/>
                </a:solidFill>
                <a:latin typeface="Aptos"/>
                <a:ea typeface="Aptos"/>
                <a:cs typeface="Aptos"/>
              </a:rPr>
              <a:t>; sequence length 1024</a:t>
            </a:r>
          </a:p>
        </p:txBody>
      </p:sp>
      <p:sp>
        <p:nvSpPr>
          <p:cNvPr id="9" name="矩形 8">
            <a:extLst>
              <a:ext uri="{FF2B5EF4-FFF2-40B4-BE49-F238E27FC236}">
                <a16:creationId xmlns:a16="http://schemas.microsoft.com/office/drawing/2014/main" id="{EDC35174-A4F9-4191-AACE-2E3AC99E5237}"/>
              </a:ext>
            </a:extLst>
          </p:cNvPr>
          <p:cNvSpPr>
            <a:spLocks noGrp="1"/>
          </p:cNvSpPr>
          <p:nvPr/>
        </p:nvSpPr>
        <p:spPr>
          <a:xfrm>
            <a:off x="6096000" y="1562100"/>
            <a:ext cx="2495550" cy="247650"/>
          </a:xfrm>
          <a:prstGeom prst="rect">
            <a:avLst/>
          </a:prstGeom>
          <a:noFill/>
          <a:ln w="0">
            <a:noFill/>
            <a:prstDash val="solid"/>
          </a:ln>
        </p:spPr>
        <p:txBody>
          <a:bodyPr lIns="0" tIns="0" rIns="0" bIns="0" anchor="t">
            <a:normAutofit/>
          </a:bodyPr>
          <a:lstStyle/>
          <a:p>
            <a:pPr algn="ctr">
              <a:buNone/>
              <a:defRPr sz="1200" b="1">
                <a:solidFill>
                  <a:srgbClr val="2457D6"/>
                </a:solidFill>
                <a:latin typeface="Aptos"/>
                <a:ea typeface="Aptos"/>
                <a:cs typeface="Aptos"/>
              </a:defRPr>
            </a:pPr>
            <a:r>
              <a:rPr sz="1600" b="1" dirty="0">
                <a:solidFill>
                  <a:srgbClr val="2457D6"/>
                </a:solidFill>
                <a:latin typeface="Aptos"/>
                <a:ea typeface="Aptos"/>
                <a:cs typeface="Aptos"/>
              </a:rPr>
              <a:t>Training</a:t>
            </a:r>
          </a:p>
        </p:txBody>
      </p:sp>
      <p:sp>
        <p:nvSpPr>
          <p:cNvPr id="10" name="矩形 9">
            <a:extLst>
              <a:ext uri="{FF2B5EF4-FFF2-40B4-BE49-F238E27FC236}">
                <a16:creationId xmlns:a16="http://schemas.microsoft.com/office/drawing/2014/main" id="{F92FB655-7BBC-4AFE-87D3-57D4F07AD93B}"/>
              </a:ext>
            </a:extLst>
          </p:cNvPr>
          <p:cNvSpPr>
            <a:spLocks noGrp="1"/>
          </p:cNvSpPr>
          <p:nvPr/>
        </p:nvSpPr>
        <p:spPr>
          <a:xfrm>
            <a:off x="6210300" y="1943100"/>
            <a:ext cx="2266950" cy="514350"/>
          </a:xfrm>
          <a:prstGeom prst="rect">
            <a:avLst/>
          </a:prstGeom>
          <a:noFill/>
          <a:ln w="0">
            <a:noFill/>
            <a:prstDash val="solid"/>
          </a:ln>
        </p:spPr>
        <p:txBody>
          <a:bodyPr lIns="0" tIns="0" rIns="0" bIns="0" anchor="t">
            <a:normAutofit/>
          </a:bodyPr>
          <a:lstStyle/>
          <a:p>
            <a:pPr algn="ctr">
              <a:buNone/>
              <a:defRPr sz="1275" b="1">
                <a:solidFill>
                  <a:srgbClr val="111827"/>
                </a:solidFill>
                <a:latin typeface="Aptos"/>
                <a:ea typeface="Aptos"/>
                <a:cs typeface="Aptos"/>
              </a:defRPr>
            </a:pPr>
            <a:r>
              <a:rPr sz="1400" b="1" dirty="0">
                <a:solidFill>
                  <a:srgbClr val="111827"/>
                </a:solidFill>
                <a:latin typeface="Aptos"/>
                <a:ea typeface="Aptos"/>
                <a:cs typeface="Aptos"/>
              </a:rPr>
              <a:t>30,000 steps; model seeds 41/42/43</a:t>
            </a:r>
          </a:p>
        </p:txBody>
      </p:sp>
      <p:sp>
        <p:nvSpPr>
          <p:cNvPr id="11" name="矩形 10">
            <a:extLst>
              <a:ext uri="{FF2B5EF4-FFF2-40B4-BE49-F238E27FC236}">
                <a16:creationId xmlns:a16="http://schemas.microsoft.com/office/drawing/2014/main" id="{FCD14075-F585-43AF-8537-22A9FC85526F}"/>
              </a:ext>
            </a:extLst>
          </p:cNvPr>
          <p:cNvSpPr>
            <a:spLocks noGrp="1"/>
          </p:cNvSpPr>
          <p:nvPr/>
        </p:nvSpPr>
        <p:spPr>
          <a:xfrm>
            <a:off x="8839200" y="1562100"/>
            <a:ext cx="2495550" cy="247650"/>
          </a:xfrm>
          <a:prstGeom prst="rect">
            <a:avLst/>
          </a:prstGeom>
          <a:noFill/>
          <a:ln w="0">
            <a:noFill/>
            <a:prstDash val="solid"/>
          </a:ln>
        </p:spPr>
        <p:txBody>
          <a:bodyPr lIns="0" tIns="0" rIns="0" bIns="0" anchor="t">
            <a:normAutofit/>
          </a:bodyPr>
          <a:lstStyle/>
          <a:p>
            <a:pPr algn="ctr">
              <a:buNone/>
              <a:defRPr sz="1200" b="1">
                <a:solidFill>
                  <a:srgbClr val="2457D6"/>
                </a:solidFill>
                <a:latin typeface="Aptos"/>
                <a:ea typeface="Aptos"/>
                <a:cs typeface="Aptos"/>
              </a:defRPr>
            </a:pPr>
            <a:r>
              <a:rPr sz="1600" b="1" dirty="0">
                <a:solidFill>
                  <a:srgbClr val="2457D6"/>
                </a:solidFill>
                <a:latin typeface="Aptos"/>
                <a:ea typeface="Aptos"/>
                <a:cs typeface="Aptos"/>
              </a:rPr>
              <a:t>SAE</a:t>
            </a:r>
          </a:p>
        </p:txBody>
      </p:sp>
      <p:sp>
        <p:nvSpPr>
          <p:cNvPr id="12" name="矩形 11">
            <a:extLst>
              <a:ext uri="{FF2B5EF4-FFF2-40B4-BE49-F238E27FC236}">
                <a16:creationId xmlns:a16="http://schemas.microsoft.com/office/drawing/2014/main" id="{9456410D-4321-459D-8B31-056D0E4A301C}"/>
              </a:ext>
            </a:extLst>
          </p:cNvPr>
          <p:cNvSpPr>
            <a:spLocks noGrp="1"/>
          </p:cNvSpPr>
          <p:nvPr/>
        </p:nvSpPr>
        <p:spPr>
          <a:xfrm>
            <a:off x="8953500" y="1943100"/>
            <a:ext cx="2266950" cy="514350"/>
          </a:xfrm>
          <a:prstGeom prst="rect">
            <a:avLst/>
          </a:prstGeom>
          <a:noFill/>
          <a:ln w="0">
            <a:noFill/>
            <a:prstDash val="solid"/>
          </a:ln>
        </p:spPr>
        <p:txBody>
          <a:bodyPr lIns="0" tIns="0" rIns="0" bIns="0" anchor="t">
            <a:normAutofit/>
          </a:bodyPr>
          <a:lstStyle/>
          <a:p>
            <a:pPr algn="ctr">
              <a:buNone/>
              <a:defRPr sz="1275" b="1">
                <a:solidFill>
                  <a:srgbClr val="111827"/>
                </a:solidFill>
                <a:latin typeface="Aptos"/>
                <a:ea typeface="Aptos"/>
                <a:cs typeface="Aptos"/>
              </a:defRPr>
            </a:pPr>
            <a:r>
              <a:rPr sz="1400" b="1" dirty="0">
                <a:solidFill>
                  <a:srgbClr val="111827"/>
                </a:solidFill>
                <a:latin typeface="Aptos"/>
                <a:ea typeface="Aptos"/>
                <a:cs typeface="Aptos"/>
              </a:rPr>
              <a:t>Blocks 2/6/10; Top-K; multiple SAE seeds</a:t>
            </a:r>
          </a:p>
        </p:txBody>
      </p:sp>
      <p:sp>
        <p:nvSpPr>
          <p:cNvPr id="13" name="直接连接符 12">
            <a:extLst>
              <a:ext uri="{FF2B5EF4-FFF2-40B4-BE49-F238E27FC236}">
                <a16:creationId xmlns:a16="http://schemas.microsoft.com/office/drawing/2014/main" id="{EF315D57-5297-49E0-AA98-4A4D6259DA8D}"/>
              </a:ext>
            </a:extLst>
          </p:cNvPr>
          <p:cNvSpPr>
            <a:spLocks noGrp="1"/>
          </p:cNvSpPr>
          <p:nvPr/>
        </p:nvSpPr>
        <p:spPr>
          <a:xfrm>
            <a:off x="609600" y="2705100"/>
            <a:ext cx="10934700" cy="0"/>
          </a:xfrm>
          <a:prstGeom prst="line">
            <a:avLst/>
          </a:prstGeom>
          <a:noFill/>
          <a:ln w="9525">
            <a:solidFill>
              <a:srgbClr val="D7DEE8"/>
            </a:solidFill>
            <a:prstDash val="solid"/>
          </a:ln>
        </p:spPr>
        <p:txBody>
          <a:bodyPr/>
          <a:lstStyle/>
          <a:p>
            <a:endParaRPr/>
          </a:p>
        </p:txBody>
      </p:sp>
      <p:sp>
        <p:nvSpPr>
          <p:cNvPr id="14" name="矩形 13">
            <a:extLst>
              <a:ext uri="{FF2B5EF4-FFF2-40B4-BE49-F238E27FC236}">
                <a16:creationId xmlns:a16="http://schemas.microsoft.com/office/drawing/2014/main" id="{3EA57136-C6C6-4E4B-9830-5D890416FE38}"/>
              </a:ext>
            </a:extLst>
          </p:cNvPr>
          <p:cNvSpPr>
            <a:spLocks noGrp="1"/>
          </p:cNvSpPr>
          <p:nvPr/>
        </p:nvSpPr>
        <p:spPr>
          <a:xfrm>
            <a:off x="609600" y="3067050"/>
            <a:ext cx="3429000" cy="952500"/>
          </a:xfrm>
          <a:prstGeom prst="rect">
            <a:avLst/>
          </a:prstGeom>
          <a:solidFill>
            <a:srgbClr val="FFFFFF"/>
          </a:solidFill>
          <a:ln w="9525">
            <a:solidFill>
              <a:srgbClr val="D7DEE8"/>
            </a:solidFill>
            <a:prstDash val="solid"/>
          </a:ln>
        </p:spPr>
        <p:txBody>
          <a:bodyPr/>
          <a:lstStyle/>
          <a:p>
            <a:endParaRPr/>
          </a:p>
        </p:txBody>
      </p:sp>
      <p:sp>
        <p:nvSpPr>
          <p:cNvPr id="15" name="矩形 14">
            <a:extLst>
              <a:ext uri="{FF2B5EF4-FFF2-40B4-BE49-F238E27FC236}">
                <a16:creationId xmlns:a16="http://schemas.microsoft.com/office/drawing/2014/main" id="{6C213856-3EA6-4FAB-B021-610D592B9BCF}"/>
              </a:ext>
            </a:extLst>
          </p:cNvPr>
          <p:cNvSpPr>
            <a:spLocks noGrp="1"/>
          </p:cNvSpPr>
          <p:nvPr/>
        </p:nvSpPr>
        <p:spPr>
          <a:xfrm>
            <a:off x="800100" y="3228975"/>
            <a:ext cx="3048000" cy="257175"/>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Task performance</a:t>
            </a:r>
          </a:p>
        </p:txBody>
      </p:sp>
      <p:sp>
        <p:nvSpPr>
          <p:cNvPr id="16" name="矩形 15">
            <a:extLst>
              <a:ext uri="{FF2B5EF4-FFF2-40B4-BE49-F238E27FC236}">
                <a16:creationId xmlns:a16="http://schemas.microsoft.com/office/drawing/2014/main" id="{AF32AA70-C396-4CB1-8E13-FF3FF873ABAF}"/>
              </a:ext>
            </a:extLst>
          </p:cNvPr>
          <p:cNvSpPr>
            <a:spLocks noGrp="1"/>
          </p:cNvSpPr>
          <p:nvPr/>
        </p:nvSpPr>
        <p:spPr>
          <a:xfrm>
            <a:off x="800100" y="3486150"/>
            <a:ext cx="3048000" cy="24765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600" b="0" dirty="0">
                <a:solidFill>
                  <a:srgbClr val="5B6472"/>
                </a:solidFill>
                <a:latin typeface="Aptos"/>
                <a:ea typeface="Aptos"/>
                <a:cs typeface="Aptos"/>
              </a:rPr>
              <a:t>Validation loss and perplexity</a:t>
            </a:r>
          </a:p>
        </p:txBody>
      </p:sp>
      <p:sp>
        <p:nvSpPr>
          <p:cNvPr id="17" name="矩形 16">
            <a:extLst>
              <a:ext uri="{FF2B5EF4-FFF2-40B4-BE49-F238E27FC236}">
                <a16:creationId xmlns:a16="http://schemas.microsoft.com/office/drawing/2014/main" id="{346C0D3D-6257-4647-9877-A59CD982635D}"/>
              </a:ext>
            </a:extLst>
          </p:cNvPr>
          <p:cNvSpPr>
            <a:spLocks noGrp="1"/>
          </p:cNvSpPr>
          <p:nvPr/>
        </p:nvSpPr>
        <p:spPr>
          <a:xfrm>
            <a:off x="4267200" y="3067050"/>
            <a:ext cx="3429000" cy="952500"/>
          </a:xfrm>
          <a:prstGeom prst="rect">
            <a:avLst/>
          </a:prstGeom>
          <a:solidFill>
            <a:srgbClr val="FFFFFF"/>
          </a:solidFill>
          <a:ln w="9525">
            <a:solidFill>
              <a:srgbClr val="D7DEE8"/>
            </a:solidFill>
            <a:prstDash val="solid"/>
          </a:ln>
        </p:spPr>
        <p:txBody>
          <a:bodyPr/>
          <a:lstStyle/>
          <a:p>
            <a:endParaRPr/>
          </a:p>
        </p:txBody>
      </p:sp>
      <p:sp>
        <p:nvSpPr>
          <p:cNvPr id="18" name="矩形 17">
            <a:extLst>
              <a:ext uri="{FF2B5EF4-FFF2-40B4-BE49-F238E27FC236}">
                <a16:creationId xmlns:a16="http://schemas.microsoft.com/office/drawing/2014/main" id="{59EB3E4D-3E9B-41D7-A2A4-3450ACABCAA0}"/>
              </a:ext>
            </a:extLst>
          </p:cNvPr>
          <p:cNvSpPr>
            <a:spLocks noGrp="1"/>
          </p:cNvSpPr>
          <p:nvPr/>
        </p:nvSpPr>
        <p:spPr>
          <a:xfrm>
            <a:off x="4457700" y="3228975"/>
            <a:ext cx="3048000" cy="257175"/>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425" b="1">
                <a:solidFill>
                  <a:srgbClr val="111827"/>
                </a:solidFill>
                <a:latin typeface="Aptos"/>
                <a:ea typeface="Aptos"/>
                <a:cs typeface="Aptos"/>
              </a:rPr>
              <a:t>Structural effect</a:t>
            </a:r>
          </a:p>
        </p:txBody>
      </p:sp>
      <p:sp>
        <p:nvSpPr>
          <p:cNvPr id="19" name="矩形 18">
            <a:extLst>
              <a:ext uri="{FF2B5EF4-FFF2-40B4-BE49-F238E27FC236}">
                <a16:creationId xmlns:a16="http://schemas.microsoft.com/office/drawing/2014/main" id="{E7C7C930-3323-4629-972C-10F86C01B92C}"/>
              </a:ext>
            </a:extLst>
          </p:cNvPr>
          <p:cNvSpPr>
            <a:spLocks noGrp="1"/>
          </p:cNvSpPr>
          <p:nvPr/>
        </p:nvSpPr>
        <p:spPr>
          <a:xfrm>
            <a:off x="4457700" y="3455266"/>
            <a:ext cx="3048000" cy="24765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600" b="0" dirty="0">
                <a:solidFill>
                  <a:srgbClr val="5B6472"/>
                </a:solidFill>
                <a:latin typeface="Aptos"/>
                <a:ea typeface="Aptos"/>
                <a:cs typeface="Aptos"/>
              </a:rPr>
              <a:t>Content–position correlation and Attention-distance patterns</a:t>
            </a:r>
          </a:p>
        </p:txBody>
      </p:sp>
      <p:sp>
        <p:nvSpPr>
          <p:cNvPr id="20" name="矩形 19">
            <a:extLst>
              <a:ext uri="{FF2B5EF4-FFF2-40B4-BE49-F238E27FC236}">
                <a16:creationId xmlns:a16="http://schemas.microsoft.com/office/drawing/2014/main" id="{5F20BB1B-EA46-444A-8D63-7CF391FC357F}"/>
              </a:ext>
            </a:extLst>
          </p:cNvPr>
          <p:cNvSpPr>
            <a:spLocks noGrp="1"/>
          </p:cNvSpPr>
          <p:nvPr/>
        </p:nvSpPr>
        <p:spPr>
          <a:xfrm>
            <a:off x="7924800" y="3067050"/>
            <a:ext cx="3429000" cy="952500"/>
          </a:xfrm>
          <a:prstGeom prst="rect">
            <a:avLst/>
          </a:prstGeom>
          <a:solidFill>
            <a:srgbClr val="FFFFFF"/>
          </a:solidFill>
          <a:ln w="9525">
            <a:solidFill>
              <a:srgbClr val="D7DEE8"/>
            </a:solidFill>
            <a:prstDash val="solid"/>
          </a:ln>
        </p:spPr>
        <p:txBody>
          <a:bodyPr/>
          <a:lstStyle/>
          <a:p>
            <a:endParaRPr/>
          </a:p>
        </p:txBody>
      </p:sp>
      <p:sp>
        <p:nvSpPr>
          <p:cNvPr id="21" name="矩形 20">
            <a:extLst>
              <a:ext uri="{FF2B5EF4-FFF2-40B4-BE49-F238E27FC236}">
                <a16:creationId xmlns:a16="http://schemas.microsoft.com/office/drawing/2014/main" id="{1D4F69D4-37A0-49D7-BA55-BC52A1D49723}"/>
              </a:ext>
            </a:extLst>
          </p:cNvPr>
          <p:cNvSpPr>
            <a:spLocks noGrp="1"/>
          </p:cNvSpPr>
          <p:nvPr/>
        </p:nvSpPr>
        <p:spPr>
          <a:xfrm>
            <a:off x="8115300" y="3228975"/>
            <a:ext cx="3048000" cy="257175"/>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425" b="1">
                <a:solidFill>
                  <a:srgbClr val="111827"/>
                </a:solidFill>
                <a:latin typeface="Aptos"/>
                <a:ea typeface="Aptos"/>
                <a:cs typeface="Aptos"/>
              </a:rPr>
              <a:t>SAE reconstruction</a:t>
            </a:r>
          </a:p>
        </p:txBody>
      </p:sp>
      <p:sp>
        <p:nvSpPr>
          <p:cNvPr id="22" name="矩形 21">
            <a:extLst>
              <a:ext uri="{FF2B5EF4-FFF2-40B4-BE49-F238E27FC236}">
                <a16:creationId xmlns:a16="http://schemas.microsoft.com/office/drawing/2014/main" id="{C141D6D6-1B27-422E-B3B7-51A4F2D8083E}"/>
              </a:ext>
            </a:extLst>
          </p:cNvPr>
          <p:cNvSpPr>
            <a:spLocks noGrp="1"/>
          </p:cNvSpPr>
          <p:nvPr/>
        </p:nvSpPr>
        <p:spPr>
          <a:xfrm>
            <a:off x="8096250" y="3472296"/>
            <a:ext cx="3048000" cy="24765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600" b="0" dirty="0">
                <a:solidFill>
                  <a:srgbClr val="5B6472"/>
                </a:solidFill>
                <a:latin typeface="Aptos"/>
                <a:ea typeface="Aptos"/>
                <a:cs typeface="Aptos"/>
              </a:rPr>
              <a:t>Explained variance and loss recovery</a:t>
            </a:r>
          </a:p>
        </p:txBody>
      </p:sp>
      <p:sp>
        <p:nvSpPr>
          <p:cNvPr id="23" name="矩形 22">
            <a:extLst>
              <a:ext uri="{FF2B5EF4-FFF2-40B4-BE49-F238E27FC236}">
                <a16:creationId xmlns:a16="http://schemas.microsoft.com/office/drawing/2014/main" id="{9B0F8E4C-A941-4F79-AE27-D2A8934D9A42}"/>
              </a:ext>
            </a:extLst>
          </p:cNvPr>
          <p:cNvSpPr>
            <a:spLocks noGrp="1"/>
          </p:cNvSpPr>
          <p:nvPr/>
        </p:nvSpPr>
        <p:spPr>
          <a:xfrm>
            <a:off x="609600" y="4267200"/>
            <a:ext cx="3429000" cy="952500"/>
          </a:xfrm>
          <a:prstGeom prst="rect">
            <a:avLst/>
          </a:prstGeom>
          <a:solidFill>
            <a:srgbClr val="FFFFFF"/>
          </a:solidFill>
          <a:ln w="9525">
            <a:solidFill>
              <a:srgbClr val="D7DEE8"/>
            </a:solidFill>
            <a:prstDash val="solid"/>
          </a:ln>
        </p:spPr>
        <p:txBody>
          <a:bodyPr/>
          <a:lstStyle/>
          <a:p>
            <a:endParaRPr/>
          </a:p>
        </p:txBody>
      </p:sp>
      <p:sp>
        <p:nvSpPr>
          <p:cNvPr id="24" name="矩形 23">
            <a:extLst>
              <a:ext uri="{FF2B5EF4-FFF2-40B4-BE49-F238E27FC236}">
                <a16:creationId xmlns:a16="http://schemas.microsoft.com/office/drawing/2014/main" id="{EA539250-B08D-4A0C-A850-96C0C3E32863}"/>
              </a:ext>
            </a:extLst>
          </p:cNvPr>
          <p:cNvSpPr>
            <a:spLocks noGrp="1"/>
          </p:cNvSpPr>
          <p:nvPr/>
        </p:nvSpPr>
        <p:spPr>
          <a:xfrm>
            <a:off x="800100" y="4429125"/>
            <a:ext cx="3048000" cy="257175"/>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Semantic stability</a:t>
            </a:r>
          </a:p>
        </p:txBody>
      </p:sp>
      <p:sp>
        <p:nvSpPr>
          <p:cNvPr id="25" name="矩形 24">
            <a:extLst>
              <a:ext uri="{FF2B5EF4-FFF2-40B4-BE49-F238E27FC236}">
                <a16:creationId xmlns:a16="http://schemas.microsoft.com/office/drawing/2014/main" id="{53EAD823-841B-4AA3-9E21-106E4FF8328D}"/>
              </a:ext>
            </a:extLst>
          </p:cNvPr>
          <p:cNvSpPr>
            <a:spLocks noGrp="1"/>
          </p:cNvSpPr>
          <p:nvPr/>
        </p:nvSpPr>
        <p:spPr>
          <a:xfrm>
            <a:off x="800100" y="4724400"/>
            <a:ext cx="3238500" cy="24765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600" b="0" dirty="0">
                <a:solidFill>
                  <a:srgbClr val="5B6472"/>
                </a:solidFill>
                <a:latin typeface="Aptos"/>
                <a:ea typeface="Aptos"/>
                <a:cs typeface="Aptos"/>
              </a:rPr>
              <a:t>Cross-seed matching and activation correlation</a:t>
            </a:r>
          </a:p>
        </p:txBody>
      </p:sp>
      <p:sp>
        <p:nvSpPr>
          <p:cNvPr id="26" name="矩形 25">
            <a:extLst>
              <a:ext uri="{FF2B5EF4-FFF2-40B4-BE49-F238E27FC236}">
                <a16:creationId xmlns:a16="http://schemas.microsoft.com/office/drawing/2014/main" id="{95A0DF84-9909-4DDF-9076-86B0D3AD652A}"/>
              </a:ext>
            </a:extLst>
          </p:cNvPr>
          <p:cNvSpPr>
            <a:spLocks noGrp="1"/>
          </p:cNvSpPr>
          <p:nvPr/>
        </p:nvSpPr>
        <p:spPr>
          <a:xfrm>
            <a:off x="4267200" y="4267200"/>
            <a:ext cx="3429000" cy="952500"/>
          </a:xfrm>
          <a:prstGeom prst="rect">
            <a:avLst/>
          </a:prstGeom>
          <a:solidFill>
            <a:srgbClr val="FFFFFF"/>
          </a:solidFill>
          <a:ln w="9525">
            <a:solidFill>
              <a:srgbClr val="D7DEE8"/>
            </a:solidFill>
            <a:prstDash val="solid"/>
          </a:ln>
        </p:spPr>
        <p:txBody>
          <a:bodyPr/>
          <a:lstStyle/>
          <a:p>
            <a:endParaRPr/>
          </a:p>
        </p:txBody>
      </p:sp>
      <p:sp>
        <p:nvSpPr>
          <p:cNvPr id="27" name="矩形 26">
            <a:extLst>
              <a:ext uri="{FF2B5EF4-FFF2-40B4-BE49-F238E27FC236}">
                <a16:creationId xmlns:a16="http://schemas.microsoft.com/office/drawing/2014/main" id="{CF8026AA-3431-4E6C-9622-FADCE0B00DB7}"/>
              </a:ext>
            </a:extLst>
          </p:cNvPr>
          <p:cNvSpPr>
            <a:spLocks noGrp="1"/>
          </p:cNvSpPr>
          <p:nvPr/>
        </p:nvSpPr>
        <p:spPr>
          <a:xfrm>
            <a:off x="4457700" y="4429125"/>
            <a:ext cx="3048000" cy="257175"/>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425" b="1">
                <a:solidFill>
                  <a:srgbClr val="111827"/>
                </a:solidFill>
                <a:latin typeface="Aptos"/>
                <a:ea typeface="Aptos"/>
                <a:cs typeface="Aptos"/>
              </a:rPr>
              <a:t>Identity preservation</a:t>
            </a:r>
          </a:p>
        </p:txBody>
      </p:sp>
      <p:sp>
        <p:nvSpPr>
          <p:cNvPr id="28" name="矩形 27">
            <a:extLst>
              <a:ext uri="{FF2B5EF4-FFF2-40B4-BE49-F238E27FC236}">
                <a16:creationId xmlns:a16="http://schemas.microsoft.com/office/drawing/2014/main" id="{BB1B8C23-94DE-4744-AE66-CE14095D63B9}"/>
              </a:ext>
            </a:extLst>
          </p:cNvPr>
          <p:cNvSpPr>
            <a:spLocks noGrp="1"/>
          </p:cNvSpPr>
          <p:nvPr/>
        </p:nvSpPr>
        <p:spPr>
          <a:xfrm>
            <a:off x="4457700" y="4686300"/>
            <a:ext cx="3048000" cy="24765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600" b="0" dirty="0">
                <a:solidFill>
                  <a:srgbClr val="5B6472"/>
                </a:solidFill>
                <a:latin typeface="Aptos"/>
                <a:ea typeface="Aptos"/>
                <a:cs typeface="Aptos"/>
              </a:rPr>
              <a:t>Same-token versus different-token activation difference</a:t>
            </a:r>
          </a:p>
        </p:txBody>
      </p:sp>
      <p:sp>
        <p:nvSpPr>
          <p:cNvPr id="29" name="矩形 28">
            <a:extLst>
              <a:ext uri="{FF2B5EF4-FFF2-40B4-BE49-F238E27FC236}">
                <a16:creationId xmlns:a16="http://schemas.microsoft.com/office/drawing/2014/main" id="{FECAC063-ACE3-4A87-A0B9-1E635D0FBA99}"/>
              </a:ext>
            </a:extLst>
          </p:cNvPr>
          <p:cNvSpPr>
            <a:spLocks noGrp="1"/>
          </p:cNvSpPr>
          <p:nvPr/>
        </p:nvSpPr>
        <p:spPr>
          <a:xfrm>
            <a:off x="7924800" y="4267200"/>
            <a:ext cx="3429000" cy="952500"/>
          </a:xfrm>
          <a:prstGeom prst="rect">
            <a:avLst/>
          </a:prstGeom>
          <a:solidFill>
            <a:srgbClr val="FFFFFF"/>
          </a:solidFill>
          <a:ln w="9525">
            <a:solidFill>
              <a:srgbClr val="D7DEE8"/>
            </a:solidFill>
            <a:prstDash val="solid"/>
          </a:ln>
        </p:spPr>
        <p:txBody>
          <a:bodyPr/>
          <a:lstStyle/>
          <a:p>
            <a:endParaRPr/>
          </a:p>
        </p:txBody>
      </p:sp>
      <p:sp>
        <p:nvSpPr>
          <p:cNvPr id="30" name="矩形 29">
            <a:extLst>
              <a:ext uri="{FF2B5EF4-FFF2-40B4-BE49-F238E27FC236}">
                <a16:creationId xmlns:a16="http://schemas.microsoft.com/office/drawing/2014/main" id="{A20BC2CD-390D-4CBC-AEAC-2B986704629A}"/>
              </a:ext>
            </a:extLst>
          </p:cNvPr>
          <p:cNvSpPr>
            <a:spLocks noGrp="1"/>
          </p:cNvSpPr>
          <p:nvPr/>
        </p:nvSpPr>
        <p:spPr>
          <a:xfrm>
            <a:off x="8115300" y="4429125"/>
            <a:ext cx="3048000" cy="257175"/>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425" b="1">
                <a:solidFill>
                  <a:srgbClr val="111827"/>
                </a:solidFill>
                <a:latin typeface="Aptos"/>
                <a:ea typeface="Aptos"/>
                <a:cs typeface="Aptos"/>
              </a:rPr>
              <a:t>Fairness</a:t>
            </a:r>
          </a:p>
        </p:txBody>
      </p:sp>
      <p:sp>
        <p:nvSpPr>
          <p:cNvPr id="31" name="矩形 30">
            <a:extLst>
              <a:ext uri="{FF2B5EF4-FFF2-40B4-BE49-F238E27FC236}">
                <a16:creationId xmlns:a16="http://schemas.microsoft.com/office/drawing/2014/main" id="{3C43AAB4-CED5-45B9-8D8C-5CBD640BFB63}"/>
              </a:ext>
            </a:extLst>
          </p:cNvPr>
          <p:cNvSpPr>
            <a:spLocks noGrp="1"/>
          </p:cNvSpPr>
          <p:nvPr/>
        </p:nvSpPr>
        <p:spPr>
          <a:xfrm>
            <a:off x="8096250" y="4671291"/>
            <a:ext cx="3048000" cy="24765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600" b="0" dirty="0">
                <a:solidFill>
                  <a:srgbClr val="5B6472"/>
                </a:solidFill>
                <a:latin typeface="Aptos"/>
                <a:ea typeface="Aptos"/>
                <a:cs typeface="Aptos"/>
              </a:rPr>
              <a:t>Matched data, steps, and token budget</a:t>
            </a:r>
          </a:p>
        </p:txBody>
      </p:sp>
      <p:sp>
        <p:nvSpPr>
          <p:cNvPr id="32" name="矩形 31">
            <a:extLst>
              <a:ext uri="{FF2B5EF4-FFF2-40B4-BE49-F238E27FC236}">
                <a16:creationId xmlns:a16="http://schemas.microsoft.com/office/drawing/2014/main" id="{B1B6EFDE-BC20-4B82-84C8-98CB93CCC212}"/>
              </a:ext>
            </a:extLst>
          </p:cNvPr>
          <p:cNvSpPr>
            <a:spLocks noGrp="1"/>
          </p:cNvSpPr>
          <p:nvPr/>
        </p:nvSpPr>
        <p:spPr>
          <a:xfrm>
            <a:off x="609600" y="5791200"/>
            <a:ext cx="10934700" cy="285750"/>
          </a:xfrm>
          <a:prstGeom prst="rect">
            <a:avLst/>
          </a:prstGeom>
          <a:noFill/>
          <a:ln w="0">
            <a:noFill/>
            <a:prstDash val="solid"/>
          </a:ln>
        </p:spPr>
        <p:txBody>
          <a:bodyPr lIns="0" tIns="0" rIns="0" bIns="0" anchor="t">
            <a:noAutofit/>
          </a:bodyPr>
          <a:lstStyle/>
          <a:p>
            <a:pPr algn="ctr">
              <a:buNone/>
              <a:defRPr sz="1350" b="1">
                <a:solidFill>
                  <a:srgbClr val="2457D6"/>
                </a:solidFill>
                <a:latin typeface="Aptos"/>
                <a:ea typeface="Aptos"/>
                <a:cs typeface="Aptos"/>
              </a:defRPr>
            </a:pPr>
            <a:r>
              <a:rPr sz="1600" b="1" dirty="0">
                <a:solidFill>
                  <a:srgbClr val="2457D6"/>
                </a:solidFill>
                <a:latin typeface="Aptos"/>
                <a:ea typeface="Aptos"/>
                <a:cs typeface="Aptos"/>
              </a:rPr>
              <a:t>Success is not the lowest correlation; decoupling must also improve model performance, SAE reconstruction, and semantic stability.</a:t>
            </a:r>
          </a:p>
        </p:txBody>
      </p:sp>
    </p:spTree>
    <p:extLst>
      <p:ext uri="{BB962C8B-B14F-4D97-AF65-F5344CB8AC3E}">
        <p14:creationId xmlns:p14="http://schemas.microsoft.com/office/powerpoint/2010/main" val="79632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D7E2513B-5A6D-4A20-9616-7F3AAFE303EE}"/>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1: results and conclusion</a:t>
            </a:r>
          </a:p>
        </p:txBody>
      </p:sp>
      <p:sp>
        <p:nvSpPr>
          <p:cNvPr id="2" name="矩形 1">
            <a:extLst>
              <a:ext uri="{FF2B5EF4-FFF2-40B4-BE49-F238E27FC236}">
                <a16:creationId xmlns:a16="http://schemas.microsoft.com/office/drawing/2014/main" id="{F6B7EFD5-D00B-470C-9803-085B82D5B716}"/>
              </a:ext>
            </a:extLst>
          </p:cNvPr>
          <p:cNvSpPr>
            <a:spLocks noGrp="1"/>
          </p:cNvSpPr>
          <p:nvPr/>
        </p:nvSpPr>
        <p:spPr>
          <a:xfrm>
            <a:off x="533400" y="542925"/>
            <a:ext cx="10858500" cy="590550"/>
          </a:xfrm>
          <a:prstGeom prst="rect">
            <a:avLst/>
          </a:prstGeom>
          <a:noFill/>
          <a:ln w="0">
            <a:noFill/>
            <a:prstDash val="solid"/>
          </a:ln>
        </p:spPr>
        <p:txBody>
          <a:bodyPr lIns="0" tIns="0" rIns="0" bIns="0" anchor="t">
            <a:noAutofit/>
          </a:bodyPr>
          <a:lstStyle/>
          <a:p>
            <a:pPr>
              <a:buNone/>
              <a:defRPr sz="2700" b="1">
                <a:solidFill>
                  <a:srgbClr val="111827"/>
                </a:solidFill>
                <a:latin typeface="Aptos"/>
                <a:ea typeface="Aptos"/>
                <a:cs typeface="Aptos"/>
              </a:defRPr>
            </a:pPr>
            <a:r>
              <a:rPr sz="2400" b="1" dirty="0" err="1"/>
              <a:t>PoPE</a:t>
            </a:r>
            <a:r>
              <a:rPr sz="2400" b="1" dirty="0"/>
              <a:t> reduced content–position coupling, but did not improve model performance or SAE representations</a:t>
            </a:r>
            <a:endParaRPr sz="2400" b="1" dirty="0">
              <a:solidFill>
                <a:srgbClr val="111827"/>
              </a:solidFill>
              <a:latin typeface="Aptos"/>
              <a:ea typeface="Aptos"/>
              <a:cs typeface="Aptos"/>
            </a:endParaRPr>
          </a:p>
        </p:txBody>
      </p:sp>
      <p:sp>
        <p:nvSpPr>
          <p:cNvPr id="3" name="直接连接符 2">
            <a:extLst>
              <a:ext uri="{FF2B5EF4-FFF2-40B4-BE49-F238E27FC236}">
                <a16:creationId xmlns:a16="http://schemas.microsoft.com/office/drawing/2014/main" id="{71AFA8EA-DA5C-4941-9401-52A9A7EB57D5}"/>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B7C5907C-7CAB-48F8-8398-BDFBDAE72DF8}"/>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13</a:t>
            </a:r>
          </a:p>
        </p:txBody>
      </p:sp>
      <p:sp>
        <p:nvSpPr>
          <p:cNvPr id="5" name="矩形 4">
            <a:extLst>
              <a:ext uri="{FF2B5EF4-FFF2-40B4-BE49-F238E27FC236}">
                <a16:creationId xmlns:a16="http://schemas.microsoft.com/office/drawing/2014/main" id="{0D067450-3288-40E9-A3F6-FBF2DA081C26}"/>
              </a:ext>
            </a:extLst>
          </p:cNvPr>
          <p:cNvSpPr>
            <a:spLocks noGrp="1"/>
          </p:cNvSpPr>
          <p:nvPr/>
        </p:nvSpPr>
        <p:spPr>
          <a:xfrm>
            <a:off x="533400" y="1504950"/>
            <a:ext cx="6953250" cy="4095750"/>
          </a:xfrm>
          <a:prstGeom prst="rect">
            <a:avLst/>
          </a:prstGeom>
          <a:solidFill>
            <a:srgbClr val="F1F5F9"/>
          </a:solidFill>
          <a:ln w="0">
            <a:solidFill>
              <a:srgbClr val="F1F5F9"/>
            </a:solidFill>
            <a:prstDash val="solid"/>
          </a:ln>
        </p:spPr>
        <p:txBody>
          <a:bodyPr/>
          <a:lstStyle/>
          <a:p>
            <a:endParaRPr/>
          </a:p>
        </p:txBody>
      </p:sp>
      <p:pic>
        <p:nvPicPr>
          <p:cNvPr id="27" name="图片 24"/>
          <p:cNvPicPr>
            <a:picLocks noChangeAspect="1"/>
          </p:cNvPicPr>
          <p:nvPr/>
        </p:nvPicPr>
        <p:blipFill>
          <a:blip r:embed="rId3"/>
          <a:stretch/>
        </p:blipFill>
        <p:spPr>
          <a:xfrm>
            <a:off x="685800" y="1695926"/>
            <a:ext cx="6648450" cy="3656648"/>
          </a:xfrm>
          <a:prstGeom prst="rect">
            <a:avLst/>
          </a:prstGeom>
        </p:spPr>
      </p:pic>
      <p:sp>
        <p:nvSpPr>
          <p:cNvPr id="7" name="矩形 6">
            <a:extLst>
              <a:ext uri="{FF2B5EF4-FFF2-40B4-BE49-F238E27FC236}">
                <a16:creationId xmlns:a16="http://schemas.microsoft.com/office/drawing/2014/main" id="{3D391B6A-D6C4-46C5-A33D-55CBB05E9214}"/>
              </a:ext>
            </a:extLst>
          </p:cNvPr>
          <p:cNvSpPr>
            <a:spLocks noGrp="1"/>
          </p:cNvSpPr>
          <p:nvPr/>
        </p:nvSpPr>
        <p:spPr>
          <a:xfrm>
            <a:off x="7791450" y="1504950"/>
            <a:ext cx="3695700" cy="1047750"/>
          </a:xfrm>
          <a:prstGeom prst="rect">
            <a:avLst/>
          </a:prstGeom>
          <a:solidFill>
            <a:srgbClr val="FDECEC"/>
          </a:solidFill>
          <a:ln w="9525">
            <a:solidFill>
              <a:srgbClr val="D7DEE8"/>
            </a:solidFill>
            <a:prstDash val="solid"/>
          </a:ln>
        </p:spPr>
        <p:txBody>
          <a:bodyPr/>
          <a:lstStyle/>
          <a:p>
            <a:endParaRPr/>
          </a:p>
        </p:txBody>
      </p:sp>
      <p:sp>
        <p:nvSpPr>
          <p:cNvPr id="8" name="矩形 7">
            <a:extLst>
              <a:ext uri="{FF2B5EF4-FFF2-40B4-BE49-F238E27FC236}">
                <a16:creationId xmlns:a16="http://schemas.microsoft.com/office/drawing/2014/main" id="{03BBC33E-B4C0-4B4E-8500-E3A507F8E4F6}"/>
              </a:ext>
            </a:extLst>
          </p:cNvPr>
          <p:cNvSpPr>
            <a:spLocks noGrp="1"/>
          </p:cNvSpPr>
          <p:nvPr/>
        </p:nvSpPr>
        <p:spPr>
          <a:xfrm>
            <a:off x="7791450" y="1504950"/>
            <a:ext cx="76200" cy="1047750"/>
          </a:xfrm>
          <a:prstGeom prst="rect">
            <a:avLst/>
          </a:prstGeom>
          <a:solidFill>
            <a:srgbClr val="B42318"/>
          </a:solidFill>
          <a:ln w="0">
            <a:solidFill>
              <a:srgbClr val="B42318"/>
            </a:solidFill>
            <a:prstDash val="solid"/>
          </a:ln>
        </p:spPr>
        <p:txBody>
          <a:bodyPr/>
          <a:lstStyle/>
          <a:p>
            <a:endParaRPr/>
          </a:p>
        </p:txBody>
      </p:sp>
      <p:sp>
        <p:nvSpPr>
          <p:cNvPr id="9" name="矩形 8">
            <a:extLst>
              <a:ext uri="{FF2B5EF4-FFF2-40B4-BE49-F238E27FC236}">
                <a16:creationId xmlns:a16="http://schemas.microsoft.com/office/drawing/2014/main" id="{87FA9064-DF75-459E-AC6C-698C895B5561}"/>
              </a:ext>
            </a:extLst>
          </p:cNvPr>
          <p:cNvSpPr>
            <a:spLocks noGrp="1"/>
          </p:cNvSpPr>
          <p:nvPr/>
        </p:nvSpPr>
        <p:spPr>
          <a:xfrm>
            <a:off x="8020050" y="1657350"/>
            <a:ext cx="3333750" cy="361950"/>
          </a:xfrm>
          <a:prstGeom prst="rect">
            <a:avLst/>
          </a:prstGeom>
          <a:noFill/>
          <a:ln w="0">
            <a:noFill/>
            <a:prstDash val="solid"/>
          </a:ln>
        </p:spPr>
        <p:txBody>
          <a:bodyPr lIns="0" tIns="0" rIns="0" bIns="0" anchor="t">
            <a:normAutofit/>
          </a:bodyPr>
          <a:lstStyle/>
          <a:p>
            <a:pPr algn="l">
              <a:buNone/>
              <a:defRPr sz="2100" b="1">
                <a:solidFill>
                  <a:srgbClr val="111827"/>
                </a:solidFill>
                <a:latin typeface="Aptos"/>
                <a:ea typeface="Aptos"/>
                <a:cs typeface="Aptos"/>
              </a:defRPr>
            </a:pPr>
            <a:r>
              <a:rPr sz="2100" b="1">
                <a:solidFill>
                  <a:srgbClr val="111827"/>
                </a:solidFill>
                <a:latin typeface="Aptos"/>
                <a:ea typeface="Aptos"/>
                <a:cs typeface="Aptos"/>
              </a:rPr>
              <a:t>0.0773</a:t>
            </a:r>
          </a:p>
        </p:txBody>
      </p:sp>
      <p:sp>
        <p:nvSpPr>
          <p:cNvPr id="10" name="矩形 9">
            <a:extLst>
              <a:ext uri="{FF2B5EF4-FFF2-40B4-BE49-F238E27FC236}">
                <a16:creationId xmlns:a16="http://schemas.microsoft.com/office/drawing/2014/main" id="{2A60263C-CF11-4C6C-94F2-C2BAD817D0F9}"/>
              </a:ext>
            </a:extLst>
          </p:cNvPr>
          <p:cNvSpPr>
            <a:spLocks noGrp="1"/>
          </p:cNvSpPr>
          <p:nvPr/>
        </p:nvSpPr>
        <p:spPr>
          <a:xfrm>
            <a:off x="8020050" y="1976005"/>
            <a:ext cx="3486150" cy="47625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err="1">
                <a:solidFill>
                  <a:srgbClr val="5B6472"/>
                </a:solidFill>
                <a:latin typeface="Aptos"/>
                <a:ea typeface="Aptos"/>
                <a:cs typeface="Aptos"/>
              </a:rPr>
              <a:t>PoPE</a:t>
            </a:r>
            <a:r>
              <a:rPr sz="1400" b="0" dirty="0">
                <a:solidFill>
                  <a:srgbClr val="5B6472"/>
                </a:solidFill>
                <a:latin typeface="Aptos"/>
                <a:ea typeface="Aptos"/>
                <a:cs typeface="Aptos"/>
              </a:rPr>
              <a:t> content–position score correlation</a:t>
            </a:r>
          </a:p>
          <a:p>
            <a:pPr algn="l">
              <a:buNone/>
              <a:defRPr sz="1125" b="0">
                <a:solidFill>
                  <a:srgbClr val="5B6472"/>
                </a:solidFill>
                <a:latin typeface="Aptos"/>
                <a:ea typeface="Aptos"/>
                <a:cs typeface="Aptos"/>
              </a:defRPr>
            </a:pPr>
            <a:r>
              <a:rPr sz="1400" b="0" dirty="0" err="1">
                <a:solidFill>
                  <a:srgbClr val="5B6472"/>
                </a:solidFill>
                <a:latin typeface="Aptos"/>
                <a:ea typeface="Aptos"/>
                <a:cs typeface="Aptos"/>
              </a:rPr>
              <a:t>RoPE</a:t>
            </a:r>
            <a:r>
              <a:rPr sz="1400" b="0" dirty="0">
                <a:solidFill>
                  <a:srgbClr val="5B6472"/>
                </a:solidFill>
                <a:latin typeface="Aptos"/>
                <a:ea typeface="Aptos"/>
                <a:cs typeface="Aptos"/>
              </a:rPr>
              <a:t>: 0.1035</a:t>
            </a:r>
          </a:p>
        </p:txBody>
      </p:sp>
      <p:sp>
        <p:nvSpPr>
          <p:cNvPr id="11" name="矩形 10">
            <a:extLst>
              <a:ext uri="{FF2B5EF4-FFF2-40B4-BE49-F238E27FC236}">
                <a16:creationId xmlns:a16="http://schemas.microsoft.com/office/drawing/2014/main" id="{8A865086-9D7D-4FF7-9B74-77508BC753E5}"/>
              </a:ext>
            </a:extLst>
          </p:cNvPr>
          <p:cNvSpPr>
            <a:spLocks noGrp="1"/>
          </p:cNvSpPr>
          <p:nvPr/>
        </p:nvSpPr>
        <p:spPr>
          <a:xfrm>
            <a:off x="7791450" y="2724150"/>
            <a:ext cx="3695700" cy="1047750"/>
          </a:xfrm>
          <a:prstGeom prst="rect">
            <a:avLst/>
          </a:prstGeom>
          <a:solidFill>
            <a:srgbClr val="FFF4DB"/>
          </a:solidFill>
          <a:ln w="9525">
            <a:solidFill>
              <a:srgbClr val="D7DEE8"/>
            </a:solidFill>
            <a:prstDash val="solid"/>
          </a:ln>
        </p:spPr>
        <p:txBody>
          <a:bodyPr/>
          <a:lstStyle/>
          <a:p>
            <a:endParaRPr/>
          </a:p>
        </p:txBody>
      </p:sp>
      <p:sp>
        <p:nvSpPr>
          <p:cNvPr id="12" name="矩形 11">
            <a:extLst>
              <a:ext uri="{FF2B5EF4-FFF2-40B4-BE49-F238E27FC236}">
                <a16:creationId xmlns:a16="http://schemas.microsoft.com/office/drawing/2014/main" id="{8FE5158B-3D1C-47F0-8FFE-3C83BF528734}"/>
              </a:ext>
            </a:extLst>
          </p:cNvPr>
          <p:cNvSpPr>
            <a:spLocks noGrp="1"/>
          </p:cNvSpPr>
          <p:nvPr/>
        </p:nvSpPr>
        <p:spPr>
          <a:xfrm>
            <a:off x="7791450" y="2724150"/>
            <a:ext cx="76200" cy="1047750"/>
          </a:xfrm>
          <a:prstGeom prst="rect">
            <a:avLst/>
          </a:prstGeom>
          <a:solidFill>
            <a:srgbClr val="B45309"/>
          </a:solidFill>
          <a:ln w="0">
            <a:solidFill>
              <a:srgbClr val="B45309"/>
            </a:solidFill>
            <a:prstDash val="solid"/>
          </a:ln>
        </p:spPr>
        <p:txBody>
          <a:bodyPr/>
          <a:lstStyle/>
          <a:p>
            <a:endParaRPr/>
          </a:p>
        </p:txBody>
      </p:sp>
      <p:sp>
        <p:nvSpPr>
          <p:cNvPr id="13" name="矩形 12">
            <a:extLst>
              <a:ext uri="{FF2B5EF4-FFF2-40B4-BE49-F238E27FC236}">
                <a16:creationId xmlns:a16="http://schemas.microsoft.com/office/drawing/2014/main" id="{A422E2B5-CF41-411E-B27A-304DE84EF072}"/>
              </a:ext>
            </a:extLst>
          </p:cNvPr>
          <p:cNvSpPr>
            <a:spLocks noGrp="1"/>
          </p:cNvSpPr>
          <p:nvPr/>
        </p:nvSpPr>
        <p:spPr>
          <a:xfrm>
            <a:off x="8020050" y="2876550"/>
            <a:ext cx="3333750" cy="361950"/>
          </a:xfrm>
          <a:prstGeom prst="rect">
            <a:avLst/>
          </a:prstGeom>
          <a:noFill/>
          <a:ln w="0">
            <a:noFill/>
            <a:prstDash val="solid"/>
          </a:ln>
        </p:spPr>
        <p:txBody>
          <a:bodyPr lIns="0" tIns="0" rIns="0" bIns="0" anchor="t">
            <a:normAutofit/>
          </a:bodyPr>
          <a:lstStyle/>
          <a:p>
            <a:pPr algn="l">
              <a:buNone/>
              <a:defRPr sz="2100" b="1">
                <a:solidFill>
                  <a:srgbClr val="111827"/>
                </a:solidFill>
                <a:latin typeface="Aptos"/>
                <a:ea typeface="Aptos"/>
                <a:cs typeface="Aptos"/>
              </a:defRPr>
            </a:pPr>
            <a:r>
              <a:rPr sz="2100" b="1">
                <a:solidFill>
                  <a:srgbClr val="111827"/>
                </a:solidFill>
                <a:latin typeface="Aptos"/>
                <a:ea typeface="Aptos"/>
                <a:cs typeface="Aptos"/>
              </a:rPr>
              <a:t>75.90</a:t>
            </a:r>
          </a:p>
        </p:txBody>
      </p:sp>
      <p:sp>
        <p:nvSpPr>
          <p:cNvPr id="14" name="矩形 13">
            <a:extLst>
              <a:ext uri="{FF2B5EF4-FFF2-40B4-BE49-F238E27FC236}">
                <a16:creationId xmlns:a16="http://schemas.microsoft.com/office/drawing/2014/main" id="{4A4596E3-12D5-465F-984D-961EEE944A16}"/>
              </a:ext>
            </a:extLst>
          </p:cNvPr>
          <p:cNvSpPr>
            <a:spLocks noGrp="1"/>
          </p:cNvSpPr>
          <p:nvPr/>
        </p:nvSpPr>
        <p:spPr>
          <a:xfrm>
            <a:off x="8010525" y="3200400"/>
            <a:ext cx="3333750" cy="34290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err="1">
                <a:solidFill>
                  <a:srgbClr val="5B6472"/>
                </a:solidFill>
                <a:latin typeface="Aptos"/>
                <a:ea typeface="Aptos"/>
                <a:cs typeface="Aptos"/>
              </a:rPr>
              <a:t>PoPE</a:t>
            </a:r>
            <a:r>
              <a:rPr sz="1400" b="0" dirty="0">
                <a:solidFill>
                  <a:srgbClr val="5B6472"/>
                </a:solidFill>
                <a:latin typeface="Aptos"/>
                <a:ea typeface="Aptos"/>
                <a:cs typeface="Aptos"/>
              </a:rPr>
              <a:t> perplexity</a:t>
            </a:r>
          </a:p>
          <a:p>
            <a:pPr algn="l">
              <a:buNone/>
              <a:defRPr sz="1125" b="0">
                <a:solidFill>
                  <a:srgbClr val="5B6472"/>
                </a:solidFill>
                <a:latin typeface="Aptos"/>
                <a:ea typeface="Aptos"/>
                <a:cs typeface="Aptos"/>
              </a:defRPr>
            </a:pPr>
            <a:r>
              <a:rPr sz="1400" b="0" dirty="0" err="1">
                <a:solidFill>
                  <a:srgbClr val="5B6472"/>
                </a:solidFill>
                <a:latin typeface="Aptos"/>
                <a:ea typeface="Aptos"/>
                <a:cs typeface="Aptos"/>
              </a:rPr>
              <a:t>RoPE</a:t>
            </a:r>
            <a:r>
              <a:rPr sz="1400" b="0" dirty="0">
                <a:solidFill>
                  <a:srgbClr val="5B6472"/>
                </a:solidFill>
                <a:latin typeface="Aptos"/>
                <a:ea typeface="Aptos"/>
                <a:cs typeface="Aptos"/>
              </a:rPr>
              <a:t>: 66.20; lower is better</a:t>
            </a:r>
          </a:p>
        </p:txBody>
      </p:sp>
      <p:sp>
        <p:nvSpPr>
          <p:cNvPr id="15" name="矩形 14">
            <a:extLst>
              <a:ext uri="{FF2B5EF4-FFF2-40B4-BE49-F238E27FC236}">
                <a16:creationId xmlns:a16="http://schemas.microsoft.com/office/drawing/2014/main" id="{DFAB75BA-58B5-4204-8877-30AAFF0FD5CF}"/>
              </a:ext>
            </a:extLst>
          </p:cNvPr>
          <p:cNvSpPr>
            <a:spLocks noGrp="1"/>
          </p:cNvSpPr>
          <p:nvPr/>
        </p:nvSpPr>
        <p:spPr>
          <a:xfrm>
            <a:off x="7791450" y="3943350"/>
            <a:ext cx="3695700" cy="1047750"/>
          </a:xfrm>
          <a:prstGeom prst="rect">
            <a:avLst/>
          </a:prstGeom>
          <a:solidFill>
            <a:srgbClr val="EAF1FF"/>
          </a:solidFill>
          <a:ln w="9525">
            <a:solidFill>
              <a:srgbClr val="D7DEE8"/>
            </a:solidFill>
            <a:prstDash val="solid"/>
          </a:ln>
        </p:spPr>
        <p:txBody>
          <a:bodyPr/>
          <a:lstStyle/>
          <a:p>
            <a:endParaRPr/>
          </a:p>
        </p:txBody>
      </p:sp>
      <p:sp>
        <p:nvSpPr>
          <p:cNvPr id="16" name="矩形 15">
            <a:extLst>
              <a:ext uri="{FF2B5EF4-FFF2-40B4-BE49-F238E27FC236}">
                <a16:creationId xmlns:a16="http://schemas.microsoft.com/office/drawing/2014/main" id="{A4183724-580D-4B63-A879-E21A28792573}"/>
              </a:ext>
            </a:extLst>
          </p:cNvPr>
          <p:cNvSpPr>
            <a:spLocks noGrp="1"/>
          </p:cNvSpPr>
          <p:nvPr/>
        </p:nvSpPr>
        <p:spPr>
          <a:xfrm>
            <a:off x="7791450" y="3943350"/>
            <a:ext cx="76200" cy="1047750"/>
          </a:xfrm>
          <a:prstGeom prst="rect">
            <a:avLst/>
          </a:prstGeom>
          <a:solidFill>
            <a:srgbClr val="2457D6"/>
          </a:solidFill>
          <a:ln w="0">
            <a:solidFill>
              <a:srgbClr val="2457D6"/>
            </a:solidFill>
            <a:prstDash val="solid"/>
          </a:ln>
        </p:spPr>
        <p:txBody>
          <a:bodyPr/>
          <a:lstStyle/>
          <a:p>
            <a:endParaRPr/>
          </a:p>
        </p:txBody>
      </p:sp>
      <p:sp>
        <p:nvSpPr>
          <p:cNvPr id="17" name="矩形 16">
            <a:extLst>
              <a:ext uri="{FF2B5EF4-FFF2-40B4-BE49-F238E27FC236}">
                <a16:creationId xmlns:a16="http://schemas.microsoft.com/office/drawing/2014/main" id="{EB0C4DF6-0DDE-42B2-B154-F1F7879D7F64}"/>
              </a:ext>
            </a:extLst>
          </p:cNvPr>
          <p:cNvSpPr>
            <a:spLocks noGrp="1"/>
          </p:cNvSpPr>
          <p:nvPr/>
        </p:nvSpPr>
        <p:spPr>
          <a:xfrm>
            <a:off x="8020050" y="4095750"/>
            <a:ext cx="3333750" cy="361950"/>
          </a:xfrm>
          <a:prstGeom prst="rect">
            <a:avLst/>
          </a:prstGeom>
          <a:noFill/>
          <a:ln w="0">
            <a:noFill/>
            <a:prstDash val="solid"/>
          </a:ln>
        </p:spPr>
        <p:txBody>
          <a:bodyPr lIns="0" tIns="0" rIns="0" bIns="0" anchor="t">
            <a:normAutofit/>
          </a:bodyPr>
          <a:lstStyle/>
          <a:p>
            <a:pPr algn="l">
              <a:buNone/>
              <a:defRPr sz="2100" b="1">
                <a:solidFill>
                  <a:srgbClr val="111827"/>
                </a:solidFill>
                <a:latin typeface="Aptos"/>
                <a:ea typeface="Aptos"/>
                <a:cs typeface="Aptos"/>
              </a:defRPr>
            </a:pPr>
            <a:r>
              <a:rPr sz="2100" b="1">
                <a:solidFill>
                  <a:srgbClr val="111827"/>
                </a:solidFill>
                <a:latin typeface="Aptos"/>
                <a:ea typeface="Aptos"/>
                <a:cs typeface="Aptos"/>
              </a:rPr>
              <a:t>0.7086</a:t>
            </a:r>
          </a:p>
        </p:txBody>
      </p:sp>
      <p:sp>
        <p:nvSpPr>
          <p:cNvPr id="18" name="矩形 17">
            <a:extLst>
              <a:ext uri="{FF2B5EF4-FFF2-40B4-BE49-F238E27FC236}">
                <a16:creationId xmlns:a16="http://schemas.microsoft.com/office/drawing/2014/main" id="{E7274BFE-37F7-4473-9B06-DC157CDDC1D3}"/>
              </a:ext>
            </a:extLst>
          </p:cNvPr>
          <p:cNvSpPr>
            <a:spLocks noGrp="1"/>
          </p:cNvSpPr>
          <p:nvPr/>
        </p:nvSpPr>
        <p:spPr>
          <a:xfrm>
            <a:off x="8020050" y="4467225"/>
            <a:ext cx="3333750" cy="34290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err="1">
                <a:solidFill>
                  <a:srgbClr val="5B6472"/>
                </a:solidFill>
                <a:latin typeface="Aptos"/>
                <a:ea typeface="Aptos"/>
                <a:cs typeface="Aptos"/>
              </a:rPr>
              <a:t>PoPE</a:t>
            </a:r>
            <a:r>
              <a:rPr sz="1400" b="0" dirty="0">
                <a:solidFill>
                  <a:srgbClr val="5B6472"/>
                </a:solidFill>
                <a:latin typeface="Aptos"/>
                <a:ea typeface="Aptos"/>
                <a:cs typeface="Aptos"/>
              </a:rPr>
              <a:t> SAE explained variance</a:t>
            </a:r>
          </a:p>
          <a:p>
            <a:pPr algn="l">
              <a:buNone/>
              <a:defRPr sz="1125" b="0">
                <a:solidFill>
                  <a:srgbClr val="5B6472"/>
                </a:solidFill>
                <a:latin typeface="Aptos"/>
                <a:ea typeface="Aptos"/>
                <a:cs typeface="Aptos"/>
              </a:defRPr>
            </a:pPr>
            <a:r>
              <a:rPr sz="1400" b="0" dirty="0" err="1">
                <a:solidFill>
                  <a:srgbClr val="5B6472"/>
                </a:solidFill>
                <a:latin typeface="Aptos"/>
                <a:ea typeface="Aptos"/>
                <a:cs typeface="Aptos"/>
              </a:rPr>
              <a:t>RoPE</a:t>
            </a:r>
            <a:r>
              <a:rPr sz="1400" b="0" dirty="0">
                <a:solidFill>
                  <a:srgbClr val="5B6472"/>
                </a:solidFill>
                <a:latin typeface="Aptos"/>
                <a:ea typeface="Aptos"/>
                <a:cs typeface="Aptos"/>
              </a:rPr>
              <a:t>: 0.7409; higher is better</a:t>
            </a:r>
          </a:p>
        </p:txBody>
      </p:sp>
      <p:sp>
        <p:nvSpPr>
          <p:cNvPr id="19" name="矩形 18">
            <a:extLst>
              <a:ext uri="{FF2B5EF4-FFF2-40B4-BE49-F238E27FC236}">
                <a16:creationId xmlns:a16="http://schemas.microsoft.com/office/drawing/2014/main" id="{8614EEBE-B5A9-4241-93B9-741355FD0A19}"/>
              </a:ext>
            </a:extLst>
          </p:cNvPr>
          <p:cNvSpPr>
            <a:spLocks noGrp="1"/>
          </p:cNvSpPr>
          <p:nvPr/>
        </p:nvSpPr>
        <p:spPr>
          <a:xfrm>
            <a:off x="609600" y="5905500"/>
            <a:ext cx="10839450" cy="304800"/>
          </a:xfrm>
          <a:prstGeom prst="rect">
            <a:avLst/>
          </a:prstGeom>
          <a:noFill/>
          <a:ln w="0">
            <a:noFill/>
            <a:prstDash val="solid"/>
          </a:ln>
        </p:spPr>
        <p:txBody>
          <a:bodyPr lIns="0" tIns="0" rIns="0" bIns="0" anchor="t">
            <a:noAutofit/>
          </a:bodyPr>
          <a:lstStyle/>
          <a:p>
            <a:pPr algn="ctr">
              <a:buNone/>
              <a:defRPr sz="1350" b="1">
                <a:solidFill>
                  <a:srgbClr val="111827"/>
                </a:solidFill>
                <a:latin typeface="Aptos"/>
                <a:ea typeface="Aptos"/>
                <a:cs typeface="Aptos"/>
              </a:defRPr>
            </a:pPr>
            <a:r>
              <a:rPr sz="1600" b="1" dirty="0">
                <a:solidFill>
                  <a:srgbClr val="111827"/>
                </a:solidFill>
                <a:latin typeface="Aptos"/>
                <a:ea typeface="Aptos"/>
                <a:cs typeface="Aptos"/>
              </a:rPr>
              <a:t>Conclusion: information separated during encoding may mix again later; positional encoding is an indirect interpretability lever.</a:t>
            </a:r>
          </a:p>
        </p:txBody>
      </p:sp>
    </p:spTree>
    <p:extLst>
      <p:ext uri="{BB962C8B-B14F-4D97-AF65-F5344CB8AC3E}">
        <p14:creationId xmlns:p14="http://schemas.microsoft.com/office/powerpoint/2010/main" val="1481333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41738C07-546F-4B47-BA99-2EE7AE7FA32F}"/>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1: further finding</a:t>
            </a:r>
          </a:p>
        </p:txBody>
      </p:sp>
      <p:sp>
        <p:nvSpPr>
          <p:cNvPr id="2" name="矩形 1">
            <a:extLst>
              <a:ext uri="{FF2B5EF4-FFF2-40B4-BE49-F238E27FC236}">
                <a16:creationId xmlns:a16="http://schemas.microsoft.com/office/drawing/2014/main" id="{A981DC9E-831B-4ED2-920A-6872E067292B}"/>
              </a:ext>
            </a:extLst>
          </p:cNvPr>
          <p:cNvSpPr>
            <a:spLocks noGrp="1"/>
          </p:cNvSpPr>
          <p:nvPr/>
        </p:nvSpPr>
        <p:spPr>
          <a:xfrm>
            <a:off x="533400" y="542925"/>
            <a:ext cx="10858500" cy="590550"/>
          </a:xfrm>
          <a:prstGeom prst="rect">
            <a:avLst/>
          </a:prstGeom>
          <a:noFill/>
          <a:ln w="0">
            <a:noFill/>
            <a:prstDash val="solid"/>
          </a:ln>
        </p:spPr>
        <p:txBody>
          <a:bodyPr lIns="0" tIns="0" rIns="0" bIns="0" anchor="t">
            <a:noAutofit/>
          </a:bodyPr>
          <a:lstStyle/>
          <a:p>
            <a:pPr algn="l">
              <a:buNone/>
              <a:defRPr sz="2700" b="1">
                <a:solidFill>
                  <a:srgbClr val="111827"/>
                </a:solidFill>
                <a:latin typeface="Aptos"/>
                <a:ea typeface="Aptos"/>
                <a:cs typeface="Aptos"/>
              </a:defRPr>
            </a:pPr>
            <a:r>
              <a:rPr sz="2400" b="1" dirty="0" err="1">
                <a:solidFill>
                  <a:srgbClr val="111827"/>
                </a:solidFill>
                <a:latin typeface="Aptos"/>
                <a:ea typeface="Aptos"/>
                <a:cs typeface="Aptos"/>
              </a:rPr>
              <a:t>ALiBi</a:t>
            </a:r>
            <a:r>
              <a:rPr sz="2400" b="1" dirty="0">
                <a:solidFill>
                  <a:srgbClr val="111827"/>
                </a:solidFill>
                <a:latin typeface="Aptos"/>
                <a:ea typeface="Aptos"/>
                <a:cs typeface="Aptos"/>
              </a:rPr>
              <a:t> fixes head-distance ratios, whereas CABLE allows distance roles to </a:t>
            </a:r>
            <a:r>
              <a:rPr sz="2400" b="1" dirty="0" err="1">
                <a:solidFill>
                  <a:srgbClr val="111827"/>
                </a:solidFill>
                <a:latin typeface="Aptos"/>
                <a:ea typeface="Aptos"/>
                <a:cs typeface="Aptos"/>
              </a:rPr>
              <a:t>reorganise</a:t>
            </a:r>
            <a:r>
              <a:rPr sz="2400" b="1" dirty="0">
                <a:solidFill>
                  <a:srgbClr val="111827"/>
                </a:solidFill>
                <a:latin typeface="Aptos"/>
                <a:ea typeface="Aptos"/>
                <a:cs typeface="Aptos"/>
              </a:rPr>
              <a:t> across layers</a:t>
            </a:r>
          </a:p>
        </p:txBody>
      </p:sp>
      <p:sp>
        <p:nvSpPr>
          <p:cNvPr id="3" name="直接连接符 2">
            <a:extLst>
              <a:ext uri="{FF2B5EF4-FFF2-40B4-BE49-F238E27FC236}">
                <a16:creationId xmlns:a16="http://schemas.microsoft.com/office/drawing/2014/main" id="{52154067-EED5-4E78-97E1-21D7D4488B40}"/>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8ED44FBE-65EE-4FD3-9273-6AF566213707}"/>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14</a:t>
            </a:r>
          </a:p>
        </p:txBody>
      </p:sp>
      <p:sp>
        <p:nvSpPr>
          <p:cNvPr id="5" name="矩形 4">
            <a:extLst>
              <a:ext uri="{FF2B5EF4-FFF2-40B4-BE49-F238E27FC236}">
                <a16:creationId xmlns:a16="http://schemas.microsoft.com/office/drawing/2014/main" id="{B05C44ED-A296-4548-A5F9-A82EF860B16B}"/>
              </a:ext>
            </a:extLst>
          </p:cNvPr>
          <p:cNvSpPr>
            <a:spLocks noGrp="1"/>
          </p:cNvSpPr>
          <p:nvPr/>
        </p:nvSpPr>
        <p:spPr>
          <a:xfrm>
            <a:off x="247650" y="2152650"/>
            <a:ext cx="857250" cy="209550"/>
          </a:xfrm>
          <a:prstGeom prst="rect">
            <a:avLst/>
          </a:prstGeom>
          <a:noFill/>
          <a:ln w="0">
            <a:noFill/>
            <a:prstDash val="solid"/>
          </a:ln>
        </p:spPr>
        <p:txBody>
          <a:bodyPr lIns="0" tIns="0" rIns="0" bIns="0" anchor="t">
            <a:noAutofit/>
          </a:bodyPr>
          <a:lstStyle/>
          <a:p>
            <a:pPr algn="ctr">
              <a:buNone/>
              <a:defRPr sz="1125" b="1">
                <a:solidFill>
                  <a:srgbClr val="0F766E"/>
                </a:solidFill>
                <a:latin typeface="Aptos"/>
                <a:ea typeface="Aptos"/>
                <a:cs typeface="Aptos"/>
              </a:defRPr>
            </a:pPr>
            <a:r>
              <a:rPr sz="1600" b="1" dirty="0">
                <a:solidFill>
                  <a:srgbClr val="0F766E"/>
                </a:solidFill>
                <a:latin typeface="Aptos"/>
                <a:ea typeface="Aptos"/>
                <a:cs typeface="Aptos"/>
              </a:rPr>
              <a:t>CABLE</a:t>
            </a:r>
          </a:p>
        </p:txBody>
      </p:sp>
      <p:sp>
        <p:nvSpPr>
          <p:cNvPr id="6" name="矩形 5">
            <a:extLst>
              <a:ext uri="{FF2B5EF4-FFF2-40B4-BE49-F238E27FC236}">
                <a16:creationId xmlns:a16="http://schemas.microsoft.com/office/drawing/2014/main" id="{6B9C5386-8F53-4F29-80A0-9888851F6726}"/>
              </a:ext>
            </a:extLst>
          </p:cNvPr>
          <p:cNvSpPr>
            <a:spLocks noGrp="1"/>
          </p:cNvSpPr>
          <p:nvPr/>
        </p:nvSpPr>
        <p:spPr>
          <a:xfrm>
            <a:off x="240166" y="4205287"/>
            <a:ext cx="857250" cy="209550"/>
          </a:xfrm>
          <a:prstGeom prst="rect">
            <a:avLst/>
          </a:prstGeom>
          <a:noFill/>
          <a:ln w="0">
            <a:noFill/>
            <a:prstDash val="solid"/>
          </a:ln>
        </p:spPr>
        <p:txBody>
          <a:bodyPr lIns="0" tIns="0" rIns="0" bIns="0" anchor="t">
            <a:noAutofit/>
          </a:bodyPr>
          <a:lstStyle/>
          <a:p>
            <a:pPr algn="ctr">
              <a:buNone/>
              <a:defRPr sz="1125" b="1">
                <a:solidFill>
                  <a:srgbClr val="B45309"/>
                </a:solidFill>
                <a:latin typeface="Aptos"/>
                <a:ea typeface="Aptos"/>
                <a:cs typeface="Aptos"/>
              </a:defRPr>
            </a:pPr>
            <a:r>
              <a:rPr sz="1600" b="1" dirty="0" err="1">
                <a:solidFill>
                  <a:srgbClr val="B45309"/>
                </a:solidFill>
                <a:latin typeface="Aptos"/>
                <a:ea typeface="Aptos"/>
                <a:cs typeface="Aptos"/>
              </a:rPr>
              <a:t>ALiBi</a:t>
            </a:r>
            <a:endParaRPr sz="1600" b="1" dirty="0">
              <a:solidFill>
                <a:srgbClr val="B45309"/>
              </a:solidFill>
              <a:latin typeface="Aptos"/>
              <a:ea typeface="Aptos"/>
              <a:cs typeface="Aptos"/>
            </a:endParaRPr>
          </a:p>
        </p:txBody>
      </p:sp>
      <p:sp>
        <p:nvSpPr>
          <p:cNvPr id="7" name="矩形 6">
            <a:extLst>
              <a:ext uri="{FF2B5EF4-FFF2-40B4-BE49-F238E27FC236}">
                <a16:creationId xmlns:a16="http://schemas.microsoft.com/office/drawing/2014/main" id="{AB122B31-B5DF-454A-848D-92AD42621696}"/>
              </a:ext>
            </a:extLst>
          </p:cNvPr>
          <p:cNvSpPr>
            <a:spLocks noGrp="1"/>
          </p:cNvSpPr>
          <p:nvPr/>
        </p:nvSpPr>
        <p:spPr>
          <a:xfrm>
            <a:off x="1181100" y="1371600"/>
            <a:ext cx="3143250" cy="228600"/>
          </a:xfrm>
          <a:prstGeom prst="rect">
            <a:avLst/>
          </a:prstGeom>
          <a:noFill/>
          <a:ln w="0">
            <a:noFill/>
            <a:prstDash val="solid"/>
          </a:ln>
        </p:spPr>
        <p:txBody>
          <a:bodyPr lIns="0" tIns="0" rIns="0" bIns="0" anchor="t">
            <a:normAutofit/>
          </a:bodyPr>
          <a:lstStyle/>
          <a:p>
            <a:pPr algn="ctr">
              <a:buNone/>
              <a:defRPr sz="1050" b="1">
                <a:solidFill>
                  <a:srgbClr val="8B95A5"/>
                </a:solidFill>
                <a:latin typeface="Aptos"/>
                <a:ea typeface="Aptos"/>
                <a:cs typeface="Aptos"/>
              </a:defRPr>
            </a:pPr>
            <a:r>
              <a:rPr sz="1050" b="1">
                <a:solidFill>
                  <a:srgbClr val="8B95A5"/>
                </a:solidFill>
                <a:latin typeface="Aptos"/>
                <a:ea typeface="Aptos"/>
                <a:cs typeface="Aptos"/>
              </a:rPr>
              <a:t>Layer 1</a:t>
            </a:r>
          </a:p>
        </p:txBody>
      </p:sp>
      <p:sp>
        <p:nvSpPr>
          <p:cNvPr id="8" name="矩形 7">
            <a:extLst>
              <a:ext uri="{FF2B5EF4-FFF2-40B4-BE49-F238E27FC236}">
                <a16:creationId xmlns:a16="http://schemas.microsoft.com/office/drawing/2014/main" id="{091A8751-E09C-44F1-BE80-8693D3D66A42}"/>
              </a:ext>
            </a:extLst>
          </p:cNvPr>
          <p:cNvSpPr>
            <a:spLocks noGrp="1"/>
          </p:cNvSpPr>
          <p:nvPr/>
        </p:nvSpPr>
        <p:spPr>
          <a:xfrm>
            <a:off x="1181100" y="1695450"/>
            <a:ext cx="3143250" cy="1790700"/>
          </a:xfrm>
          <a:prstGeom prst="rect">
            <a:avLst/>
          </a:prstGeom>
          <a:solidFill>
            <a:srgbClr val="FFFFFF"/>
          </a:solidFill>
          <a:ln w="9525">
            <a:solidFill>
              <a:srgbClr val="D7DEE8"/>
            </a:solidFill>
            <a:prstDash val="solid"/>
          </a:ln>
        </p:spPr>
        <p:txBody>
          <a:bodyPr/>
          <a:lstStyle/>
          <a:p>
            <a:endParaRPr/>
          </a:p>
        </p:txBody>
      </p:sp>
      <p:sp>
        <p:nvSpPr>
          <p:cNvPr id="9" name="矩形 8">
            <a:extLst>
              <a:ext uri="{FF2B5EF4-FFF2-40B4-BE49-F238E27FC236}">
                <a16:creationId xmlns:a16="http://schemas.microsoft.com/office/drawing/2014/main" id="{8E063355-2609-4D24-92A5-7D390B3AF606}"/>
              </a:ext>
            </a:extLst>
          </p:cNvPr>
          <p:cNvSpPr>
            <a:spLocks noGrp="1"/>
          </p:cNvSpPr>
          <p:nvPr/>
        </p:nvSpPr>
        <p:spPr>
          <a:xfrm>
            <a:off x="1181100" y="3867150"/>
            <a:ext cx="3143250" cy="1790700"/>
          </a:xfrm>
          <a:prstGeom prst="rect">
            <a:avLst/>
          </a:prstGeom>
          <a:solidFill>
            <a:srgbClr val="FFFFFF"/>
          </a:solidFill>
          <a:ln w="9525">
            <a:solidFill>
              <a:srgbClr val="D7DEE8"/>
            </a:solidFill>
            <a:prstDash val="solid"/>
          </a:ln>
        </p:spPr>
        <p:txBody>
          <a:bodyPr/>
          <a:lstStyle/>
          <a:p>
            <a:endParaRPr/>
          </a:p>
        </p:txBody>
      </p:sp>
      <p:sp>
        <p:nvSpPr>
          <p:cNvPr id="10" name="矩形 9">
            <a:extLst>
              <a:ext uri="{FF2B5EF4-FFF2-40B4-BE49-F238E27FC236}">
                <a16:creationId xmlns:a16="http://schemas.microsoft.com/office/drawing/2014/main" id="{5B483410-0271-4D3E-91C3-AFAB7AC91037}"/>
              </a:ext>
            </a:extLst>
          </p:cNvPr>
          <p:cNvSpPr>
            <a:spLocks noGrp="1"/>
          </p:cNvSpPr>
          <p:nvPr/>
        </p:nvSpPr>
        <p:spPr>
          <a:xfrm>
            <a:off x="4667250" y="1371600"/>
            <a:ext cx="3143250" cy="228600"/>
          </a:xfrm>
          <a:prstGeom prst="rect">
            <a:avLst/>
          </a:prstGeom>
          <a:noFill/>
          <a:ln w="0">
            <a:noFill/>
            <a:prstDash val="solid"/>
          </a:ln>
        </p:spPr>
        <p:txBody>
          <a:bodyPr lIns="0" tIns="0" rIns="0" bIns="0" anchor="t">
            <a:normAutofit/>
          </a:bodyPr>
          <a:lstStyle/>
          <a:p>
            <a:pPr algn="ctr">
              <a:buNone/>
              <a:defRPr sz="1050" b="1">
                <a:solidFill>
                  <a:srgbClr val="8B95A5"/>
                </a:solidFill>
                <a:latin typeface="Aptos"/>
                <a:ea typeface="Aptos"/>
                <a:cs typeface="Aptos"/>
              </a:defRPr>
            </a:pPr>
            <a:r>
              <a:rPr sz="1050" b="1">
                <a:solidFill>
                  <a:srgbClr val="8B95A5"/>
                </a:solidFill>
                <a:latin typeface="Aptos"/>
                <a:ea typeface="Aptos"/>
                <a:cs typeface="Aptos"/>
              </a:rPr>
              <a:t>Layer 6</a:t>
            </a:r>
          </a:p>
        </p:txBody>
      </p:sp>
      <p:sp>
        <p:nvSpPr>
          <p:cNvPr id="11" name="矩形 10">
            <a:extLst>
              <a:ext uri="{FF2B5EF4-FFF2-40B4-BE49-F238E27FC236}">
                <a16:creationId xmlns:a16="http://schemas.microsoft.com/office/drawing/2014/main" id="{6C41AF66-4457-4215-B3D3-BE647DF13CE7}"/>
              </a:ext>
            </a:extLst>
          </p:cNvPr>
          <p:cNvSpPr>
            <a:spLocks noGrp="1"/>
          </p:cNvSpPr>
          <p:nvPr/>
        </p:nvSpPr>
        <p:spPr>
          <a:xfrm>
            <a:off x="4667250" y="1695450"/>
            <a:ext cx="3143250" cy="1790700"/>
          </a:xfrm>
          <a:prstGeom prst="rect">
            <a:avLst/>
          </a:prstGeom>
          <a:solidFill>
            <a:srgbClr val="FFFFFF"/>
          </a:solidFill>
          <a:ln w="9525">
            <a:solidFill>
              <a:srgbClr val="D7DEE8"/>
            </a:solidFill>
            <a:prstDash val="solid"/>
          </a:ln>
        </p:spPr>
        <p:txBody>
          <a:bodyPr/>
          <a:lstStyle/>
          <a:p>
            <a:endParaRPr/>
          </a:p>
        </p:txBody>
      </p:sp>
      <p:sp>
        <p:nvSpPr>
          <p:cNvPr id="12" name="矩形 11">
            <a:extLst>
              <a:ext uri="{FF2B5EF4-FFF2-40B4-BE49-F238E27FC236}">
                <a16:creationId xmlns:a16="http://schemas.microsoft.com/office/drawing/2014/main" id="{7B8E49D4-AC35-43BE-9040-A9FBD788E592}"/>
              </a:ext>
            </a:extLst>
          </p:cNvPr>
          <p:cNvSpPr>
            <a:spLocks noGrp="1"/>
          </p:cNvSpPr>
          <p:nvPr/>
        </p:nvSpPr>
        <p:spPr>
          <a:xfrm>
            <a:off x="4667250" y="3867150"/>
            <a:ext cx="3143250" cy="1790700"/>
          </a:xfrm>
          <a:prstGeom prst="rect">
            <a:avLst/>
          </a:prstGeom>
          <a:solidFill>
            <a:srgbClr val="FFFFFF"/>
          </a:solidFill>
          <a:ln w="9525">
            <a:solidFill>
              <a:srgbClr val="D7DEE8"/>
            </a:solidFill>
            <a:prstDash val="solid"/>
          </a:ln>
        </p:spPr>
        <p:txBody>
          <a:bodyPr/>
          <a:lstStyle/>
          <a:p>
            <a:endParaRPr/>
          </a:p>
        </p:txBody>
      </p:sp>
      <p:sp>
        <p:nvSpPr>
          <p:cNvPr id="13" name="矩形 12">
            <a:extLst>
              <a:ext uri="{FF2B5EF4-FFF2-40B4-BE49-F238E27FC236}">
                <a16:creationId xmlns:a16="http://schemas.microsoft.com/office/drawing/2014/main" id="{54A2953C-969F-4335-95DF-69E7E78C1F26}"/>
              </a:ext>
            </a:extLst>
          </p:cNvPr>
          <p:cNvSpPr>
            <a:spLocks noGrp="1"/>
          </p:cNvSpPr>
          <p:nvPr/>
        </p:nvSpPr>
        <p:spPr>
          <a:xfrm>
            <a:off x="8153400" y="1371600"/>
            <a:ext cx="3143250" cy="228600"/>
          </a:xfrm>
          <a:prstGeom prst="rect">
            <a:avLst/>
          </a:prstGeom>
          <a:noFill/>
          <a:ln w="0">
            <a:noFill/>
            <a:prstDash val="solid"/>
          </a:ln>
        </p:spPr>
        <p:txBody>
          <a:bodyPr lIns="0" tIns="0" rIns="0" bIns="0" anchor="t">
            <a:normAutofit/>
          </a:bodyPr>
          <a:lstStyle/>
          <a:p>
            <a:pPr algn="ctr">
              <a:buNone/>
              <a:defRPr sz="1050" b="1">
                <a:solidFill>
                  <a:srgbClr val="8B95A5"/>
                </a:solidFill>
                <a:latin typeface="Aptos"/>
                <a:ea typeface="Aptos"/>
                <a:cs typeface="Aptos"/>
              </a:defRPr>
            </a:pPr>
            <a:r>
              <a:rPr sz="1050" b="1">
                <a:solidFill>
                  <a:srgbClr val="8B95A5"/>
                </a:solidFill>
                <a:latin typeface="Aptos"/>
                <a:ea typeface="Aptos"/>
                <a:cs typeface="Aptos"/>
              </a:rPr>
              <a:t>Layer 10</a:t>
            </a:r>
          </a:p>
        </p:txBody>
      </p:sp>
      <p:sp>
        <p:nvSpPr>
          <p:cNvPr id="14" name="矩形 13">
            <a:extLst>
              <a:ext uri="{FF2B5EF4-FFF2-40B4-BE49-F238E27FC236}">
                <a16:creationId xmlns:a16="http://schemas.microsoft.com/office/drawing/2014/main" id="{CE46BBCF-E9E7-4D2A-9798-765DB7B140A0}"/>
              </a:ext>
            </a:extLst>
          </p:cNvPr>
          <p:cNvSpPr>
            <a:spLocks noGrp="1"/>
          </p:cNvSpPr>
          <p:nvPr/>
        </p:nvSpPr>
        <p:spPr>
          <a:xfrm>
            <a:off x="8153400" y="1695450"/>
            <a:ext cx="3143250" cy="1790700"/>
          </a:xfrm>
          <a:prstGeom prst="rect">
            <a:avLst/>
          </a:prstGeom>
          <a:solidFill>
            <a:srgbClr val="FFFFFF"/>
          </a:solidFill>
          <a:ln w="9525">
            <a:solidFill>
              <a:srgbClr val="D7DEE8"/>
            </a:solidFill>
            <a:prstDash val="solid"/>
          </a:ln>
        </p:spPr>
        <p:txBody>
          <a:bodyPr/>
          <a:lstStyle/>
          <a:p>
            <a:endParaRPr/>
          </a:p>
        </p:txBody>
      </p:sp>
      <p:sp>
        <p:nvSpPr>
          <p:cNvPr id="15" name="矩形 14">
            <a:extLst>
              <a:ext uri="{FF2B5EF4-FFF2-40B4-BE49-F238E27FC236}">
                <a16:creationId xmlns:a16="http://schemas.microsoft.com/office/drawing/2014/main" id="{FC3F8555-4063-41E1-B4F9-25302909602D}"/>
              </a:ext>
            </a:extLst>
          </p:cNvPr>
          <p:cNvSpPr>
            <a:spLocks noGrp="1"/>
          </p:cNvSpPr>
          <p:nvPr/>
        </p:nvSpPr>
        <p:spPr>
          <a:xfrm>
            <a:off x="8153400" y="3867150"/>
            <a:ext cx="3143250" cy="1790700"/>
          </a:xfrm>
          <a:prstGeom prst="rect">
            <a:avLst/>
          </a:prstGeom>
          <a:solidFill>
            <a:srgbClr val="FFFFFF"/>
          </a:solidFill>
          <a:ln w="9525">
            <a:solidFill>
              <a:srgbClr val="D7DEE8"/>
            </a:solidFill>
            <a:prstDash val="solid"/>
          </a:ln>
        </p:spPr>
        <p:txBody>
          <a:bodyPr/>
          <a:lstStyle/>
          <a:p>
            <a:endParaRPr/>
          </a:p>
        </p:txBody>
      </p:sp>
      <p:pic>
        <p:nvPicPr>
          <p:cNvPr id="49" name="图片 41"/>
          <p:cNvPicPr>
            <a:picLocks noChangeAspect="1"/>
          </p:cNvPicPr>
          <p:nvPr/>
        </p:nvPicPr>
        <p:blipFill>
          <a:blip r:embed="rId3"/>
          <a:stretch/>
        </p:blipFill>
        <p:spPr>
          <a:xfrm>
            <a:off x="1348468" y="1771650"/>
            <a:ext cx="2808514" cy="1638300"/>
          </a:xfrm>
          <a:prstGeom prst="rect">
            <a:avLst/>
          </a:prstGeom>
        </p:spPr>
      </p:pic>
      <p:pic>
        <p:nvPicPr>
          <p:cNvPr id="50" name="图片 42"/>
          <p:cNvPicPr>
            <a:picLocks noChangeAspect="1"/>
          </p:cNvPicPr>
          <p:nvPr/>
        </p:nvPicPr>
        <p:blipFill>
          <a:blip r:embed="rId4"/>
          <a:stretch/>
        </p:blipFill>
        <p:spPr>
          <a:xfrm>
            <a:off x="1348468" y="3943350"/>
            <a:ext cx="2808514" cy="1638300"/>
          </a:xfrm>
          <a:prstGeom prst="rect">
            <a:avLst/>
          </a:prstGeom>
        </p:spPr>
      </p:pic>
      <p:pic>
        <p:nvPicPr>
          <p:cNvPr id="51" name="图片 43"/>
          <p:cNvPicPr>
            <a:picLocks noChangeAspect="1"/>
          </p:cNvPicPr>
          <p:nvPr/>
        </p:nvPicPr>
        <p:blipFill>
          <a:blip r:embed="rId5"/>
          <a:stretch/>
        </p:blipFill>
        <p:spPr>
          <a:xfrm>
            <a:off x="4834618" y="3943350"/>
            <a:ext cx="2808514" cy="1638300"/>
          </a:xfrm>
          <a:prstGeom prst="rect">
            <a:avLst/>
          </a:prstGeom>
        </p:spPr>
      </p:pic>
      <p:pic>
        <p:nvPicPr>
          <p:cNvPr id="52" name="图片 44"/>
          <p:cNvPicPr>
            <a:picLocks noChangeAspect="1"/>
          </p:cNvPicPr>
          <p:nvPr/>
        </p:nvPicPr>
        <p:blipFill>
          <a:blip r:embed="rId6"/>
          <a:stretch/>
        </p:blipFill>
        <p:spPr>
          <a:xfrm>
            <a:off x="4834618" y="1771650"/>
            <a:ext cx="2808514" cy="1638300"/>
          </a:xfrm>
          <a:prstGeom prst="rect">
            <a:avLst/>
          </a:prstGeom>
        </p:spPr>
      </p:pic>
      <p:pic>
        <p:nvPicPr>
          <p:cNvPr id="53" name="图片 45"/>
          <p:cNvPicPr>
            <a:picLocks noChangeAspect="1"/>
          </p:cNvPicPr>
          <p:nvPr/>
        </p:nvPicPr>
        <p:blipFill>
          <a:blip r:embed="rId7"/>
          <a:stretch/>
        </p:blipFill>
        <p:spPr>
          <a:xfrm>
            <a:off x="8320768" y="1771650"/>
            <a:ext cx="2808514" cy="1638300"/>
          </a:xfrm>
          <a:prstGeom prst="rect">
            <a:avLst/>
          </a:prstGeom>
        </p:spPr>
      </p:pic>
      <p:pic>
        <p:nvPicPr>
          <p:cNvPr id="54" name="图片 46"/>
          <p:cNvPicPr>
            <a:picLocks noChangeAspect="1"/>
          </p:cNvPicPr>
          <p:nvPr/>
        </p:nvPicPr>
        <p:blipFill>
          <a:blip r:embed="rId8"/>
          <a:stretch/>
        </p:blipFill>
        <p:spPr>
          <a:xfrm>
            <a:off x="8320768" y="3943350"/>
            <a:ext cx="2808514" cy="1638300"/>
          </a:xfrm>
          <a:prstGeom prst="rect">
            <a:avLst/>
          </a:prstGeom>
        </p:spPr>
      </p:pic>
      <p:sp>
        <p:nvSpPr>
          <p:cNvPr id="22" name="矩形 21">
            <a:extLst>
              <a:ext uri="{FF2B5EF4-FFF2-40B4-BE49-F238E27FC236}">
                <a16:creationId xmlns:a16="http://schemas.microsoft.com/office/drawing/2014/main" id="{BF7B97FB-4EC6-4884-83C7-4101E1B43754}"/>
              </a:ext>
            </a:extLst>
          </p:cNvPr>
          <p:cNvSpPr>
            <a:spLocks noGrp="1"/>
          </p:cNvSpPr>
          <p:nvPr/>
        </p:nvSpPr>
        <p:spPr>
          <a:xfrm>
            <a:off x="66984" y="2447350"/>
            <a:ext cx="1028700" cy="534551"/>
          </a:xfrm>
          <a:prstGeom prst="rect">
            <a:avLst/>
          </a:prstGeom>
          <a:solidFill>
            <a:srgbClr val="E7F7F3"/>
          </a:solidFill>
          <a:ln w="0">
            <a:solidFill>
              <a:srgbClr val="E7F7F3"/>
            </a:solidFill>
            <a:prstDash val="solid"/>
          </a:ln>
        </p:spPr>
        <p:txBody>
          <a:bodyPr/>
          <a:lstStyle/>
          <a:p>
            <a:endParaRPr/>
          </a:p>
        </p:txBody>
      </p:sp>
      <p:sp>
        <p:nvSpPr>
          <p:cNvPr id="23" name="矩形 22">
            <a:extLst>
              <a:ext uri="{FF2B5EF4-FFF2-40B4-BE49-F238E27FC236}">
                <a16:creationId xmlns:a16="http://schemas.microsoft.com/office/drawing/2014/main" id="{03954C65-0AA1-47AF-9E29-71C334409046}"/>
              </a:ext>
            </a:extLst>
          </p:cNvPr>
          <p:cNvSpPr>
            <a:spLocks noGrp="1"/>
          </p:cNvSpPr>
          <p:nvPr/>
        </p:nvSpPr>
        <p:spPr>
          <a:xfrm>
            <a:off x="76200" y="2279144"/>
            <a:ext cx="1028700" cy="876300"/>
          </a:xfrm>
          <a:prstGeom prst="rect">
            <a:avLst/>
          </a:prstGeom>
          <a:noFill/>
          <a:ln w="0">
            <a:noFill/>
            <a:prstDash val="solid"/>
          </a:ln>
        </p:spPr>
        <p:txBody>
          <a:bodyPr lIns="0" tIns="0" rIns="0" bIns="0" anchor="ctr">
            <a:noAutofit/>
          </a:bodyPr>
          <a:lstStyle/>
          <a:p>
            <a:pPr algn="ctr">
              <a:buNone/>
              <a:defRPr sz="975" b="1">
                <a:solidFill>
                  <a:srgbClr val="0F766E"/>
                </a:solidFill>
                <a:latin typeface="Aptos"/>
                <a:ea typeface="Aptos"/>
                <a:cs typeface="Aptos"/>
              </a:defRPr>
            </a:pPr>
            <a:r>
              <a:rPr sz="1400" b="1" dirty="0">
                <a:solidFill>
                  <a:srgbClr val="0F766E"/>
                </a:solidFill>
                <a:latin typeface="Aptos"/>
                <a:ea typeface="Aptos"/>
                <a:cs typeface="Aptos"/>
              </a:rPr>
              <a:t>Consistency 0.0032</a:t>
            </a:r>
          </a:p>
        </p:txBody>
      </p:sp>
      <p:sp>
        <p:nvSpPr>
          <p:cNvPr id="24" name="矩形 23">
            <a:extLst>
              <a:ext uri="{FF2B5EF4-FFF2-40B4-BE49-F238E27FC236}">
                <a16:creationId xmlns:a16="http://schemas.microsoft.com/office/drawing/2014/main" id="{3D0B740E-7BDE-4758-B445-6F2D54F1C1D0}"/>
              </a:ext>
            </a:extLst>
          </p:cNvPr>
          <p:cNvSpPr>
            <a:spLocks noGrp="1"/>
          </p:cNvSpPr>
          <p:nvPr/>
        </p:nvSpPr>
        <p:spPr>
          <a:xfrm>
            <a:off x="66984" y="4505324"/>
            <a:ext cx="1028700" cy="514351"/>
          </a:xfrm>
          <a:prstGeom prst="rect">
            <a:avLst/>
          </a:prstGeom>
          <a:solidFill>
            <a:srgbClr val="FFF4DB"/>
          </a:solidFill>
          <a:ln w="0">
            <a:solidFill>
              <a:srgbClr val="FFF4DB"/>
            </a:solidFill>
            <a:prstDash val="solid"/>
          </a:ln>
        </p:spPr>
        <p:txBody>
          <a:bodyPr/>
          <a:lstStyle/>
          <a:p>
            <a:endParaRPr/>
          </a:p>
        </p:txBody>
      </p:sp>
      <p:sp>
        <p:nvSpPr>
          <p:cNvPr id="25" name="矩形 24">
            <a:extLst>
              <a:ext uri="{FF2B5EF4-FFF2-40B4-BE49-F238E27FC236}">
                <a16:creationId xmlns:a16="http://schemas.microsoft.com/office/drawing/2014/main" id="{A5C69EC7-B827-46BD-8BEA-58C404AC8461}"/>
              </a:ext>
            </a:extLst>
          </p:cNvPr>
          <p:cNvSpPr>
            <a:spLocks noGrp="1"/>
          </p:cNvSpPr>
          <p:nvPr/>
        </p:nvSpPr>
        <p:spPr>
          <a:xfrm>
            <a:off x="66984" y="4619625"/>
            <a:ext cx="1038225" cy="247650"/>
          </a:xfrm>
          <a:prstGeom prst="rect">
            <a:avLst/>
          </a:prstGeom>
          <a:noFill/>
          <a:ln w="0">
            <a:noFill/>
            <a:prstDash val="solid"/>
          </a:ln>
        </p:spPr>
        <p:txBody>
          <a:bodyPr lIns="0" tIns="0" rIns="0" bIns="0" anchor="ctr">
            <a:noAutofit/>
          </a:bodyPr>
          <a:lstStyle/>
          <a:p>
            <a:pPr algn="ctr">
              <a:buNone/>
              <a:defRPr sz="975" b="1">
                <a:solidFill>
                  <a:srgbClr val="B45309"/>
                </a:solidFill>
                <a:latin typeface="Aptos"/>
                <a:ea typeface="Aptos"/>
                <a:cs typeface="Aptos"/>
              </a:defRPr>
            </a:pPr>
            <a:r>
              <a:rPr sz="1400" b="1" dirty="0">
                <a:solidFill>
                  <a:srgbClr val="B45309"/>
                </a:solidFill>
                <a:latin typeface="Aptos"/>
                <a:ea typeface="Aptos"/>
                <a:cs typeface="Aptos"/>
              </a:rPr>
              <a:t>Consistency 0.9900</a:t>
            </a:r>
          </a:p>
        </p:txBody>
      </p:sp>
      <p:sp>
        <p:nvSpPr>
          <p:cNvPr id="26" name="矩形 25">
            <a:extLst>
              <a:ext uri="{FF2B5EF4-FFF2-40B4-BE49-F238E27FC236}">
                <a16:creationId xmlns:a16="http://schemas.microsoft.com/office/drawing/2014/main" id="{41134A09-261A-4AEA-8DD1-32D5CBA81BCF}"/>
              </a:ext>
            </a:extLst>
          </p:cNvPr>
          <p:cNvSpPr>
            <a:spLocks noGrp="1"/>
          </p:cNvSpPr>
          <p:nvPr/>
        </p:nvSpPr>
        <p:spPr>
          <a:xfrm>
            <a:off x="1047750" y="5867400"/>
            <a:ext cx="10096500" cy="247650"/>
          </a:xfrm>
          <a:prstGeom prst="rect">
            <a:avLst/>
          </a:prstGeom>
          <a:noFill/>
          <a:ln w="0">
            <a:noFill/>
            <a:prstDash val="solid"/>
          </a:ln>
        </p:spPr>
        <p:txBody>
          <a:bodyPr lIns="0" tIns="0" rIns="0" bIns="0" anchor="t">
            <a:noAutofit/>
          </a:bodyPr>
          <a:lstStyle/>
          <a:p>
            <a:pPr algn="ctr">
              <a:buNone/>
              <a:defRPr sz="1125" b="1">
                <a:solidFill>
                  <a:srgbClr val="5B6472"/>
                </a:solidFill>
                <a:latin typeface="Aptos"/>
                <a:ea typeface="Aptos"/>
                <a:cs typeface="Aptos"/>
              </a:defRPr>
            </a:pPr>
            <a:r>
              <a:rPr sz="1600" b="1" dirty="0">
                <a:solidFill>
                  <a:srgbClr val="5B6472"/>
                </a:solidFill>
                <a:latin typeface="Aptos"/>
                <a:ea typeface="Aptos"/>
                <a:cs typeface="Aptos"/>
              </a:rPr>
              <a:t>Each panel has an independent y-scale: compare head ordering and cross-layer stability, not absolute bar height.</a:t>
            </a:r>
          </a:p>
        </p:txBody>
      </p:sp>
    </p:spTree>
    <p:extLst>
      <p:ext uri="{BB962C8B-B14F-4D97-AF65-F5344CB8AC3E}">
        <p14:creationId xmlns:p14="http://schemas.microsoft.com/office/powerpoint/2010/main" val="397065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FB19D49C-9041-411C-844A-DD61E8BD8225}"/>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1: limitations and next steps</a:t>
            </a:r>
          </a:p>
        </p:txBody>
      </p:sp>
      <p:sp>
        <p:nvSpPr>
          <p:cNvPr id="2" name="矩形 1">
            <a:extLst>
              <a:ext uri="{FF2B5EF4-FFF2-40B4-BE49-F238E27FC236}">
                <a16:creationId xmlns:a16="http://schemas.microsoft.com/office/drawing/2014/main" id="{9A08737F-EACA-436A-817E-C7F58B661CBE}"/>
              </a:ext>
            </a:extLst>
          </p:cNvPr>
          <p:cNvSpPr>
            <a:spLocks noGrp="1"/>
          </p:cNvSpPr>
          <p:nvPr/>
        </p:nvSpPr>
        <p:spPr>
          <a:xfrm>
            <a:off x="533400" y="542925"/>
            <a:ext cx="10858500" cy="590550"/>
          </a:xfrm>
          <a:prstGeom prst="rect">
            <a:avLst/>
          </a:prstGeom>
          <a:noFill/>
          <a:ln w="0">
            <a:noFill/>
            <a:prstDash val="solid"/>
          </a:ln>
        </p:spPr>
        <p:txBody>
          <a:bodyPr lIns="0" tIns="0" rIns="0" bIns="0" anchor="t">
            <a:noAutofit/>
          </a:bodyPr>
          <a:lstStyle/>
          <a:p>
            <a:pPr algn="l">
              <a:buNone/>
              <a:defRPr sz="2700" b="1">
                <a:solidFill>
                  <a:srgbClr val="111827"/>
                </a:solidFill>
                <a:latin typeface="Aptos"/>
                <a:ea typeface="Aptos"/>
                <a:cs typeface="Aptos"/>
              </a:defRPr>
            </a:pPr>
            <a:r>
              <a:rPr sz="2400" b="1" dirty="0">
                <a:solidFill>
                  <a:srgbClr val="111827"/>
                </a:solidFill>
                <a:latin typeface="Aptos"/>
                <a:ea typeface="Aptos"/>
                <a:cs typeface="Aptos"/>
              </a:rPr>
              <a:t>Positional encoding acts indirectly; the next step is to trace how information mixes again</a:t>
            </a:r>
          </a:p>
        </p:txBody>
      </p:sp>
      <p:sp>
        <p:nvSpPr>
          <p:cNvPr id="3" name="直接连接符 2">
            <a:extLst>
              <a:ext uri="{FF2B5EF4-FFF2-40B4-BE49-F238E27FC236}">
                <a16:creationId xmlns:a16="http://schemas.microsoft.com/office/drawing/2014/main" id="{A7352C89-2FA3-4724-BA64-F933CDF6D0F6}"/>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33ACA7D6-918F-4059-AFCC-6CBDC83B960D}"/>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15</a:t>
            </a:r>
          </a:p>
        </p:txBody>
      </p:sp>
      <p:sp>
        <p:nvSpPr>
          <p:cNvPr id="5" name="矩形 4">
            <a:extLst>
              <a:ext uri="{FF2B5EF4-FFF2-40B4-BE49-F238E27FC236}">
                <a16:creationId xmlns:a16="http://schemas.microsoft.com/office/drawing/2014/main" id="{64FCC6E7-A436-4E27-B15E-B4323FFEA375}"/>
              </a:ext>
            </a:extLst>
          </p:cNvPr>
          <p:cNvSpPr>
            <a:spLocks noGrp="1"/>
          </p:cNvSpPr>
          <p:nvPr/>
        </p:nvSpPr>
        <p:spPr>
          <a:xfrm>
            <a:off x="609600" y="1562100"/>
            <a:ext cx="4000500" cy="285750"/>
          </a:xfrm>
          <a:prstGeom prst="rect">
            <a:avLst/>
          </a:prstGeom>
          <a:noFill/>
          <a:ln w="0">
            <a:noFill/>
            <a:prstDash val="solid"/>
          </a:ln>
        </p:spPr>
        <p:txBody>
          <a:bodyPr lIns="0" tIns="0" rIns="0" bIns="0" anchor="t">
            <a:normAutofit/>
          </a:bodyPr>
          <a:lstStyle/>
          <a:p>
            <a:pPr algn="l">
              <a:buNone/>
              <a:defRPr sz="1725" b="1">
                <a:solidFill>
                  <a:srgbClr val="B42318"/>
                </a:solidFill>
                <a:latin typeface="Aptos"/>
                <a:ea typeface="Aptos"/>
                <a:cs typeface="Aptos"/>
              </a:defRPr>
            </a:pPr>
            <a:r>
              <a:rPr sz="1725" b="1">
                <a:solidFill>
                  <a:srgbClr val="B42318"/>
                </a:solidFill>
                <a:latin typeface="Aptos"/>
                <a:ea typeface="Aptos"/>
                <a:cs typeface="Aptos"/>
              </a:rPr>
              <a:t>Current limitations</a:t>
            </a:r>
          </a:p>
        </p:txBody>
      </p:sp>
      <p:sp>
        <p:nvSpPr>
          <p:cNvPr id="6" name="矩形 5">
            <a:extLst>
              <a:ext uri="{FF2B5EF4-FFF2-40B4-BE49-F238E27FC236}">
                <a16:creationId xmlns:a16="http://schemas.microsoft.com/office/drawing/2014/main" id="{C022DAB6-40E7-4D55-BB69-C3F58290A4E0}"/>
              </a:ext>
            </a:extLst>
          </p:cNvPr>
          <p:cNvSpPr>
            <a:spLocks noGrp="1"/>
          </p:cNvSpPr>
          <p:nvPr/>
        </p:nvSpPr>
        <p:spPr>
          <a:xfrm>
            <a:off x="6419850" y="1562100"/>
            <a:ext cx="4000500" cy="285750"/>
          </a:xfrm>
          <a:prstGeom prst="rect">
            <a:avLst/>
          </a:prstGeom>
          <a:noFill/>
          <a:ln w="0">
            <a:noFill/>
            <a:prstDash val="solid"/>
          </a:ln>
        </p:spPr>
        <p:txBody>
          <a:bodyPr lIns="0" tIns="0" rIns="0" bIns="0" anchor="t">
            <a:normAutofit/>
          </a:bodyPr>
          <a:lstStyle/>
          <a:p>
            <a:pPr algn="l">
              <a:buNone/>
              <a:defRPr sz="1725" b="1">
                <a:solidFill>
                  <a:srgbClr val="2457D6"/>
                </a:solidFill>
                <a:latin typeface="Aptos"/>
                <a:ea typeface="Aptos"/>
                <a:cs typeface="Aptos"/>
              </a:defRPr>
            </a:pPr>
            <a:r>
              <a:rPr sz="1725" b="1">
                <a:solidFill>
                  <a:srgbClr val="2457D6"/>
                </a:solidFill>
                <a:latin typeface="Aptos"/>
                <a:ea typeface="Aptos"/>
                <a:cs typeface="Aptos"/>
              </a:rPr>
              <a:t>Next steps</a:t>
            </a:r>
          </a:p>
        </p:txBody>
      </p:sp>
      <p:sp>
        <p:nvSpPr>
          <p:cNvPr id="7" name="矩形 6">
            <a:extLst>
              <a:ext uri="{FF2B5EF4-FFF2-40B4-BE49-F238E27FC236}">
                <a16:creationId xmlns:a16="http://schemas.microsoft.com/office/drawing/2014/main" id="{B5292AB9-C15C-4845-AC7B-D02027CD5953}"/>
              </a:ext>
            </a:extLst>
          </p:cNvPr>
          <p:cNvSpPr>
            <a:spLocks noGrp="1"/>
          </p:cNvSpPr>
          <p:nvPr/>
        </p:nvSpPr>
        <p:spPr>
          <a:xfrm>
            <a:off x="609600" y="2076450"/>
            <a:ext cx="66675" cy="666750"/>
          </a:xfrm>
          <a:prstGeom prst="rect">
            <a:avLst/>
          </a:prstGeom>
          <a:solidFill>
            <a:srgbClr val="B42318"/>
          </a:solidFill>
          <a:ln w="0">
            <a:solidFill>
              <a:srgbClr val="B42318"/>
            </a:solidFill>
            <a:prstDash val="solid"/>
          </a:ln>
        </p:spPr>
        <p:txBody>
          <a:bodyPr/>
          <a:lstStyle/>
          <a:p>
            <a:endParaRPr/>
          </a:p>
        </p:txBody>
      </p:sp>
      <p:sp>
        <p:nvSpPr>
          <p:cNvPr id="8" name="矩形 7">
            <a:extLst>
              <a:ext uri="{FF2B5EF4-FFF2-40B4-BE49-F238E27FC236}">
                <a16:creationId xmlns:a16="http://schemas.microsoft.com/office/drawing/2014/main" id="{02A86880-7EFE-4949-8D0E-A864BB61E48B}"/>
              </a:ext>
            </a:extLst>
          </p:cNvPr>
          <p:cNvSpPr>
            <a:spLocks noGrp="1"/>
          </p:cNvSpPr>
          <p:nvPr/>
        </p:nvSpPr>
        <p:spPr>
          <a:xfrm>
            <a:off x="838200" y="20383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Mechanism not traced</a:t>
            </a:r>
          </a:p>
        </p:txBody>
      </p:sp>
      <p:sp>
        <p:nvSpPr>
          <p:cNvPr id="9" name="矩形 8">
            <a:extLst>
              <a:ext uri="{FF2B5EF4-FFF2-40B4-BE49-F238E27FC236}">
                <a16:creationId xmlns:a16="http://schemas.microsoft.com/office/drawing/2014/main" id="{BB32E2C7-4F09-449A-9793-8D9BDF98B816}"/>
              </a:ext>
            </a:extLst>
          </p:cNvPr>
          <p:cNvSpPr>
            <a:spLocks noGrp="1"/>
          </p:cNvSpPr>
          <p:nvPr/>
        </p:nvSpPr>
        <p:spPr>
          <a:xfrm>
            <a:off x="2571750" y="2038350"/>
            <a:ext cx="3219450" cy="6858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The experiment observes final model and SAE metrics, but does not trace when content and position mix again across layers.</a:t>
            </a:r>
          </a:p>
        </p:txBody>
      </p:sp>
      <p:sp>
        <p:nvSpPr>
          <p:cNvPr id="10" name="矩形 9">
            <a:extLst>
              <a:ext uri="{FF2B5EF4-FFF2-40B4-BE49-F238E27FC236}">
                <a16:creationId xmlns:a16="http://schemas.microsoft.com/office/drawing/2014/main" id="{9A227B67-23A1-4D80-8B70-650FA55DBCC0}"/>
              </a:ext>
            </a:extLst>
          </p:cNvPr>
          <p:cNvSpPr>
            <a:spLocks noGrp="1"/>
          </p:cNvSpPr>
          <p:nvPr/>
        </p:nvSpPr>
        <p:spPr>
          <a:xfrm>
            <a:off x="609600" y="3105150"/>
            <a:ext cx="66675" cy="666750"/>
          </a:xfrm>
          <a:prstGeom prst="rect">
            <a:avLst/>
          </a:prstGeom>
          <a:solidFill>
            <a:srgbClr val="B42318"/>
          </a:solidFill>
          <a:ln w="0">
            <a:solidFill>
              <a:srgbClr val="B42318"/>
            </a:solidFill>
            <a:prstDash val="solid"/>
          </a:ln>
        </p:spPr>
        <p:txBody>
          <a:bodyPr/>
          <a:lstStyle/>
          <a:p>
            <a:endParaRPr/>
          </a:p>
        </p:txBody>
      </p:sp>
      <p:sp>
        <p:nvSpPr>
          <p:cNvPr id="11" name="矩形 10">
            <a:extLst>
              <a:ext uri="{FF2B5EF4-FFF2-40B4-BE49-F238E27FC236}">
                <a16:creationId xmlns:a16="http://schemas.microsoft.com/office/drawing/2014/main" id="{9698D2D2-0F27-4C4E-A805-A3D737AB7AE5}"/>
              </a:ext>
            </a:extLst>
          </p:cNvPr>
          <p:cNvSpPr>
            <a:spLocks noGrp="1"/>
          </p:cNvSpPr>
          <p:nvPr/>
        </p:nvSpPr>
        <p:spPr>
          <a:xfrm>
            <a:off x="838200" y="30670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Limited scale and context</a:t>
            </a:r>
          </a:p>
        </p:txBody>
      </p:sp>
      <p:sp>
        <p:nvSpPr>
          <p:cNvPr id="12" name="矩形 11">
            <a:extLst>
              <a:ext uri="{FF2B5EF4-FFF2-40B4-BE49-F238E27FC236}">
                <a16:creationId xmlns:a16="http://schemas.microsoft.com/office/drawing/2014/main" id="{953FB599-2A34-4556-A613-E6B5ACAF7503}"/>
              </a:ext>
            </a:extLst>
          </p:cNvPr>
          <p:cNvSpPr>
            <a:spLocks noGrp="1"/>
          </p:cNvSpPr>
          <p:nvPr/>
        </p:nvSpPr>
        <p:spPr>
          <a:xfrm>
            <a:off x="2571750" y="3067050"/>
            <a:ext cx="32194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Three model seeds, length 1024, and a small GPT cannot represent longer contexts or larger models.</a:t>
            </a:r>
          </a:p>
        </p:txBody>
      </p:sp>
      <p:sp>
        <p:nvSpPr>
          <p:cNvPr id="13" name="矩形 12">
            <a:extLst>
              <a:ext uri="{FF2B5EF4-FFF2-40B4-BE49-F238E27FC236}">
                <a16:creationId xmlns:a16="http://schemas.microsoft.com/office/drawing/2014/main" id="{71C99419-4328-45AF-9312-834DF9F7876C}"/>
              </a:ext>
            </a:extLst>
          </p:cNvPr>
          <p:cNvSpPr>
            <a:spLocks noGrp="1"/>
          </p:cNvSpPr>
          <p:nvPr/>
        </p:nvSpPr>
        <p:spPr>
          <a:xfrm>
            <a:off x="609600" y="4133850"/>
            <a:ext cx="66675" cy="666750"/>
          </a:xfrm>
          <a:prstGeom prst="rect">
            <a:avLst/>
          </a:prstGeom>
          <a:solidFill>
            <a:srgbClr val="B42318"/>
          </a:solidFill>
          <a:ln w="0">
            <a:solidFill>
              <a:srgbClr val="B42318"/>
            </a:solidFill>
            <a:prstDash val="solid"/>
          </a:ln>
        </p:spPr>
        <p:txBody>
          <a:bodyPr/>
          <a:lstStyle/>
          <a:p>
            <a:endParaRPr/>
          </a:p>
        </p:txBody>
      </p:sp>
      <p:sp>
        <p:nvSpPr>
          <p:cNvPr id="14" name="矩形 13">
            <a:extLst>
              <a:ext uri="{FF2B5EF4-FFF2-40B4-BE49-F238E27FC236}">
                <a16:creationId xmlns:a16="http://schemas.microsoft.com/office/drawing/2014/main" id="{A8B04020-0705-4D5D-B395-9F23636E527F}"/>
              </a:ext>
            </a:extLst>
          </p:cNvPr>
          <p:cNvSpPr>
            <a:spLocks noGrp="1"/>
          </p:cNvSpPr>
          <p:nvPr/>
        </p:nvSpPr>
        <p:spPr>
          <a:xfrm>
            <a:off x="838200" y="4095750"/>
            <a:ext cx="1619250" cy="266700"/>
          </a:xfrm>
          <a:prstGeom prst="rect">
            <a:avLst/>
          </a:prstGeom>
          <a:noFill/>
          <a:ln w="0">
            <a:noFill/>
            <a:prstDash val="solid"/>
          </a:ln>
        </p:spPr>
        <p:txBody>
          <a:bodyPr lIns="0" tIns="0" rIns="0" bIns="0" anchor="t">
            <a:norm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Proxy coverage</a:t>
            </a:r>
          </a:p>
        </p:txBody>
      </p:sp>
      <p:sp>
        <p:nvSpPr>
          <p:cNvPr id="15" name="矩形 14">
            <a:extLst>
              <a:ext uri="{FF2B5EF4-FFF2-40B4-BE49-F238E27FC236}">
                <a16:creationId xmlns:a16="http://schemas.microsoft.com/office/drawing/2014/main" id="{0723D6E4-C6A2-485A-AA0F-659FD4E1B4A5}"/>
              </a:ext>
            </a:extLst>
          </p:cNvPr>
          <p:cNvSpPr>
            <a:spLocks noGrp="1"/>
          </p:cNvSpPr>
          <p:nvPr/>
        </p:nvSpPr>
        <p:spPr>
          <a:xfrm>
            <a:off x="2571750" y="4095750"/>
            <a:ext cx="32194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Content–position correlation covers only part of SAE semantics and cannot directly represent overall interpretability.</a:t>
            </a:r>
          </a:p>
        </p:txBody>
      </p:sp>
      <p:sp>
        <p:nvSpPr>
          <p:cNvPr id="16" name="矩形 15">
            <a:extLst>
              <a:ext uri="{FF2B5EF4-FFF2-40B4-BE49-F238E27FC236}">
                <a16:creationId xmlns:a16="http://schemas.microsoft.com/office/drawing/2014/main" id="{F755DC11-FC17-4974-8CDA-44242EBC36C9}"/>
              </a:ext>
            </a:extLst>
          </p:cNvPr>
          <p:cNvSpPr>
            <a:spLocks noGrp="1"/>
          </p:cNvSpPr>
          <p:nvPr/>
        </p:nvSpPr>
        <p:spPr>
          <a:xfrm>
            <a:off x="6419850" y="2076450"/>
            <a:ext cx="66675" cy="666750"/>
          </a:xfrm>
          <a:prstGeom prst="rect">
            <a:avLst/>
          </a:prstGeom>
          <a:solidFill>
            <a:srgbClr val="2457D6"/>
          </a:solidFill>
          <a:ln w="0">
            <a:solidFill>
              <a:srgbClr val="2457D6"/>
            </a:solidFill>
            <a:prstDash val="solid"/>
          </a:ln>
        </p:spPr>
        <p:txBody>
          <a:bodyPr/>
          <a:lstStyle/>
          <a:p>
            <a:endParaRPr/>
          </a:p>
        </p:txBody>
      </p:sp>
      <p:sp>
        <p:nvSpPr>
          <p:cNvPr id="17" name="矩形 16">
            <a:extLst>
              <a:ext uri="{FF2B5EF4-FFF2-40B4-BE49-F238E27FC236}">
                <a16:creationId xmlns:a16="http://schemas.microsoft.com/office/drawing/2014/main" id="{ED236CCF-B33A-4B28-B9F8-DCCD58FB280B}"/>
              </a:ext>
            </a:extLst>
          </p:cNvPr>
          <p:cNvSpPr>
            <a:spLocks noGrp="1"/>
          </p:cNvSpPr>
          <p:nvPr/>
        </p:nvSpPr>
        <p:spPr>
          <a:xfrm>
            <a:off x="6648450" y="20383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Trace later mixing</a:t>
            </a:r>
          </a:p>
        </p:txBody>
      </p:sp>
      <p:sp>
        <p:nvSpPr>
          <p:cNvPr id="18" name="矩形 17">
            <a:extLst>
              <a:ext uri="{FF2B5EF4-FFF2-40B4-BE49-F238E27FC236}">
                <a16:creationId xmlns:a16="http://schemas.microsoft.com/office/drawing/2014/main" id="{CB81BAF8-B557-47DB-8D11-CC6BC43F5A31}"/>
              </a:ext>
            </a:extLst>
          </p:cNvPr>
          <p:cNvSpPr>
            <a:spLocks noGrp="1"/>
          </p:cNvSpPr>
          <p:nvPr/>
        </p:nvSpPr>
        <p:spPr>
          <a:xfrm>
            <a:off x="8382000" y="2038350"/>
            <a:ext cx="3105150" cy="6858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Measure content and positional information layer by layer through Attention, the FFN, and the residual stream.</a:t>
            </a:r>
          </a:p>
        </p:txBody>
      </p:sp>
      <p:sp>
        <p:nvSpPr>
          <p:cNvPr id="19" name="矩形 18">
            <a:extLst>
              <a:ext uri="{FF2B5EF4-FFF2-40B4-BE49-F238E27FC236}">
                <a16:creationId xmlns:a16="http://schemas.microsoft.com/office/drawing/2014/main" id="{BAE63331-6C25-435B-90CB-A07C5C24B2FB}"/>
              </a:ext>
            </a:extLst>
          </p:cNvPr>
          <p:cNvSpPr>
            <a:spLocks noGrp="1"/>
          </p:cNvSpPr>
          <p:nvPr/>
        </p:nvSpPr>
        <p:spPr>
          <a:xfrm>
            <a:off x="6419850" y="3105150"/>
            <a:ext cx="66675" cy="666750"/>
          </a:xfrm>
          <a:prstGeom prst="rect">
            <a:avLst/>
          </a:prstGeom>
          <a:solidFill>
            <a:srgbClr val="2457D6"/>
          </a:solidFill>
          <a:ln w="0">
            <a:solidFill>
              <a:srgbClr val="2457D6"/>
            </a:solidFill>
            <a:prstDash val="solid"/>
          </a:ln>
        </p:spPr>
        <p:txBody>
          <a:bodyPr/>
          <a:lstStyle/>
          <a:p>
            <a:endParaRPr/>
          </a:p>
        </p:txBody>
      </p:sp>
      <p:sp>
        <p:nvSpPr>
          <p:cNvPr id="20" name="矩形 19">
            <a:extLst>
              <a:ext uri="{FF2B5EF4-FFF2-40B4-BE49-F238E27FC236}">
                <a16:creationId xmlns:a16="http://schemas.microsoft.com/office/drawing/2014/main" id="{2F8E503E-6E63-42B9-9879-25229C64CE7E}"/>
              </a:ext>
            </a:extLst>
          </p:cNvPr>
          <p:cNvSpPr>
            <a:spLocks noGrp="1"/>
          </p:cNvSpPr>
          <p:nvPr/>
        </p:nvSpPr>
        <p:spPr>
          <a:xfrm>
            <a:off x="6648450" y="30670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Broaden replication</a:t>
            </a:r>
          </a:p>
        </p:txBody>
      </p:sp>
      <p:sp>
        <p:nvSpPr>
          <p:cNvPr id="21" name="矩形 20">
            <a:extLst>
              <a:ext uri="{FF2B5EF4-FFF2-40B4-BE49-F238E27FC236}">
                <a16:creationId xmlns:a16="http://schemas.microsoft.com/office/drawing/2014/main" id="{D34D3542-CDFB-49E5-BC1C-47032818ED13}"/>
              </a:ext>
            </a:extLst>
          </p:cNvPr>
          <p:cNvSpPr>
            <a:spLocks noGrp="1"/>
          </p:cNvSpPr>
          <p:nvPr/>
        </p:nvSpPr>
        <p:spPr>
          <a:xfrm>
            <a:off x="8382000" y="3067050"/>
            <a:ext cx="31051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Increase model seeds, context length, and model scale to test whether the conclusion holds.</a:t>
            </a:r>
          </a:p>
        </p:txBody>
      </p:sp>
      <p:sp>
        <p:nvSpPr>
          <p:cNvPr id="22" name="矩形 21">
            <a:extLst>
              <a:ext uri="{FF2B5EF4-FFF2-40B4-BE49-F238E27FC236}">
                <a16:creationId xmlns:a16="http://schemas.microsoft.com/office/drawing/2014/main" id="{F4B8FCF0-FD0F-44AF-9D4F-2DE99F930B89}"/>
              </a:ext>
            </a:extLst>
          </p:cNvPr>
          <p:cNvSpPr>
            <a:spLocks noGrp="1"/>
          </p:cNvSpPr>
          <p:nvPr/>
        </p:nvSpPr>
        <p:spPr>
          <a:xfrm>
            <a:off x="6419850" y="4133850"/>
            <a:ext cx="66675" cy="666750"/>
          </a:xfrm>
          <a:prstGeom prst="rect">
            <a:avLst/>
          </a:prstGeom>
          <a:solidFill>
            <a:srgbClr val="2457D6"/>
          </a:solidFill>
          <a:ln w="0">
            <a:solidFill>
              <a:srgbClr val="2457D6"/>
            </a:solidFill>
            <a:prstDash val="solid"/>
          </a:ln>
        </p:spPr>
        <p:txBody>
          <a:bodyPr/>
          <a:lstStyle/>
          <a:p>
            <a:endParaRPr/>
          </a:p>
        </p:txBody>
      </p:sp>
      <p:sp>
        <p:nvSpPr>
          <p:cNvPr id="23" name="矩形 22">
            <a:extLst>
              <a:ext uri="{FF2B5EF4-FFF2-40B4-BE49-F238E27FC236}">
                <a16:creationId xmlns:a16="http://schemas.microsoft.com/office/drawing/2014/main" id="{4517016F-E32A-4000-8FA7-19CB3602DD66}"/>
              </a:ext>
            </a:extLst>
          </p:cNvPr>
          <p:cNvSpPr>
            <a:spLocks noGrp="1"/>
          </p:cNvSpPr>
          <p:nvPr/>
        </p:nvSpPr>
        <p:spPr>
          <a:xfrm>
            <a:off x="6648450" y="40957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Adaptive distance priors</a:t>
            </a:r>
          </a:p>
        </p:txBody>
      </p:sp>
      <p:sp>
        <p:nvSpPr>
          <p:cNvPr id="24" name="矩形 23">
            <a:extLst>
              <a:ext uri="{FF2B5EF4-FFF2-40B4-BE49-F238E27FC236}">
                <a16:creationId xmlns:a16="http://schemas.microsoft.com/office/drawing/2014/main" id="{38AFFCBC-5D54-4314-8BC9-A2EE97B9BC76}"/>
              </a:ext>
            </a:extLst>
          </p:cNvPr>
          <p:cNvSpPr>
            <a:spLocks noGrp="1"/>
          </p:cNvSpPr>
          <p:nvPr/>
        </p:nvSpPr>
        <p:spPr>
          <a:xfrm>
            <a:off x="8382000" y="4095750"/>
            <a:ext cx="31051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Continue studying </a:t>
            </a:r>
            <a:r>
              <a:rPr sz="1400" b="0" dirty="0" err="1">
                <a:solidFill>
                  <a:srgbClr val="5B6472"/>
                </a:solidFill>
                <a:latin typeface="Aptos"/>
                <a:ea typeface="Aptos"/>
                <a:cs typeface="Aptos"/>
              </a:rPr>
              <a:t>ALiBi</a:t>
            </a:r>
            <a:r>
              <a:rPr sz="1400" b="0" dirty="0">
                <a:solidFill>
                  <a:srgbClr val="5B6472"/>
                </a:solidFill>
                <a:latin typeface="Aptos"/>
                <a:ea typeface="Aptos"/>
                <a:cs typeface="Aptos"/>
              </a:rPr>
              <a:t>/CABLE-style distance priors, while linking task gains to Attention audits.</a:t>
            </a:r>
          </a:p>
        </p:txBody>
      </p:sp>
      <p:sp>
        <p:nvSpPr>
          <p:cNvPr id="25" name="矩形 24">
            <a:extLst>
              <a:ext uri="{FF2B5EF4-FFF2-40B4-BE49-F238E27FC236}">
                <a16:creationId xmlns:a16="http://schemas.microsoft.com/office/drawing/2014/main" id="{4F33B06C-2C2E-4606-8DF1-E952D3F570E2}"/>
              </a:ext>
            </a:extLst>
          </p:cNvPr>
          <p:cNvSpPr>
            <a:spLocks noGrp="1"/>
          </p:cNvSpPr>
          <p:nvPr/>
        </p:nvSpPr>
        <p:spPr>
          <a:xfrm>
            <a:off x="609600" y="5429250"/>
            <a:ext cx="10934700" cy="723900"/>
          </a:xfrm>
          <a:prstGeom prst="rect">
            <a:avLst/>
          </a:prstGeom>
          <a:solidFill>
            <a:srgbClr val="111A2E"/>
          </a:solidFill>
          <a:ln w="0">
            <a:solidFill>
              <a:srgbClr val="111A2E"/>
            </a:solidFill>
            <a:prstDash val="solid"/>
          </a:ln>
        </p:spPr>
        <p:txBody>
          <a:bodyPr/>
          <a:lstStyle/>
          <a:p>
            <a:endParaRPr/>
          </a:p>
        </p:txBody>
      </p:sp>
      <p:sp>
        <p:nvSpPr>
          <p:cNvPr id="26" name="矩形 25">
            <a:extLst>
              <a:ext uri="{FF2B5EF4-FFF2-40B4-BE49-F238E27FC236}">
                <a16:creationId xmlns:a16="http://schemas.microsoft.com/office/drawing/2014/main" id="{EB3AEF13-721B-431C-805D-EC529AAF2B75}"/>
              </a:ext>
            </a:extLst>
          </p:cNvPr>
          <p:cNvSpPr>
            <a:spLocks noGrp="1"/>
          </p:cNvSpPr>
          <p:nvPr/>
        </p:nvSpPr>
        <p:spPr>
          <a:xfrm>
            <a:off x="838200" y="5591175"/>
            <a:ext cx="10477500" cy="285750"/>
          </a:xfrm>
          <a:prstGeom prst="rect">
            <a:avLst/>
          </a:prstGeom>
          <a:noFill/>
          <a:ln w="0">
            <a:noFill/>
            <a:prstDash val="solid"/>
          </a:ln>
        </p:spPr>
        <p:txBody>
          <a:bodyPr lIns="0" tIns="0" rIns="0" bIns="0" anchor="t">
            <a:noAutofit/>
          </a:bodyPr>
          <a:lstStyle/>
          <a:p>
            <a:pPr algn="ctr">
              <a:buNone/>
              <a:defRPr sz="1350" b="1">
                <a:solidFill>
                  <a:srgbClr val="FFFFFF"/>
                </a:solidFill>
                <a:latin typeface="Aptos"/>
                <a:ea typeface="Aptos"/>
                <a:cs typeface="Aptos"/>
              </a:defRPr>
            </a:pPr>
            <a:r>
              <a:rPr sz="1600" b="1" dirty="0">
                <a:solidFill>
                  <a:srgbClr val="FFFFFF"/>
                </a:solidFill>
                <a:latin typeface="Aptos"/>
                <a:ea typeface="Aptos"/>
                <a:cs typeface="Aptos"/>
              </a:rPr>
              <a:t>This experiment narrows the search space: separating ‘what’ and ‘where’ only at encoding is insufficient to improve later representations directly.</a:t>
            </a:r>
          </a:p>
        </p:txBody>
      </p:sp>
      <p:sp>
        <p:nvSpPr>
          <p:cNvPr id="27" name="矩形 26">
            <a:extLst>
              <a:ext uri="{FF2B5EF4-FFF2-40B4-BE49-F238E27FC236}">
                <a16:creationId xmlns:a16="http://schemas.microsoft.com/office/drawing/2014/main" id="{DC910ED4-028C-46BF-87CA-7FE440FAC19F}"/>
              </a:ext>
            </a:extLst>
          </p:cNvPr>
          <p:cNvSpPr>
            <a:spLocks noGrp="1"/>
          </p:cNvSpPr>
          <p:nvPr/>
        </p:nvSpPr>
        <p:spPr>
          <a:xfrm>
            <a:off x="9486900" y="6324600"/>
            <a:ext cx="2171700" cy="285750"/>
          </a:xfrm>
          <a:prstGeom prst="rect">
            <a:avLst/>
          </a:prstGeom>
          <a:solidFill>
            <a:srgbClr val="F8FAFC"/>
          </a:solidFill>
          <a:ln w="0">
            <a:solidFill>
              <a:srgbClr val="F8FAFC"/>
            </a:solidFill>
            <a:prstDash val="solid"/>
          </a:ln>
        </p:spPr>
        <p:txBody>
          <a:bodyPr/>
          <a:lstStyle/>
          <a:p>
            <a:endParaRPr/>
          </a:p>
        </p:txBody>
      </p:sp>
      <p:sp>
        <p:nvSpPr>
          <p:cNvPr id="28" name="矩形 27">
            <a:extLst>
              <a:ext uri="{FF2B5EF4-FFF2-40B4-BE49-F238E27FC236}">
                <a16:creationId xmlns:a16="http://schemas.microsoft.com/office/drawing/2014/main" id="{8F6C4BFF-29FC-4C03-A5E5-3EE4EF19DACA}"/>
              </a:ext>
            </a:extLst>
          </p:cNvPr>
          <p:cNvSpPr>
            <a:spLocks noGrp="1"/>
          </p:cNvSpPr>
          <p:nvPr/>
        </p:nvSpPr>
        <p:spPr>
          <a:xfrm>
            <a:off x="10572750" y="6153150"/>
            <a:ext cx="10858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Page 15</a:t>
            </a:r>
          </a:p>
        </p:txBody>
      </p:sp>
    </p:spTree>
    <p:extLst>
      <p:ext uri="{BB962C8B-B14F-4D97-AF65-F5344CB8AC3E}">
        <p14:creationId xmlns:p14="http://schemas.microsoft.com/office/powerpoint/2010/main" val="2059888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FBBDFCA9-84DD-4B53-AA33-16E11497A37E}"/>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2: objective and theoretical basis</a:t>
            </a:r>
          </a:p>
        </p:txBody>
      </p:sp>
      <p:sp>
        <p:nvSpPr>
          <p:cNvPr id="2" name="矩形 1">
            <a:extLst>
              <a:ext uri="{FF2B5EF4-FFF2-40B4-BE49-F238E27FC236}">
                <a16:creationId xmlns:a16="http://schemas.microsoft.com/office/drawing/2014/main" id="{1B6845D0-775E-430F-B9E6-77528B35B3D1}"/>
              </a:ext>
            </a:extLst>
          </p:cNvPr>
          <p:cNvSpPr>
            <a:spLocks noGrp="1"/>
          </p:cNvSpPr>
          <p:nvPr/>
        </p:nvSpPr>
        <p:spPr>
          <a:xfrm>
            <a:off x="533400" y="542925"/>
            <a:ext cx="10858500" cy="590550"/>
          </a:xfrm>
          <a:prstGeom prst="rect">
            <a:avLst/>
          </a:prstGeom>
          <a:noFill/>
          <a:ln w="0">
            <a:noFill/>
            <a:prstDash val="solid"/>
          </a:ln>
        </p:spPr>
        <p:txBody>
          <a:bodyPr lIns="0" tIns="0" rIns="0" bIns="0" anchor="t">
            <a:noAutofit/>
          </a:bodyPr>
          <a:lstStyle/>
          <a:p>
            <a:pPr algn="l">
              <a:buNone/>
              <a:defRPr sz="2700" b="1">
                <a:solidFill>
                  <a:srgbClr val="111827"/>
                </a:solidFill>
                <a:latin typeface="Aptos"/>
                <a:ea typeface="Aptos"/>
                <a:cs typeface="Aptos"/>
              </a:defRPr>
            </a:pPr>
            <a:r>
              <a:rPr sz="2400" b="1" dirty="0">
                <a:solidFill>
                  <a:srgbClr val="111827"/>
                </a:solidFill>
                <a:latin typeface="Aptos"/>
                <a:ea typeface="Aptos"/>
                <a:cs typeface="Aptos"/>
              </a:rPr>
              <a:t>Can using fewer features per computation reduce superposition and promote </a:t>
            </a:r>
            <a:r>
              <a:rPr sz="2400" b="1" dirty="0" err="1">
                <a:solidFill>
                  <a:srgbClr val="111827"/>
                </a:solidFill>
                <a:latin typeface="Aptos"/>
                <a:ea typeface="Aptos"/>
                <a:cs typeface="Aptos"/>
              </a:rPr>
              <a:t>monosemanticity</a:t>
            </a:r>
            <a:r>
              <a:rPr sz="2400" b="1" dirty="0">
                <a:solidFill>
                  <a:srgbClr val="111827"/>
                </a:solidFill>
                <a:latin typeface="Aptos"/>
                <a:ea typeface="Aptos"/>
                <a:cs typeface="Aptos"/>
              </a:rPr>
              <a:t>?</a:t>
            </a:r>
          </a:p>
        </p:txBody>
      </p:sp>
      <p:sp>
        <p:nvSpPr>
          <p:cNvPr id="3" name="直接连接符 2">
            <a:extLst>
              <a:ext uri="{FF2B5EF4-FFF2-40B4-BE49-F238E27FC236}">
                <a16:creationId xmlns:a16="http://schemas.microsoft.com/office/drawing/2014/main" id="{5A6A185A-CCAB-4399-9BE2-926A5BA9C207}"/>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ED61A34F-3034-4512-A8C9-D4805F6860E5}"/>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16</a:t>
            </a:r>
          </a:p>
        </p:txBody>
      </p:sp>
      <p:sp>
        <p:nvSpPr>
          <p:cNvPr id="5" name="矩形 4">
            <a:extLst>
              <a:ext uri="{FF2B5EF4-FFF2-40B4-BE49-F238E27FC236}">
                <a16:creationId xmlns:a16="http://schemas.microsoft.com/office/drawing/2014/main" id="{F93C9F2C-78A8-4A17-899F-37015DFD0EE5}"/>
              </a:ext>
            </a:extLst>
          </p:cNvPr>
          <p:cNvSpPr>
            <a:spLocks noGrp="1"/>
          </p:cNvSpPr>
          <p:nvPr/>
        </p:nvSpPr>
        <p:spPr>
          <a:xfrm>
            <a:off x="533400" y="1466850"/>
            <a:ext cx="11087100" cy="3714750"/>
          </a:xfrm>
          <a:prstGeom prst="rect">
            <a:avLst/>
          </a:prstGeom>
          <a:solidFill>
            <a:srgbClr val="F1F5F9"/>
          </a:solidFill>
          <a:ln w="0">
            <a:solidFill>
              <a:srgbClr val="F1F5F9"/>
            </a:solidFill>
            <a:prstDash val="solid"/>
          </a:ln>
        </p:spPr>
        <p:txBody>
          <a:bodyPr/>
          <a:lstStyle/>
          <a:p>
            <a:endParaRPr/>
          </a:p>
        </p:txBody>
      </p:sp>
      <p:pic>
        <p:nvPicPr>
          <p:cNvPr id="23" name="图片 20"/>
          <p:cNvPicPr>
            <a:picLocks noChangeAspect="1"/>
          </p:cNvPicPr>
          <p:nvPr/>
        </p:nvPicPr>
        <p:blipFill>
          <a:blip r:embed="rId3"/>
          <a:stretch/>
        </p:blipFill>
        <p:spPr>
          <a:xfrm>
            <a:off x="685800" y="1698498"/>
            <a:ext cx="10744200" cy="3080004"/>
          </a:xfrm>
          <a:prstGeom prst="rect">
            <a:avLst/>
          </a:prstGeom>
        </p:spPr>
      </p:pic>
      <p:sp>
        <p:nvSpPr>
          <p:cNvPr id="7" name="矩形 6">
            <a:extLst>
              <a:ext uri="{FF2B5EF4-FFF2-40B4-BE49-F238E27FC236}">
                <a16:creationId xmlns:a16="http://schemas.microsoft.com/office/drawing/2014/main" id="{41DE3B70-30DA-4D23-BD59-DC40171842A7}"/>
              </a:ext>
            </a:extLst>
          </p:cNvPr>
          <p:cNvSpPr>
            <a:spLocks noGrp="1"/>
          </p:cNvSpPr>
          <p:nvPr/>
        </p:nvSpPr>
        <p:spPr>
          <a:xfrm>
            <a:off x="685800" y="5562600"/>
            <a:ext cx="66675" cy="495300"/>
          </a:xfrm>
          <a:prstGeom prst="rect">
            <a:avLst/>
          </a:prstGeom>
          <a:solidFill>
            <a:srgbClr val="2457D6"/>
          </a:solidFill>
          <a:ln w="0">
            <a:solidFill>
              <a:srgbClr val="2457D6"/>
            </a:solidFill>
            <a:prstDash val="solid"/>
          </a:ln>
        </p:spPr>
        <p:txBody>
          <a:bodyPr/>
          <a:lstStyle/>
          <a:p>
            <a:endParaRPr/>
          </a:p>
        </p:txBody>
      </p:sp>
      <p:sp>
        <p:nvSpPr>
          <p:cNvPr id="8" name="矩形 7">
            <a:extLst>
              <a:ext uri="{FF2B5EF4-FFF2-40B4-BE49-F238E27FC236}">
                <a16:creationId xmlns:a16="http://schemas.microsoft.com/office/drawing/2014/main" id="{676740BA-EFD8-4F30-ABC9-B6B37C42062E}"/>
              </a:ext>
            </a:extLst>
          </p:cNvPr>
          <p:cNvSpPr>
            <a:spLocks noGrp="1"/>
          </p:cNvSpPr>
          <p:nvPr/>
        </p:nvSpPr>
        <p:spPr>
          <a:xfrm>
            <a:off x="895350" y="5505450"/>
            <a:ext cx="66675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Aim</a:t>
            </a:r>
          </a:p>
        </p:txBody>
      </p:sp>
      <p:sp>
        <p:nvSpPr>
          <p:cNvPr id="9" name="矩形 8">
            <a:extLst>
              <a:ext uri="{FF2B5EF4-FFF2-40B4-BE49-F238E27FC236}">
                <a16:creationId xmlns:a16="http://schemas.microsoft.com/office/drawing/2014/main" id="{F588A2C8-650B-480A-AC9D-F3C32C95DAF9}"/>
              </a:ext>
            </a:extLst>
          </p:cNvPr>
          <p:cNvSpPr>
            <a:spLocks noGrp="1"/>
          </p:cNvSpPr>
          <p:nvPr/>
        </p:nvSpPr>
        <p:spPr>
          <a:xfrm>
            <a:off x="1695450" y="5505450"/>
            <a:ext cx="2495550" cy="533400"/>
          </a:xfrm>
          <a:prstGeom prst="rect">
            <a:avLst/>
          </a:prstGeom>
          <a:noFill/>
          <a:ln w="0">
            <a:noFill/>
            <a:prstDash val="solid"/>
          </a:ln>
        </p:spPr>
        <p:txBody>
          <a:bodyPr lIns="0" tIns="0" rIns="0" bIns="0" anchor="t">
            <a:noAutofit/>
          </a:bodyPr>
          <a:lstStyle/>
          <a:p>
            <a:pPr algn="l">
              <a:buNone/>
              <a:defRPr sz="1275" b="0">
                <a:solidFill>
                  <a:srgbClr val="5B6472"/>
                </a:solidFill>
                <a:latin typeface="Aptos"/>
                <a:ea typeface="Aptos"/>
                <a:cs typeface="Aptos"/>
              </a:defRPr>
            </a:pPr>
            <a:r>
              <a:rPr sz="1400" b="0" dirty="0" err="1">
                <a:solidFill>
                  <a:srgbClr val="5B6472"/>
                </a:solidFill>
                <a:latin typeface="Aptos"/>
                <a:ea typeface="Aptos"/>
                <a:cs typeface="Aptos"/>
              </a:rPr>
              <a:t>Sparsify</a:t>
            </a:r>
            <a:r>
              <a:rPr sz="1400" b="0" dirty="0">
                <a:solidFill>
                  <a:srgbClr val="5B6472"/>
                </a:solidFill>
                <a:latin typeface="Aptos"/>
                <a:ea typeface="Aptos"/>
                <a:cs typeface="Aptos"/>
              </a:rPr>
              <a:t> both cross-token routing and within-token FFN activation</a:t>
            </a:r>
          </a:p>
        </p:txBody>
      </p:sp>
      <p:sp>
        <p:nvSpPr>
          <p:cNvPr id="10" name="矩形 9">
            <a:extLst>
              <a:ext uri="{FF2B5EF4-FFF2-40B4-BE49-F238E27FC236}">
                <a16:creationId xmlns:a16="http://schemas.microsoft.com/office/drawing/2014/main" id="{A2F03A28-8806-46A2-B960-7CFCDB330537}"/>
              </a:ext>
            </a:extLst>
          </p:cNvPr>
          <p:cNvSpPr>
            <a:spLocks noGrp="1"/>
          </p:cNvSpPr>
          <p:nvPr/>
        </p:nvSpPr>
        <p:spPr>
          <a:xfrm>
            <a:off x="4476750" y="5562600"/>
            <a:ext cx="66675" cy="495300"/>
          </a:xfrm>
          <a:prstGeom prst="rect">
            <a:avLst/>
          </a:prstGeom>
          <a:solidFill>
            <a:srgbClr val="0F766E"/>
          </a:solidFill>
          <a:ln w="0">
            <a:solidFill>
              <a:srgbClr val="0F766E"/>
            </a:solidFill>
            <a:prstDash val="solid"/>
          </a:ln>
        </p:spPr>
        <p:txBody>
          <a:bodyPr/>
          <a:lstStyle/>
          <a:p>
            <a:endParaRPr/>
          </a:p>
        </p:txBody>
      </p:sp>
      <p:sp>
        <p:nvSpPr>
          <p:cNvPr id="11" name="矩形 10">
            <a:extLst>
              <a:ext uri="{FF2B5EF4-FFF2-40B4-BE49-F238E27FC236}">
                <a16:creationId xmlns:a16="http://schemas.microsoft.com/office/drawing/2014/main" id="{89A95340-C2D8-49D3-BF8C-6468509DB838}"/>
              </a:ext>
            </a:extLst>
          </p:cNvPr>
          <p:cNvSpPr>
            <a:spLocks noGrp="1"/>
          </p:cNvSpPr>
          <p:nvPr/>
        </p:nvSpPr>
        <p:spPr>
          <a:xfrm>
            <a:off x="4686300" y="5505450"/>
            <a:ext cx="66675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Theory</a:t>
            </a:r>
          </a:p>
        </p:txBody>
      </p:sp>
      <p:sp>
        <p:nvSpPr>
          <p:cNvPr id="12" name="矩形 11">
            <a:extLst>
              <a:ext uri="{FF2B5EF4-FFF2-40B4-BE49-F238E27FC236}">
                <a16:creationId xmlns:a16="http://schemas.microsoft.com/office/drawing/2014/main" id="{D64F189D-68B3-424C-B730-27F0FFF7E68D}"/>
              </a:ext>
            </a:extLst>
          </p:cNvPr>
          <p:cNvSpPr>
            <a:spLocks noGrp="1"/>
          </p:cNvSpPr>
          <p:nvPr/>
        </p:nvSpPr>
        <p:spPr>
          <a:xfrm>
            <a:off x="5486400" y="5505450"/>
            <a:ext cx="2495550" cy="533400"/>
          </a:xfrm>
          <a:prstGeom prst="rect">
            <a:avLst/>
          </a:prstGeom>
          <a:noFill/>
          <a:ln w="0">
            <a:noFill/>
            <a:prstDash val="solid"/>
          </a:ln>
        </p:spPr>
        <p:txBody>
          <a:bodyPr lIns="0" tIns="0" rIns="0" bIns="0" anchor="t">
            <a:no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Fewer active units may reduce feature superposition and make SAE decomposition easier</a:t>
            </a:r>
          </a:p>
        </p:txBody>
      </p:sp>
      <p:sp>
        <p:nvSpPr>
          <p:cNvPr id="13" name="矩形 12">
            <a:extLst>
              <a:ext uri="{FF2B5EF4-FFF2-40B4-BE49-F238E27FC236}">
                <a16:creationId xmlns:a16="http://schemas.microsoft.com/office/drawing/2014/main" id="{2465BFA2-998F-4273-A54C-133F71F79955}"/>
              </a:ext>
            </a:extLst>
          </p:cNvPr>
          <p:cNvSpPr>
            <a:spLocks noGrp="1"/>
          </p:cNvSpPr>
          <p:nvPr/>
        </p:nvSpPr>
        <p:spPr>
          <a:xfrm>
            <a:off x="8267700" y="5562600"/>
            <a:ext cx="66675" cy="495300"/>
          </a:xfrm>
          <a:prstGeom prst="rect">
            <a:avLst/>
          </a:prstGeom>
          <a:solidFill>
            <a:srgbClr val="B42318"/>
          </a:solidFill>
          <a:ln w="0">
            <a:solidFill>
              <a:srgbClr val="B42318"/>
            </a:solidFill>
            <a:prstDash val="solid"/>
          </a:ln>
        </p:spPr>
        <p:txBody>
          <a:bodyPr/>
          <a:lstStyle/>
          <a:p>
            <a:endParaRPr/>
          </a:p>
        </p:txBody>
      </p:sp>
      <p:sp>
        <p:nvSpPr>
          <p:cNvPr id="14" name="矩形 13">
            <a:extLst>
              <a:ext uri="{FF2B5EF4-FFF2-40B4-BE49-F238E27FC236}">
                <a16:creationId xmlns:a16="http://schemas.microsoft.com/office/drawing/2014/main" id="{44DA3633-95CB-4D49-B0F4-7C1FF35CCC66}"/>
              </a:ext>
            </a:extLst>
          </p:cNvPr>
          <p:cNvSpPr>
            <a:spLocks noGrp="1"/>
          </p:cNvSpPr>
          <p:nvPr/>
        </p:nvSpPr>
        <p:spPr>
          <a:xfrm>
            <a:off x="8477250" y="5505450"/>
            <a:ext cx="66675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Risk</a:t>
            </a:r>
          </a:p>
        </p:txBody>
      </p:sp>
      <p:sp>
        <p:nvSpPr>
          <p:cNvPr id="15" name="矩形 14">
            <a:extLst>
              <a:ext uri="{FF2B5EF4-FFF2-40B4-BE49-F238E27FC236}">
                <a16:creationId xmlns:a16="http://schemas.microsoft.com/office/drawing/2014/main" id="{03A33944-B4CD-419C-BDD6-F8950EB45761}"/>
              </a:ext>
            </a:extLst>
          </p:cNvPr>
          <p:cNvSpPr>
            <a:spLocks noGrp="1"/>
          </p:cNvSpPr>
          <p:nvPr/>
        </p:nvSpPr>
        <p:spPr>
          <a:xfrm>
            <a:off x="9277350" y="5505450"/>
            <a:ext cx="2495550" cy="533400"/>
          </a:xfrm>
          <a:prstGeom prst="rect">
            <a:avLst/>
          </a:prstGeom>
          <a:noFill/>
          <a:ln w="0">
            <a:noFill/>
            <a:prstDash val="solid"/>
          </a:ln>
        </p:spPr>
        <p:txBody>
          <a:bodyPr lIns="0" tIns="0" rIns="0" bIns="0" anchor="t">
            <a:no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Top-K sparsity may restrict model capacity and introduce sorting cost</a:t>
            </a:r>
          </a:p>
        </p:txBody>
      </p:sp>
    </p:spTree>
    <p:extLst>
      <p:ext uri="{BB962C8B-B14F-4D97-AF65-F5344CB8AC3E}">
        <p14:creationId xmlns:p14="http://schemas.microsoft.com/office/powerpoint/2010/main" val="970669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7" name="矩形 36">
            <a:extLst>
              <a:ext uri="{FF2B5EF4-FFF2-40B4-BE49-F238E27FC236}">
                <a16:creationId xmlns:a16="http://schemas.microsoft.com/office/drawing/2014/main" id="{3471A315-D993-4E1D-913F-94BB4D4D26B8}"/>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2: design and evaluation</a:t>
            </a:r>
          </a:p>
        </p:txBody>
      </p:sp>
      <p:sp>
        <p:nvSpPr>
          <p:cNvPr id="2" name="矩形 1">
            <a:extLst>
              <a:ext uri="{FF2B5EF4-FFF2-40B4-BE49-F238E27FC236}">
                <a16:creationId xmlns:a16="http://schemas.microsoft.com/office/drawing/2014/main" id="{B969D59E-7459-4F01-8C62-CFBDCDB9BB82}"/>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a:bodyPr>
          <a:lstStyle/>
          <a:p>
            <a:pPr algn="l">
              <a:buNone/>
              <a:defRPr sz="2700" b="1">
                <a:solidFill>
                  <a:srgbClr val="111827"/>
                </a:solidFill>
                <a:latin typeface="Aptos"/>
                <a:ea typeface="Aptos"/>
                <a:cs typeface="Aptos"/>
              </a:defRPr>
            </a:pPr>
            <a:r>
              <a:rPr sz="2700" b="1" dirty="0">
                <a:solidFill>
                  <a:srgbClr val="111827"/>
                </a:solidFill>
                <a:latin typeface="Aptos"/>
                <a:ea typeface="Aptos"/>
                <a:cs typeface="Aptos"/>
              </a:rPr>
              <a:t>A 3×2 design separates structural, semantic, causal, and cost effects</a:t>
            </a:r>
          </a:p>
        </p:txBody>
      </p:sp>
      <p:sp>
        <p:nvSpPr>
          <p:cNvPr id="3" name="直接连接符 2">
            <a:extLst>
              <a:ext uri="{FF2B5EF4-FFF2-40B4-BE49-F238E27FC236}">
                <a16:creationId xmlns:a16="http://schemas.microsoft.com/office/drawing/2014/main" id="{DEDA0BA5-9FE3-409F-ABED-035B090B9685}"/>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CAE7F523-9B2F-42FF-8C55-498A090A5963}"/>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17</a:t>
            </a:r>
          </a:p>
        </p:txBody>
      </p:sp>
      <p:sp>
        <p:nvSpPr>
          <p:cNvPr id="5" name="矩形 4">
            <a:extLst>
              <a:ext uri="{FF2B5EF4-FFF2-40B4-BE49-F238E27FC236}">
                <a16:creationId xmlns:a16="http://schemas.microsoft.com/office/drawing/2014/main" id="{813E36E3-6399-455C-9280-DBD85BFA18D6}"/>
              </a:ext>
            </a:extLst>
          </p:cNvPr>
          <p:cNvSpPr>
            <a:spLocks noGrp="1"/>
          </p:cNvSpPr>
          <p:nvPr/>
        </p:nvSpPr>
        <p:spPr>
          <a:xfrm>
            <a:off x="609600" y="1524000"/>
            <a:ext cx="3429000" cy="1066800"/>
          </a:xfrm>
          <a:prstGeom prst="rect">
            <a:avLst/>
          </a:prstGeom>
          <a:solidFill>
            <a:srgbClr val="FFFFFF"/>
          </a:solidFill>
          <a:ln w="9525">
            <a:solidFill>
              <a:srgbClr val="D7DEE8"/>
            </a:solidFill>
            <a:prstDash val="solid"/>
          </a:ln>
        </p:spPr>
        <p:txBody>
          <a:bodyPr/>
          <a:lstStyle/>
          <a:p>
            <a:endParaRPr/>
          </a:p>
        </p:txBody>
      </p:sp>
      <p:sp>
        <p:nvSpPr>
          <p:cNvPr id="6" name="矩形 5">
            <a:extLst>
              <a:ext uri="{FF2B5EF4-FFF2-40B4-BE49-F238E27FC236}">
                <a16:creationId xmlns:a16="http://schemas.microsoft.com/office/drawing/2014/main" id="{4AD5E3AA-6561-40A0-BA72-759D497F1309}"/>
              </a:ext>
            </a:extLst>
          </p:cNvPr>
          <p:cNvSpPr>
            <a:spLocks noGrp="1"/>
          </p:cNvSpPr>
          <p:nvPr/>
        </p:nvSpPr>
        <p:spPr>
          <a:xfrm>
            <a:off x="800100" y="1714500"/>
            <a:ext cx="895350" cy="266700"/>
          </a:xfrm>
          <a:prstGeom prst="rect">
            <a:avLst/>
          </a:prstGeom>
          <a:solidFill>
            <a:srgbClr val="EAF1FF"/>
          </a:solidFill>
          <a:ln w="0">
            <a:solidFill>
              <a:srgbClr val="EAF1FF"/>
            </a:solidFill>
            <a:prstDash val="solid"/>
          </a:ln>
        </p:spPr>
        <p:txBody>
          <a:bodyPr/>
          <a:lstStyle/>
          <a:p>
            <a:endParaRPr/>
          </a:p>
        </p:txBody>
      </p:sp>
      <p:sp>
        <p:nvSpPr>
          <p:cNvPr id="7" name="矩形 6">
            <a:extLst>
              <a:ext uri="{FF2B5EF4-FFF2-40B4-BE49-F238E27FC236}">
                <a16:creationId xmlns:a16="http://schemas.microsoft.com/office/drawing/2014/main" id="{49564DE2-EC6D-4784-8A06-B3EA2D4B7EE8}"/>
              </a:ext>
            </a:extLst>
          </p:cNvPr>
          <p:cNvSpPr>
            <a:spLocks noGrp="1"/>
          </p:cNvSpPr>
          <p:nvPr/>
        </p:nvSpPr>
        <p:spPr>
          <a:xfrm>
            <a:off x="800100" y="1743075"/>
            <a:ext cx="895350" cy="190500"/>
          </a:xfrm>
          <a:prstGeom prst="rect">
            <a:avLst/>
          </a:prstGeom>
          <a:noFill/>
          <a:ln w="0">
            <a:noFill/>
            <a:prstDash val="solid"/>
          </a:ln>
        </p:spPr>
        <p:txBody>
          <a:bodyPr lIns="0" tIns="0" rIns="0" bIns="0" anchor="ctr">
            <a:noAutofit/>
          </a:bodyPr>
          <a:lstStyle/>
          <a:p>
            <a:pPr algn="ctr">
              <a:buNone/>
              <a:defRPr sz="975" b="1">
                <a:solidFill>
                  <a:srgbClr val="2457D6"/>
                </a:solidFill>
                <a:latin typeface="Aptos"/>
                <a:ea typeface="Aptos"/>
                <a:cs typeface="Aptos"/>
              </a:defRPr>
            </a:pPr>
            <a:r>
              <a:rPr sz="1600" b="1" dirty="0">
                <a:solidFill>
                  <a:srgbClr val="2457D6"/>
                </a:solidFill>
                <a:latin typeface="Aptos"/>
                <a:ea typeface="Aptos"/>
                <a:cs typeface="Aptos"/>
              </a:rPr>
              <a:t>Base</a:t>
            </a:r>
          </a:p>
        </p:txBody>
      </p:sp>
      <p:sp>
        <p:nvSpPr>
          <p:cNvPr id="8" name="矩形 7">
            <a:extLst>
              <a:ext uri="{FF2B5EF4-FFF2-40B4-BE49-F238E27FC236}">
                <a16:creationId xmlns:a16="http://schemas.microsoft.com/office/drawing/2014/main" id="{D575B2A1-6739-420B-BD08-611C8C379CF5}"/>
              </a:ext>
            </a:extLst>
          </p:cNvPr>
          <p:cNvSpPr>
            <a:spLocks noGrp="1"/>
          </p:cNvSpPr>
          <p:nvPr/>
        </p:nvSpPr>
        <p:spPr>
          <a:xfrm>
            <a:off x="1847850" y="1714500"/>
            <a:ext cx="1924050" cy="552450"/>
          </a:xfrm>
          <a:prstGeom prst="rect">
            <a:avLst/>
          </a:prstGeom>
          <a:noFill/>
          <a:ln w="0">
            <a:noFill/>
            <a:prstDash val="solid"/>
          </a:ln>
        </p:spPr>
        <p:txBody>
          <a:bodyPr lIns="0" tIns="0" rIns="0" bIns="0" anchor="t">
            <a:normAutofit/>
          </a:bodyPr>
          <a:lstStyle/>
          <a:p>
            <a:pPr algn="ctr">
              <a:buNone/>
              <a:defRPr sz="1275" b="1">
                <a:solidFill>
                  <a:srgbClr val="111827"/>
                </a:solidFill>
                <a:latin typeface="Aptos"/>
                <a:ea typeface="Aptos"/>
                <a:cs typeface="Aptos"/>
              </a:defRPr>
            </a:pPr>
            <a:r>
              <a:rPr sz="1400" b="1" dirty="0">
                <a:solidFill>
                  <a:srgbClr val="111827"/>
                </a:solidFill>
                <a:latin typeface="Aptos"/>
                <a:ea typeface="Aptos"/>
                <a:cs typeface="Aptos"/>
              </a:rPr>
              <a:t>Standard Attention + dense FFN</a:t>
            </a:r>
          </a:p>
        </p:txBody>
      </p:sp>
      <p:sp>
        <p:nvSpPr>
          <p:cNvPr id="9" name="矩形 8">
            <a:extLst>
              <a:ext uri="{FF2B5EF4-FFF2-40B4-BE49-F238E27FC236}">
                <a16:creationId xmlns:a16="http://schemas.microsoft.com/office/drawing/2014/main" id="{66ACCAC5-2059-489D-826C-F570F4207223}"/>
              </a:ext>
            </a:extLst>
          </p:cNvPr>
          <p:cNvSpPr>
            <a:spLocks noGrp="1"/>
          </p:cNvSpPr>
          <p:nvPr/>
        </p:nvSpPr>
        <p:spPr>
          <a:xfrm>
            <a:off x="4267200" y="1524000"/>
            <a:ext cx="3429000" cy="1066800"/>
          </a:xfrm>
          <a:prstGeom prst="rect">
            <a:avLst/>
          </a:prstGeom>
          <a:solidFill>
            <a:srgbClr val="FFFFFF"/>
          </a:solidFill>
          <a:ln w="9525">
            <a:solidFill>
              <a:srgbClr val="D7DEE8"/>
            </a:solidFill>
            <a:prstDash val="solid"/>
          </a:ln>
        </p:spPr>
        <p:txBody>
          <a:bodyPr/>
          <a:lstStyle/>
          <a:p>
            <a:endParaRPr/>
          </a:p>
        </p:txBody>
      </p:sp>
      <p:sp>
        <p:nvSpPr>
          <p:cNvPr id="10" name="矩形 9">
            <a:extLst>
              <a:ext uri="{FF2B5EF4-FFF2-40B4-BE49-F238E27FC236}">
                <a16:creationId xmlns:a16="http://schemas.microsoft.com/office/drawing/2014/main" id="{19CD5923-F3A6-4B06-AB7B-20268B119354}"/>
              </a:ext>
            </a:extLst>
          </p:cNvPr>
          <p:cNvSpPr>
            <a:spLocks noGrp="1"/>
          </p:cNvSpPr>
          <p:nvPr/>
        </p:nvSpPr>
        <p:spPr>
          <a:xfrm>
            <a:off x="4457700" y="1714500"/>
            <a:ext cx="895350" cy="266700"/>
          </a:xfrm>
          <a:prstGeom prst="rect">
            <a:avLst/>
          </a:prstGeom>
          <a:solidFill>
            <a:srgbClr val="E7F7F3"/>
          </a:solidFill>
          <a:ln w="0">
            <a:solidFill>
              <a:srgbClr val="E7F7F3"/>
            </a:solidFill>
            <a:prstDash val="solid"/>
          </a:ln>
        </p:spPr>
        <p:txBody>
          <a:bodyPr/>
          <a:lstStyle/>
          <a:p>
            <a:endParaRPr/>
          </a:p>
        </p:txBody>
      </p:sp>
      <p:sp>
        <p:nvSpPr>
          <p:cNvPr id="11" name="矩形 10">
            <a:extLst>
              <a:ext uri="{FF2B5EF4-FFF2-40B4-BE49-F238E27FC236}">
                <a16:creationId xmlns:a16="http://schemas.microsoft.com/office/drawing/2014/main" id="{8983D69F-F1C4-4FAA-9AB8-40356178D392}"/>
              </a:ext>
            </a:extLst>
          </p:cNvPr>
          <p:cNvSpPr>
            <a:spLocks noGrp="1"/>
          </p:cNvSpPr>
          <p:nvPr/>
        </p:nvSpPr>
        <p:spPr>
          <a:xfrm>
            <a:off x="4457700" y="1743075"/>
            <a:ext cx="895350" cy="190500"/>
          </a:xfrm>
          <a:prstGeom prst="rect">
            <a:avLst/>
          </a:prstGeom>
          <a:noFill/>
          <a:ln w="0">
            <a:noFill/>
            <a:prstDash val="solid"/>
          </a:ln>
        </p:spPr>
        <p:txBody>
          <a:bodyPr lIns="0" tIns="0" rIns="0" bIns="0" anchor="ctr">
            <a:noAutofit/>
          </a:bodyPr>
          <a:lstStyle/>
          <a:p>
            <a:pPr algn="ctr">
              <a:buNone/>
              <a:defRPr sz="975" b="1">
                <a:solidFill>
                  <a:srgbClr val="0F766E"/>
                </a:solidFill>
                <a:latin typeface="Aptos"/>
                <a:ea typeface="Aptos"/>
                <a:cs typeface="Aptos"/>
              </a:defRPr>
            </a:pPr>
            <a:r>
              <a:rPr sz="1600" b="1" dirty="0">
                <a:solidFill>
                  <a:srgbClr val="0F766E"/>
                </a:solidFill>
                <a:latin typeface="Aptos"/>
                <a:ea typeface="Aptos"/>
                <a:cs typeface="Aptos"/>
              </a:rPr>
              <a:t>SP</a:t>
            </a:r>
          </a:p>
        </p:txBody>
      </p:sp>
      <p:sp>
        <p:nvSpPr>
          <p:cNvPr id="12" name="矩形 11">
            <a:extLst>
              <a:ext uri="{FF2B5EF4-FFF2-40B4-BE49-F238E27FC236}">
                <a16:creationId xmlns:a16="http://schemas.microsoft.com/office/drawing/2014/main" id="{85581E61-01CA-46BB-A20C-AC5FC2240A20}"/>
              </a:ext>
            </a:extLst>
          </p:cNvPr>
          <p:cNvSpPr>
            <a:spLocks noGrp="1"/>
          </p:cNvSpPr>
          <p:nvPr/>
        </p:nvSpPr>
        <p:spPr>
          <a:xfrm>
            <a:off x="5505450" y="1714500"/>
            <a:ext cx="1924050" cy="552450"/>
          </a:xfrm>
          <a:prstGeom prst="rect">
            <a:avLst/>
          </a:prstGeom>
          <a:noFill/>
          <a:ln w="0">
            <a:noFill/>
            <a:prstDash val="solid"/>
          </a:ln>
        </p:spPr>
        <p:txBody>
          <a:bodyPr lIns="0" tIns="0" rIns="0" bIns="0" anchor="t">
            <a:normAutofit/>
          </a:bodyPr>
          <a:lstStyle/>
          <a:p>
            <a:pPr algn="ctr">
              <a:buNone/>
              <a:defRPr sz="1275" b="1">
                <a:solidFill>
                  <a:srgbClr val="111827"/>
                </a:solidFill>
                <a:latin typeface="Aptos"/>
                <a:ea typeface="Aptos"/>
                <a:cs typeface="Aptos"/>
              </a:defRPr>
            </a:pPr>
            <a:r>
              <a:rPr sz="1400" b="1" dirty="0">
                <a:solidFill>
                  <a:srgbClr val="111827"/>
                </a:solidFill>
                <a:latin typeface="Aptos"/>
                <a:ea typeface="Aptos"/>
                <a:cs typeface="Aptos"/>
              </a:rPr>
              <a:t>Predictor/value split + Top-K FFN</a:t>
            </a:r>
          </a:p>
        </p:txBody>
      </p:sp>
      <p:sp>
        <p:nvSpPr>
          <p:cNvPr id="13" name="矩形 12">
            <a:extLst>
              <a:ext uri="{FF2B5EF4-FFF2-40B4-BE49-F238E27FC236}">
                <a16:creationId xmlns:a16="http://schemas.microsoft.com/office/drawing/2014/main" id="{FFA826FE-8544-49A9-823B-CDE1F9860CF7}"/>
              </a:ext>
            </a:extLst>
          </p:cNvPr>
          <p:cNvSpPr>
            <a:spLocks noGrp="1"/>
          </p:cNvSpPr>
          <p:nvPr/>
        </p:nvSpPr>
        <p:spPr>
          <a:xfrm>
            <a:off x="7924800" y="1524000"/>
            <a:ext cx="3429000" cy="1066800"/>
          </a:xfrm>
          <a:prstGeom prst="rect">
            <a:avLst/>
          </a:prstGeom>
          <a:solidFill>
            <a:srgbClr val="FFFFFF"/>
          </a:solidFill>
          <a:ln w="9525">
            <a:solidFill>
              <a:srgbClr val="D7DEE8"/>
            </a:solidFill>
            <a:prstDash val="solid"/>
          </a:ln>
        </p:spPr>
        <p:txBody>
          <a:bodyPr/>
          <a:lstStyle/>
          <a:p>
            <a:endParaRPr/>
          </a:p>
        </p:txBody>
      </p:sp>
      <p:sp>
        <p:nvSpPr>
          <p:cNvPr id="14" name="矩形 13">
            <a:extLst>
              <a:ext uri="{FF2B5EF4-FFF2-40B4-BE49-F238E27FC236}">
                <a16:creationId xmlns:a16="http://schemas.microsoft.com/office/drawing/2014/main" id="{D3A6A1F8-6C49-4CA4-A660-FFA9306E7741}"/>
              </a:ext>
            </a:extLst>
          </p:cNvPr>
          <p:cNvSpPr>
            <a:spLocks noGrp="1"/>
          </p:cNvSpPr>
          <p:nvPr/>
        </p:nvSpPr>
        <p:spPr>
          <a:xfrm>
            <a:off x="8115300" y="1714500"/>
            <a:ext cx="895350" cy="266700"/>
          </a:xfrm>
          <a:prstGeom prst="rect">
            <a:avLst/>
          </a:prstGeom>
          <a:solidFill>
            <a:srgbClr val="F1ECFF"/>
          </a:solidFill>
          <a:ln w="0">
            <a:solidFill>
              <a:srgbClr val="F1ECFF"/>
            </a:solidFill>
            <a:prstDash val="solid"/>
          </a:ln>
        </p:spPr>
        <p:txBody>
          <a:bodyPr/>
          <a:lstStyle/>
          <a:p>
            <a:endParaRPr/>
          </a:p>
        </p:txBody>
      </p:sp>
      <p:sp>
        <p:nvSpPr>
          <p:cNvPr id="15" name="矩形 14">
            <a:extLst>
              <a:ext uri="{FF2B5EF4-FFF2-40B4-BE49-F238E27FC236}">
                <a16:creationId xmlns:a16="http://schemas.microsoft.com/office/drawing/2014/main" id="{E631ED1E-1B6F-42B9-BFF5-E08EABECC5F4}"/>
              </a:ext>
            </a:extLst>
          </p:cNvPr>
          <p:cNvSpPr>
            <a:spLocks noGrp="1"/>
          </p:cNvSpPr>
          <p:nvPr/>
        </p:nvSpPr>
        <p:spPr>
          <a:xfrm>
            <a:off x="8115300" y="1743075"/>
            <a:ext cx="895350" cy="190500"/>
          </a:xfrm>
          <a:prstGeom prst="rect">
            <a:avLst/>
          </a:prstGeom>
          <a:noFill/>
          <a:ln w="0">
            <a:noFill/>
            <a:prstDash val="solid"/>
          </a:ln>
        </p:spPr>
        <p:txBody>
          <a:bodyPr lIns="0" tIns="0" rIns="0" bIns="0" anchor="ctr">
            <a:noAutofit/>
          </a:bodyPr>
          <a:lstStyle/>
          <a:p>
            <a:pPr algn="ctr">
              <a:buNone/>
              <a:defRPr sz="975" b="1">
                <a:solidFill>
                  <a:srgbClr val="6D3CC7"/>
                </a:solidFill>
                <a:latin typeface="Aptos"/>
                <a:ea typeface="Aptos"/>
                <a:cs typeface="Aptos"/>
              </a:defRPr>
            </a:pPr>
            <a:r>
              <a:rPr lang="en-US" sz="1600" b="1" dirty="0">
                <a:solidFill>
                  <a:srgbClr val="6D3CC7"/>
                </a:solidFill>
                <a:latin typeface="Aptos"/>
                <a:ea typeface="Aptos"/>
                <a:cs typeface="Aptos"/>
              </a:rPr>
              <a:t>F</a:t>
            </a:r>
            <a:r>
              <a:rPr sz="1600" b="1" dirty="0">
                <a:solidFill>
                  <a:srgbClr val="6D3CC7"/>
                </a:solidFill>
                <a:latin typeface="Aptos"/>
                <a:ea typeface="Aptos"/>
                <a:cs typeface="Aptos"/>
              </a:rPr>
              <a:t>ast-SP</a:t>
            </a:r>
          </a:p>
        </p:txBody>
      </p:sp>
      <p:sp>
        <p:nvSpPr>
          <p:cNvPr id="16" name="矩形 15">
            <a:extLst>
              <a:ext uri="{FF2B5EF4-FFF2-40B4-BE49-F238E27FC236}">
                <a16:creationId xmlns:a16="http://schemas.microsoft.com/office/drawing/2014/main" id="{9DF23763-7436-4681-992A-1C2FA88CCAAC}"/>
              </a:ext>
            </a:extLst>
          </p:cNvPr>
          <p:cNvSpPr>
            <a:spLocks noGrp="1"/>
          </p:cNvSpPr>
          <p:nvPr/>
        </p:nvSpPr>
        <p:spPr>
          <a:xfrm>
            <a:off x="9163050" y="1714500"/>
            <a:ext cx="1924050" cy="552450"/>
          </a:xfrm>
          <a:prstGeom prst="rect">
            <a:avLst/>
          </a:prstGeom>
          <a:noFill/>
          <a:ln w="0">
            <a:noFill/>
            <a:prstDash val="solid"/>
          </a:ln>
        </p:spPr>
        <p:txBody>
          <a:bodyPr lIns="0" tIns="0" rIns="0" bIns="0" anchor="t">
            <a:noAutofit/>
          </a:bodyPr>
          <a:lstStyle/>
          <a:p>
            <a:pPr algn="ctr">
              <a:buNone/>
              <a:defRPr sz="1275" b="1">
                <a:solidFill>
                  <a:srgbClr val="111827"/>
                </a:solidFill>
                <a:latin typeface="Aptos"/>
                <a:ea typeface="Aptos"/>
                <a:cs typeface="Aptos"/>
              </a:defRPr>
            </a:pPr>
            <a:r>
              <a:rPr sz="1400" b="1" dirty="0">
                <a:solidFill>
                  <a:srgbClr val="111827"/>
                </a:solidFill>
                <a:latin typeface="Aptos"/>
                <a:ea typeface="Aptos"/>
                <a:cs typeface="Aptos"/>
              </a:rPr>
              <a:t>Window approximation that reduces full-ranking cost</a:t>
            </a:r>
          </a:p>
        </p:txBody>
      </p:sp>
      <p:sp>
        <p:nvSpPr>
          <p:cNvPr id="17" name="矩形 16">
            <a:extLst>
              <a:ext uri="{FF2B5EF4-FFF2-40B4-BE49-F238E27FC236}">
                <a16:creationId xmlns:a16="http://schemas.microsoft.com/office/drawing/2014/main" id="{0822B96E-5164-4F72-A5E7-38E118D2FAE6}"/>
              </a:ext>
            </a:extLst>
          </p:cNvPr>
          <p:cNvSpPr>
            <a:spLocks noGrp="1"/>
          </p:cNvSpPr>
          <p:nvPr/>
        </p:nvSpPr>
        <p:spPr>
          <a:xfrm>
            <a:off x="457200" y="2876550"/>
            <a:ext cx="10934700" cy="285750"/>
          </a:xfrm>
          <a:prstGeom prst="rect">
            <a:avLst/>
          </a:prstGeom>
          <a:noFill/>
          <a:ln w="0">
            <a:noFill/>
            <a:prstDash val="solid"/>
          </a:ln>
        </p:spPr>
        <p:txBody>
          <a:bodyPr lIns="0" tIns="0" rIns="0" bIns="0" anchor="t">
            <a:normAutofit/>
          </a:bodyPr>
          <a:lstStyle/>
          <a:p>
            <a:pPr algn="ctr">
              <a:buNone/>
              <a:defRPr sz="1425" b="1">
                <a:solidFill>
                  <a:srgbClr val="2457D6"/>
                </a:solidFill>
                <a:latin typeface="Aptos"/>
                <a:ea typeface="Aptos"/>
                <a:cs typeface="Aptos"/>
              </a:defRPr>
            </a:pPr>
            <a:r>
              <a:rPr sz="1600" b="1" dirty="0">
                <a:solidFill>
                  <a:srgbClr val="2457D6"/>
                </a:solidFill>
                <a:latin typeface="Aptos"/>
                <a:ea typeface="Aptos"/>
                <a:cs typeface="Aptos"/>
              </a:rPr>
              <a:t>Each structure is paired with </a:t>
            </a:r>
            <a:r>
              <a:rPr sz="1600" b="1" dirty="0" err="1">
                <a:solidFill>
                  <a:srgbClr val="2457D6"/>
                </a:solidFill>
                <a:latin typeface="Aptos"/>
                <a:ea typeface="Aptos"/>
                <a:cs typeface="Aptos"/>
              </a:rPr>
              <a:t>RoPE</a:t>
            </a:r>
            <a:r>
              <a:rPr sz="1600" b="1" dirty="0">
                <a:solidFill>
                  <a:srgbClr val="2457D6"/>
                </a:solidFill>
                <a:latin typeface="Aptos"/>
                <a:ea typeface="Aptos"/>
                <a:cs typeface="Aptos"/>
              </a:rPr>
              <a:t> and CABLE; model seeds 41/42/43 produce 18 language models and 90 SAEs.</a:t>
            </a:r>
          </a:p>
        </p:txBody>
      </p:sp>
      <p:sp>
        <p:nvSpPr>
          <p:cNvPr id="18" name="矩形 17">
            <a:extLst>
              <a:ext uri="{FF2B5EF4-FFF2-40B4-BE49-F238E27FC236}">
                <a16:creationId xmlns:a16="http://schemas.microsoft.com/office/drawing/2014/main" id="{303D5633-6750-45E4-8B4D-D57E6393DEA0}"/>
              </a:ext>
            </a:extLst>
          </p:cNvPr>
          <p:cNvSpPr>
            <a:spLocks noGrp="1"/>
          </p:cNvSpPr>
          <p:nvPr/>
        </p:nvSpPr>
        <p:spPr>
          <a:xfrm>
            <a:off x="609600" y="3467100"/>
            <a:ext cx="3429000" cy="857250"/>
          </a:xfrm>
          <a:prstGeom prst="rect">
            <a:avLst/>
          </a:prstGeom>
          <a:solidFill>
            <a:srgbClr val="FFFFFF"/>
          </a:solidFill>
          <a:ln w="9525">
            <a:solidFill>
              <a:srgbClr val="D7DEE8"/>
            </a:solidFill>
            <a:prstDash val="solid"/>
          </a:ln>
        </p:spPr>
        <p:txBody>
          <a:bodyPr/>
          <a:lstStyle/>
          <a:p>
            <a:endParaRPr/>
          </a:p>
        </p:txBody>
      </p:sp>
      <p:sp>
        <p:nvSpPr>
          <p:cNvPr id="19" name="矩形 18">
            <a:extLst>
              <a:ext uri="{FF2B5EF4-FFF2-40B4-BE49-F238E27FC236}">
                <a16:creationId xmlns:a16="http://schemas.microsoft.com/office/drawing/2014/main" id="{41902349-5F86-4167-819E-90B6E5AE6AC8}"/>
              </a:ext>
            </a:extLst>
          </p:cNvPr>
          <p:cNvSpPr>
            <a:spLocks noGrp="1"/>
          </p:cNvSpPr>
          <p:nvPr/>
        </p:nvSpPr>
        <p:spPr>
          <a:xfrm>
            <a:off x="729673" y="3619500"/>
            <a:ext cx="889577" cy="24765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Structure</a:t>
            </a:r>
          </a:p>
        </p:txBody>
      </p:sp>
      <p:sp>
        <p:nvSpPr>
          <p:cNvPr id="20" name="矩形 19">
            <a:extLst>
              <a:ext uri="{FF2B5EF4-FFF2-40B4-BE49-F238E27FC236}">
                <a16:creationId xmlns:a16="http://schemas.microsoft.com/office/drawing/2014/main" id="{E41D7E7C-E204-49AD-9FDD-61CFE75BC7DC}"/>
              </a:ext>
            </a:extLst>
          </p:cNvPr>
          <p:cNvSpPr>
            <a:spLocks noGrp="1"/>
          </p:cNvSpPr>
          <p:nvPr/>
        </p:nvSpPr>
        <p:spPr>
          <a:xfrm>
            <a:off x="1733550" y="3619500"/>
            <a:ext cx="2076450" cy="4572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FFN activation density</a:t>
            </a:r>
          </a:p>
        </p:txBody>
      </p:sp>
      <p:sp>
        <p:nvSpPr>
          <p:cNvPr id="21" name="矩形 20">
            <a:extLst>
              <a:ext uri="{FF2B5EF4-FFF2-40B4-BE49-F238E27FC236}">
                <a16:creationId xmlns:a16="http://schemas.microsoft.com/office/drawing/2014/main" id="{56AF2A91-AC5A-4A28-AB75-44BCF30FFD9E}"/>
              </a:ext>
            </a:extLst>
          </p:cNvPr>
          <p:cNvSpPr>
            <a:spLocks noGrp="1"/>
          </p:cNvSpPr>
          <p:nvPr/>
        </p:nvSpPr>
        <p:spPr>
          <a:xfrm>
            <a:off x="4267200" y="3467100"/>
            <a:ext cx="3429000" cy="857250"/>
          </a:xfrm>
          <a:prstGeom prst="rect">
            <a:avLst/>
          </a:prstGeom>
          <a:solidFill>
            <a:srgbClr val="FFFFFF"/>
          </a:solidFill>
          <a:ln w="9525">
            <a:solidFill>
              <a:srgbClr val="D7DEE8"/>
            </a:solidFill>
            <a:prstDash val="solid"/>
          </a:ln>
        </p:spPr>
        <p:txBody>
          <a:bodyPr/>
          <a:lstStyle/>
          <a:p>
            <a:endParaRPr/>
          </a:p>
        </p:txBody>
      </p:sp>
      <p:sp>
        <p:nvSpPr>
          <p:cNvPr id="22" name="矩形 21">
            <a:extLst>
              <a:ext uri="{FF2B5EF4-FFF2-40B4-BE49-F238E27FC236}">
                <a16:creationId xmlns:a16="http://schemas.microsoft.com/office/drawing/2014/main" id="{0EC42636-6CDA-4144-98B3-43BB5A9C21FE}"/>
              </a:ext>
            </a:extLst>
          </p:cNvPr>
          <p:cNvSpPr>
            <a:spLocks noGrp="1"/>
          </p:cNvSpPr>
          <p:nvPr/>
        </p:nvSpPr>
        <p:spPr>
          <a:xfrm>
            <a:off x="4457700" y="3619500"/>
            <a:ext cx="819150" cy="247650"/>
          </a:xfrm>
          <a:prstGeom prst="rect">
            <a:avLst/>
          </a:prstGeom>
          <a:noFill/>
          <a:ln w="0">
            <a:noFill/>
            <a:prstDash val="solid"/>
          </a:ln>
        </p:spPr>
        <p:txBody>
          <a:bodyPr lIns="0" tIns="0" rIns="0" bIns="0" anchor="t">
            <a:norm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Fidelity</a:t>
            </a:r>
          </a:p>
        </p:txBody>
      </p:sp>
      <p:sp>
        <p:nvSpPr>
          <p:cNvPr id="23" name="矩形 22">
            <a:extLst>
              <a:ext uri="{FF2B5EF4-FFF2-40B4-BE49-F238E27FC236}">
                <a16:creationId xmlns:a16="http://schemas.microsoft.com/office/drawing/2014/main" id="{00D988A2-7963-4CB4-B38E-9F71A1C3EC6F}"/>
              </a:ext>
            </a:extLst>
          </p:cNvPr>
          <p:cNvSpPr>
            <a:spLocks noGrp="1"/>
          </p:cNvSpPr>
          <p:nvPr/>
        </p:nvSpPr>
        <p:spPr>
          <a:xfrm>
            <a:off x="5391150" y="3619500"/>
            <a:ext cx="2076450" cy="4572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SAE NMSE and loss recovery</a:t>
            </a:r>
          </a:p>
        </p:txBody>
      </p:sp>
      <p:sp>
        <p:nvSpPr>
          <p:cNvPr id="24" name="矩形 23">
            <a:extLst>
              <a:ext uri="{FF2B5EF4-FFF2-40B4-BE49-F238E27FC236}">
                <a16:creationId xmlns:a16="http://schemas.microsoft.com/office/drawing/2014/main" id="{BB54326A-1BCC-472F-8EFD-032F53B7251B}"/>
              </a:ext>
            </a:extLst>
          </p:cNvPr>
          <p:cNvSpPr>
            <a:spLocks noGrp="1"/>
          </p:cNvSpPr>
          <p:nvPr/>
        </p:nvSpPr>
        <p:spPr>
          <a:xfrm>
            <a:off x="7924800" y="3467100"/>
            <a:ext cx="3429000" cy="857250"/>
          </a:xfrm>
          <a:prstGeom prst="rect">
            <a:avLst/>
          </a:prstGeom>
          <a:solidFill>
            <a:srgbClr val="FFFFFF"/>
          </a:solidFill>
          <a:ln w="9525">
            <a:solidFill>
              <a:srgbClr val="D7DEE8"/>
            </a:solidFill>
            <a:prstDash val="solid"/>
          </a:ln>
        </p:spPr>
        <p:txBody>
          <a:bodyPr/>
          <a:lstStyle/>
          <a:p>
            <a:endParaRPr/>
          </a:p>
        </p:txBody>
      </p:sp>
      <p:sp>
        <p:nvSpPr>
          <p:cNvPr id="25" name="矩形 24">
            <a:extLst>
              <a:ext uri="{FF2B5EF4-FFF2-40B4-BE49-F238E27FC236}">
                <a16:creationId xmlns:a16="http://schemas.microsoft.com/office/drawing/2014/main" id="{4846AF1E-1061-440A-B745-710183D0901E}"/>
              </a:ext>
            </a:extLst>
          </p:cNvPr>
          <p:cNvSpPr>
            <a:spLocks noGrp="1"/>
          </p:cNvSpPr>
          <p:nvPr/>
        </p:nvSpPr>
        <p:spPr>
          <a:xfrm>
            <a:off x="8020050" y="3600450"/>
            <a:ext cx="1009650" cy="24765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Semantics</a:t>
            </a:r>
          </a:p>
        </p:txBody>
      </p:sp>
      <p:sp>
        <p:nvSpPr>
          <p:cNvPr id="26" name="矩形 25">
            <a:extLst>
              <a:ext uri="{FF2B5EF4-FFF2-40B4-BE49-F238E27FC236}">
                <a16:creationId xmlns:a16="http://schemas.microsoft.com/office/drawing/2014/main" id="{B9154CDD-10FF-4263-9980-F1AA23B95EEE}"/>
              </a:ext>
            </a:extLst>
          </p:cNvPr>
          <p:cNvSpPr>
            <a:spLocks noGrp="1"/>
          </p:cNvSpPr>
          <p:nvPr/>
        </p:nvSpPr>
        <p:spPr>
          <a:xfrm>
            <a:off x="9086850" y="3600450"/>
            <a:ext cx="2076450" cy="4572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AUPRC, hard negatives, and context consistency</a:t>
            </a:r>
          </a:p>
        </p:txBody>
      </p:sp>
      <p:sp>
        <p:nvSpPr>
          <p:cNvPr id="27" name="矩形 26">
            <a:extLst>
              <a:ext uri="{FF2B5EF4-FFF2-40B4-BE49-F238E27FC236}">
                <a16:creationId xmlns:a16="http://schemas.microsoft.com/office/drawing/2014/main" id="{83DC6576-68F9-453F-8692-45CC2C2495D2}"/>
              </a:ext>
            </a:extLst>
          </p:cNvPr>
          <p:cNvSpPr>
            <a:spLocks noGrp="1"/>
          </p:cNvSpPr>
          <p:nvPr/>
        </p:nvSpPr>
        <p:spPr>
          <a:xfrm>
            <a:off x="609600" y="4572000"/>
            <a:ext cx="3429000" cy="857250"/>
          </a:xfrm>
          <a:prstGeom prst="rect">
            <a:avLst/>
          </a:prstGeom>
          <a:solidFill>
            <a:srgbClr val="FFFFFF"/>
          </a:solidFill>
          <a:ln w="9525">
            <a:solidFill>
              <a:srgbClr val="D7DEE8"/>
            </a:solidFill>
            <a:prstDash val="solid"/>
          </a:ln>
        </p:spPr>
        <p:txBody>
          <a:bodyPr/>
          <a:lstStyle/>
          <a:p>
            <a:endParaRPr/>
          </a:p>
        </p:txBody>
      </p:sp>
      <p:sp>
        <p:nvSpPr>
          <p:cNvPr id="28" name="矩形 27">
            <a:extLst>
              <a:ext uri="{FF2B5EF4-FFF2-40B4-BE49-F238E27FC236}">
                <a16:creationId xmlns:a16="http://schemas.microsoft.com/office/drawing/2014/main" id="{DDDDD148-E515-446E-8B0F-9E9D9AAB9061}"/>
              </a:ext>
            </a:extLst>
          </p:cNvPr>
          <p:cNvSpPr>
            <a:spLocks noGrp="1"/>
          </p:cNvSpPr>
          <p:nvPr/>
        </p:nvSpPr>
        <p:spPr>
          <a:xfrm>
            <a:off x="729673" y="4724400"/>
            <a:ext cx="889577" cy="24765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Causality</a:t>
            </a:r>
          </a:p>
        </p:txBody>
      </p:sp>
      <p:sp>
        <p:nvSpPr>
          <p:cNvPr id="29" name="矩形 28">
            <a:extLst>
              <a:ext uri="{FF2B5EF4-FFF2-40B4-BE49-F238E27FC236}">
                <a16:creationId xmlns:a16="http://schemas.microsoft.com/office/drawing/2014/main" id="{B08F66E7-2124-431F-A5E8-A5EF9813FD32}"/>
              </a:ext>
            </a:extLst>
          </p:cNvPr>
          <p:cNvSpPr>
            <a:spLocks noGrp="1"/>
          </p:cNvSpPr>
          <p:nvPr/>
        </p:nvSpPr>
        <p:spPr>
          <a:xfrm>
            <a:off x="1733550" y="4724400"/>
            <a:ext cx="2076450" cy="4572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Necessity, sufficiency, and local side effects</a:t>
            </a:r>
          </a:p>
        </p:txBody>
      </p:sp>
      <p:sp>
        <p:nvSpPr>
          <p:cNvPr id="30" name="矩形 29">
            <a:extLst>
              <a:ext uri="{FF2B5EF4-FFF2-40B4-BE49-F238E27FC236}">
                <a16:creationId xmlns:a16="http://schemas.microsoft.com/office/drawing/2014/main" id="{FB4A1068-917C-4869-8088-2FCCB8D25B19}"/>
              </a:ext>
            </a:extLst>
          </p:cNvPr>
          <p:cNvSpPr>
            <a:spLocks noGrp="1"/>
          </p:cNvSpPr>
          <p:nvPr/>
        </p:nvSpPr>
        <p:spPr>
          <a:xfrm>
            <a:off x="4267200" y="4572000"/>
            <a:ext cx="3429000" cy="857250"/>
          </a:xfrm>
          <a:prstGeom prst="rect">
            <a:avLst/>
          </a:prstGeom>
          <a:solidFill>
            <a:srgbClr val="FFFFFF"/>
          </a:solidFill>
          <a:ln w="9525">
            <a:solidFill>
              <a:srgbClr val="D7DEE8"/>
            </a:solidFill>
            <a:prstDash val="solid"/>
          </a:ln>
        </p:spPr>
        <p:txBody>
          <a:bodyPr/>
          <a:lstStyle/>
          <a:p>
            <a:endParaRPr/>
          </a:p>
        </p:txBody>
      </p:sp>
      <p:sp>
        <p:nvSpPr>
          <p:cNvPr id="31" name="矩形 30">
            <a:extLst>
              <a:ext uri="{FF2B5EF4-FFF2-40B4-BE49-F238E27FC236}">
                <a16:creationId xmlns:a16="http://schemas.microsoft.com/office/drawing/2014/main" id="{2681F8D0-7F44-4222-BFB6-ED11150F555F}"/>
              </a:ext>
            </a:extLst>
          </p:cNvPr>
          <p:cNvSpPr>
            <a:spLocks noGrp="1"/>
          </p:cNvSpPr>
          <p:nvPr/>
        </p:nvSpPr>
        <p:spPr>
          <a:xfrm>
            <a:off x="4457700" y="4724400"/>
            <a:ext cx="819150" cy="247650"/>
          </a:xfrm>
          <a:prstGeom prst="rect">
            <a:avLst/>
          </a:prstGeom>
          <a:noFill/>
          <a:ln w="0">
            <a:noFill/>
            <a:prstDash val="solid"/>
          </a:ln>
        </p:spPr>
        <p:txBody>
          <a:bodyPr lIns="0" tIns="0" rIns="0" bIns="0" anchor="t">
            <a:norm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Task</a:t>
            </a:r>
          </a:p>
        </p:txBody>
      </p:sp>
      <p:sp>
        <p:nvSpPr>
          <p:cNvPr id="32" name="矩形 31">
            <a:extLst>
              <a:ext uri="{FF2B5EF4-FFF2-40B4-BE49-F238E27FC236}">
                <a16:creationId xmlns:a16="http://schemas.microsoft.com/office/drawing/2014/main" id="{A3A1196A-4681-42D8-835F-284510F4464F}"/>
              </a:ext>
            </a:extLst>
          </p:cNvPr>
          <p:cNvSpPr>
            <a:spLocks noGrp="1"/>
          </p:cNvSpPr>
          <p:nvPr/>
        </p:nvSpPr>
        <p:spPr>
          <a:xfrm>
            <a:off x="5391150" y="4724400"/>
            <a:ext cx="2076450" cy="4572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Validation cross-entropy</a:t>
            </a:r>
          </a:p>
        </p:txBody>
      </p:sp>
      <p:sp>
        <p:nvSpPr>
          <p:cNvPr id="33" name="矩形 32">
            <a:extLst>
              <a:ext uri="{FF2B5EF4-FFF2-40B4-BE49-F238E27FC236}">
                <a16:creationId xmlns:a16="http://schemas.microsoft.com/office/drawing/2014/main" id="{BF1DBB3D-41BA-4C82-8C9D-20BD401B9276}"/>
              </a:ext>
            </a:extLst>
          </p:cNvPr>
          <p:cNvSpPr>
            <a:spLocks noGrp="1"/>
          </p:cNvSpPr>
          <p:nvPr/>
        </p:nvSpPr>
        <p:spPr>
          <a:xfrm>
            <a:off x="7924800" y="4572000"/>
            <a:ext cx="3429000" cy="857250"/>
          </a:xfrm>
          <a:prstGeom prst="rect">
            <a:avLst/>
          </a:prstGeom>
          <a:solidFill>
            <a:srgbClr val="FFFFFF"/>
          </a:solidFill>
          <a:ln w="9525">
            <a:solidFill>
              <a:srgbClr val="D7DEE8"/>
            </a:solidFill>
            <a:prstDash val="solid"/>
          </a:ln>
        </p:spPr>
        <p:txBody>
          <a:bodyPr/>
          <a:lstStyle/>
          <a:p>
            <a:endParaRPr/>
          </a:p>
        </p:txBody>
      </p:sp>
      <p:sp>
        <p:nvSpPr>
          <p:cNvPr id="34" name="矩形 33">
            <a:extLst>
              <a:ext uri="{FF2B5EF4-FFF2-40B4-BE49-F238E27FC236}">
                <a16:creationId xmlns:a16="http://schemas.microsoft.com/office/drawing/2014/main" id="{528F56CB-2626-4715-8405-FBE3E42577AC}"/>
              </a:ext>
            </a:extLst>
          </p:cNvPr>
          <p:cNvSpPr>
            <a:spLocks noGrp="1"/>
          </p:cNvSpPr>
          <p:nvPr/>
        </p:nvSpPr>
        <p:spPr>
          <a:xfrm>
            <a:off x="8115300" y="4724400"/>
            <a:ext cx="819150" cy="247650"/>
          </a:xfrm>
          <a:prstGeom prst="rect">
            <a:avLst/>
          </a:prstGeom>
          <a:noFill/>
          <a:ln w="0">
            <a:noFill/>
            <a:prstDash val="solid"/>
          </a:ln>
        </p:spPr>
        <p:txBody>
          <a:bodyPr lIns="0" tIns="0" rIns="0" bIns="0" anchor="t">
            <a:norm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Cost</a:t>
            </a:r>
          </a:p>
        </p:txBody>
      </p:sp>
      <p:sp>
        <p:nvSpPr>
          <p:cNvPr id="35" name="矩形 34">
            <a:extLst>
              <a:ext uri="{FF2B5EF4-FFF2-40B4-BE49-F238E27FC236}">
                <a16:creationId xmlns:a16="http://schemas.microsoft.com/office/drawing/2014/main" id="{ABDE3EB5-0D9A-47C5-82EA-18FE32A7E541}"/>
              </a:ext>
            </a:extLst>
          </p:cNvPr>
          <p:cNvSpPr>
            <a:spLocks noGrp="1"/>
          </p:cNvSpPr>
          <p:nvPr/>
        </p:nvSpPr>
        <p:spPr>
          <a:xfrm>
            <a:off x="9086850" y="4743450"/>
            <a:ext cx="2076450" cy="4572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Training time and throughput</a:t>
            </a:r>
          </a:p>
        </p:txBody>
      </p:sp>
      <p:sp>
        <p:nvSpPr>
          <p:cNvPr id="36" name="矩形 35">
            <a:extLst>
              <a:ext uri="{FF2B5EF4-FFF2-40B4-BE49-F238E27FC236}">
                <a16:creationId xmlns:a16="http://schemas.microsoft.com/office/drawing/2014/main" id="{D45AA5F5-300E-4C58-A71C-5307BFA7CE72}"/>
              </a:ext>
            </a:extLst>
          </p:cNvPr>
          <p:cNvSpPr>
            <a:spLocks noGrp="1"/>
          </p:cNvSpPr>
          <p:nvPr/>
        </p:nvSpPr>
        <p:spPr>
          <a:xfrm>
            <a:off x="609600" y="5905500"/>
            <a:ext cx="10934700" cy="247650"/>
          </a:xfrm>
          <a:prstGeom prst="rect">
            <a:avLst/>
          </a:prstGeom>
          <a:noFill/>
          <a:ln w="0">
            <a:noFill/>
            <a:prstDash val="solid"/>
          </a:ln>
        </p:spPr>
        <p:txBody>
          <a:bodyPr lIns="0" tIns="0" rIns="0" bIns="0" anchor="t">
            <a:noAutofit/>
          </a:bodyPr>
          <a:lstStyle/>
          <a:p>
            <a:pPr algn="ctr">
              <a:buNone/>
              <a:defRPr sz="1275" b="1">
                <a:solidFill>
                  <a:srgbClr val="111827"/>
                </a:solidFill>
                <a:latin typeface="Aptos"/>
                <a:ea typeface="Aptos"/>
                <a:cs typeface="Aptos"/>
              </a:defRPr>
            </a:pPr>
            <a:r>
              <a:rPr sz="1600" b="1" dirty="0">
                <a:solidFill>
                  <a:srgbClr val="111827"/>
                </a:solidFill>
                <a:latin typeface="Aptos"/>
                <a:ea typeface="Aptos"/>
                <a:cs typeface="Aptos"/>
              </a:rPr>
              <a:t>The primary result fixes SAE k=64 in advance; three independent model seeds are the statistical units, with FDR correction.</a:t>
            </a:r>
          </a:p>
        </p:txBody>
      </p:sp>
    </p:spTree>
    <p:extLst>
      <p:ext uri="{BB962C8B-B14F-4D97-AF65-F5344CB8AC3E}">
        <p14:creationId xmlns:p14="http://schemas.microsoft.com/office/powerpoint/2010/main" val="1381751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79816F12-69D6-4CF0-B69C-90140B847BBD}"/>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2: results and conclusion</a:t>
            </a:r>
          </a:p>
        </p:txBody>
      </p:sp>
      <p:sp>
        <p:nvSpPr>
          <p:cNvPr id="2" name="矩形 1">
            <a:extLst>
              <a:ext uri="{FF2B5EF4-FFF2-40B4-BE49-F238E27FC236}">
                <a16:creationId xmlns:a16="http://schemas.microsoft.com/office/drawing/2014/main" id="{BD6694AF-B342-44C6-A0F3-5885BF2EC9E3}"/>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86949" lnSpcReduction="20000"/>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Sparsity improved compressibility without jointly improving semantics or causal locality</a:t>
            </a:r>
          </a:p>
        </p:txBody>
      </p:sp>
      <p:sp>
        <p:nvSpPr>
          <p:cNvPr id="3" name="直接连接符 2">
            <a:extLst>
              <a:ext uri="{FF2B5EF4-FFF2-40B4-BE49-F238E27FC236}">
                <a16:creationId xmlns:a16="http://schemas.microsoft.com/office/drawing/2014/main" id="{FC3936B1-4ADF-417F-AEB0-DC80A5C30389}"/>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994663AC-3F10-40C9-AB18-F20801841108}"/>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18</a:t>
            </a:r>
          </a:p>
        </p:txBody>
      </p:sp>
      <p:sp>
        <p:nvSpPr>
          <p:cNvPr id="5" name="矩形 4">
            <a:extLst>
              <a:ext uri="{FF2B5EF4-FFF2-40B4-BE49-F238E27FC236}">
                <a16:creationId xmlns:a16="http://schemas.microsoft.com/office/drawing/2014/main" id="{31C1E721-446A-4DEE-B625-593D2B4661ED}"/>
              </a:ext>
            </a:extLst>
          </p:cNvPr>
          <p:cNvSpPr>
            <a:spLocks noGrp="1"/>
          </p:cNvSpPr>
          <p:nvPr/>
        </p:nvSpPr>
        <p:spPr>
          <a:xfrm>
            <a:off x="533400" y="1504950"/>
            <a:ext cx="6762750" cy="4038600"/>
          </a:xfrm>
          <a:prstGeom prst="rect">
            <a:avLst/>
          </a:prstGeom>
          <a:solidFill>
            <a:srgbClr val="F1F5F9"/>
          </a:solidFill>
          <a:ln w="0">
            <a:solidFill>
              <a:srgbClr val="F1F5F9"/>
            </a:solidFill>
            <a:prstDash val="solid"/>
          </a:ln>
        </p:spPr>
        <p:txBody>
          <a:bodyPr/>
          <a:lstStyle/>
          <a:p>
            <a:endParaRPr/>
          </a:p>
        </p:txBody>
      </p:sp>
      <p:pic>
        <p:nvPicPr>
          <p:cNvPr id="27" name="图片 24"/>
          <p:cNvPicPr>
            <a:picLocks noChangeAspect="1"/>
          </p:cNvPicPr>
          <p:nvPr/>
        </p:nvPicPr>
        <p:blipFill>
          <a:blip r:embed="rId3"/>
          <a:stretch/>
        </p:blipFill>
        <p:spPr>
          <a:xfrm>
            <a:off x="1019175" y="1676400"/>
            <a:ext cx="5791200" cy="3619500"/>
          </a:xfrm>
          <a:prstGeom prst="rect">
            <a:avLst/>
          </a:prstGeom>
        </p:spPr>
      </p:pic>
      <p:sp>
        <p:nvSpPr>
          <p:cNvPr id="7" name="矩形 6">
            <a:extLst>
              <a:ext uri="{FF2B5EF4-FFF2-40B4-BE49-F238E27FC236}">
                <a16:creationId xmlns:a16="http://schemas.microsoft.com/office/drawing/2014/main" id="{A4DF9018-BF77-4303-A861-161D464A77E2}"/>
              </a:ext>
            </a:extLst>
          </p:cNvPr>
          <p:cNvSpPr>
            <a:spLocks noGrp="1"/>
          </p:cNvSpPr>
          <p:nvPr/>
        </p:nvSpPr>
        <p:spPr>
          <a:xfrm>
            <a:off x="7581900" y="1504950"/>
            <a:ext cx="3905250" cy="1047750"/>
          </a:xfrm>
          <a:prstGeom prst="rect">
            <a:avLst/>
          </a:prstGeom>
          <a:solidFill>
            <a:srgbClr val="E7F7F3"/>
          </a:solidFill>
          <a:ln w="9525">
            <a:solidFill>
              <a:srgbClr val="D7DEE8"/>
            </a:solidFill>
            <a:prstDash val="solid"/>
          </a:ln>
        </p:spPr>
        <p:txBody>
          <a:bodyPr/>
          <a:lstStyle/>
          <a:p>
            <a:endParaRPr/>
          </a:p>
        </p:txBody>
      </p:sp>
      <p:sp>
        <p:nvSpPr>
          <p:cNvPr id="8" name="矩形 7">
            <a:extLst>
              <a:ext uri="{FF2B5EF4-FFF2-40B4-BE49-F238E27FC236}">
                <a16:creationId xmlns:a16="http://schemas.microsoft.com/office/drawing/2014/main" id="{DF9375C5-4DDF-4052-A59A-00CD7DE86206}"/>
              </a:ext>
            </a:extLst>
          </p:cNvPr>
          <p:cNvSpPr>
            <a:spLocks noGrp="1"/>
          </p:cNvSpPr>
          <p:nvPr/>
        </p:nvSpPr>
        <p:spPr>
          <a:xfrm>
            <a:off x="7581900" y="1504950"/>
            <a:ext cx="76200" cy="1047750"/>
          </a:xfrm>
          <a:prstGeom prst="rect">
            <a:avLst/>
          </a:prstGeom>
          <a:solidFill>
            <a:srgbClr val="0F766E"/>
          </a:solidFill>
          <a:ln w="0">
            <a:solidFill>
              <a:srgbClr val="0F766E"/>
            </a:solidFill>
            <a:prstDash val="solid"/>
          </a:ln>
        </p:spPr>
        <p:txBody>
          <a:bodyPr/>
          <a:lstStyle/>
          <a:p>
            <a:endParaRPr/>
          </a:p>
        </p:txBody>
      </p:sp>
      <p:sp>
        <p:nvSpPr>
          <p:cNvPr id="9" name="矩形 8">
            <a:extLst>
              <a:ext uri="{FF2B5EF4-FFF2-40B4-BE49-F238E27FC236}">
                <a16:creationId xmlns:a16="http://schemas.microsoft.com/office/drawing/2014/main" id="{FBF105DF-6927-491B-8522-FDB244CA0D55}"/>
              </a:ext>
            </a:extLst>
          </p:cNvPr>
          <p:cNvSpPr>
            <a:spLocks noGrp="1"/>
          </p:cNvSpPr>
          <p:nvPr/>
        </p:nvSpPr>
        <p:spPr>
          <a:xfrm>
            <a:off x="7810500" y="1657350"/>
            <a:ext cx="3543300" cy="361950"/>
          </a:xfrm>
          <a:prstGeom prst="rect">
            <a:avLst/>
          </a:prstGeom>
          <a:noFill/>
          <a:ln w="0">
            <a:noFill/>
            <a:prstDash val="solid"/>
          </a:ln>
        </p:spPr>
        <p:txBody>
          <a:bodyPr lIns="0" tIns="0" rIns="0" bIns="0" anchor="t">
            <a:normAutofit/>
          </a:bodyPr>
          <a:lstStyle/>
          <a:p>
            <a:pPr algn="l">
              <a:buNone/>
              <a:defRPr sz="2100" b="1">
                <a:solidFill>
                  <a:srgbClr val="111827"/>
                </a:solidFill>
                <a:latin typeface="Aptos"/>
                <a:ea typeface="Aptos"/>
                <a:cs typeface="Aptos"/>
              </a:defRPr>
            </a:pPr>
            <a:r>
              <a:rPr sz="2100" b="1">
                <a:solidFill>
                  <a:srgbClr val="111827"/>
                </a:solidFill>
                <a:latin typeface="Aptos"/>
                <a:ea typeface="Aptos"/>
                <a:cs typeface="Aptos"/>
              </a:rPr>
              <a:t>9.17%</a:t>
            </a:r>
          </a:p>
        </p:txBody>
      </p:sp>
      <p:sp>
        <p:nvSpPr>
          <p:cNvPr id="10" name="矩形 9">
            <a:extLst>
              <a:ext uri="{FF2B5EF4-FFF2-40B4-BE49-F238E27FC236}">
                <a16:creationId xmlns:a16="http://schemas.microsoft.com/office/drawing/2014/main" id="{6801666A-7B25-4811-8C29-B88A285D8C73}"/>
              </a:ext>
            </a:extLst>
          </p:cNvPr>
          <p:cNvSpPr>
            <a:spLocks noGrp="1"/>
          </p:cNvSpPr>
          <p:nvPr/>
        </p:nvSpPr>
        <p:spPr>
          <a:xfrm>
            <a:off x="7800975" y="1979468"/>
            <a:ext cx="3543300" cy="34290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SP-</a:t>
            </a:r>
            <a:r>
              <a:rPr sz="1400" b="0" dirty="0" err="1">
                <a:solidFill>
                  <a:srgbClr val="5B6472"/>
                </a:solidFill>
                <a:latin typeface="Aptos"/>
                <a:ea typeface="Aptos"/>
                <a:cs typeface="Aptos"/>
              </a:rPr>
              <a:t>RoPE</a:t>
            </a:r>
            <a:r>
              <a:rPr sz="1400" b="0" dirty="0">
                <a:solidFill>
                  <a:srgbClr val="5B6472"/>
                </a:solidFill>
                <a:latin typeface="Aptos"/>
                <a:ea typeface="Aptos"/>
                <a:cs typeface="Aptos"/>
              </a:rPr>
              <a:t> FFN activation density</a:t>
            </a:r>
          </a:p>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Base-</a:t>
            </a:r>
            <a:r>
              <a:rPr sz="1400" b="0" dirty="0" err="1">
                <a:solidFill>
                  <a:srgbClr val="5B6472"/>
                </a:solidFill>
                <a:latin typeface="Aptos"/>
                <a:ea typeface="Aptos"/>
                <a:cs typeface="Aptos"/>
              </a:rPr>
              <a:t>RoPE</a:t>
            </a:r>
            <a:r>
              <a:rPr sz="1400" b="0" dirty="0">
                <a:solidFill>
                  <a:srgbClr val="5B6472"/>
                </a:solidFill>
                <a:latin typeface="Aptos"/>
                <a:ea typeface="Aptos"/>
                <a:cs typeface="Aptos"/>
              </a:rPr>
              <a:t>: 100%</a:t>
            </a:r>
          </a:p>
        </p:txBody>
      </p:sp>
      <p:sp>
        <p:nvSpPr>
          <p:cNvPr id="11" name="矩形 10">
            <a:extLst>
              <a:ext uri="{FF2B5EF4-FFF2-40B4-BE49-F238E27FC236}">
                <a16:creationId xmlns:a16="http://schemas.microsoft.com/office/drawing/2014/main" id="{26079E20-1B41-44B2-9179-12A104981880}"/>
              </a:ext>
            </a:extLst>
          </p:cNvPr>
          <p:cNvSpPr>
            <a:spLocks noGrp="1"/>
          </p:cNvSpPr>
          <p:nvPr/>
        </p:nvSpPr>
        <p:spPr>
          <a:xfrm>
            <a:off x="7581900" y="2724150"/>
            <a:ext cx="3905250" cy="1047750"/>
          </a:xfrm>
          <a:prstGeom prst="rect">
            <a:avLst/>
          </a:prstGeom>
          <a:solidFill>
            <a:srgbClr val="EAF1FF"/>
          </a:solidFill>
          <a:ln w="9525">
            <a:solidFill>
              <a:srgbClr val="D7DEE8"/>
            </a:solidFill>
            <a:prstDash val="solid"/>
          </a:ln>
        </p:spPr>
        <p:txBody>
          <a:bodyPr/>
          <a:lstStyle/>
          <a:p>
            <a:endParaRPr/>
          </a:p>
        </p:txBody>
      </p:sp>
      <p:sp>
        <p:nvSpPr>
          <p:cNvPr id="12" name="矩形 11">
            <a:extLst>
              <a:ext uri="{FF2B5EF4-FFF2-40B4-BE49-F238E27FC236}">
                <a16:creationId xmlns:a16="http://schemas.microsoft.com/office/drawing/2014/main" id="{96B2E510-B6B2-422C-8C54-F07357FFD522}"/>
              </a:ext>
            </a:extLst>
          </p:cNvPr>
          <p:cNvSpPr>
            <a:spLocks noGrp="1"/>
          </p:cNvSpPr>
          <p:nvPr/>
        </p:nvSpPr>
        <p:spPr>
          <a:xfrm>
            <a:off x="7581900" y="2724150"/>
            <a:ext cx="76200" cy="1047750"/>
          </a:xfrm>
          <a:prstGeom prst="rect">
            <a:avLst/>
          </a:prstGeom>
          <a:solidFill>
            <a:srgbClr val="2457D6"/>
          </a:solidFill>
          <a:ln w="0">
            <a:solidFill>
              <a:srgbClr val="2457D6"/>
            </a:solidFill>
            <a:prstDash val="solid"/>
          </a:ln>
        </p:spPr>
        <p:txBody>
          <a:bodyPr/>
          <a:lstStyle/>
          <a:p>
            <a:endParaRPr/>
          </a:p>
        </p:txBody>
      </p:sp>
      <p:sp>
        <p:nvSpPr>
          <p:cNvPr id="13" name="矩形 12">
            <a:extLst>
              <a:ext uri="{FF2B5EF4-FFF2-40B4-BE49-F238E27FC236}">
                <a16:creationId xmlns:a16="http://schemas.microsoft.com/office/drawing/2014/main" id="{D691B495-9138-4BD5-BBB3-D10693639641}"/>
              </a:ext>
            </a:extLst>
          </p:cNvPr>
          <p:cNvSpPr>
            <a:spLocks noGrp="1"/>
          </p:cNvSpPr>
          <p:nvPr/>
        </p:nvSpPr>
        <p:spPr>
          <a:xfrm>
            <a:off x="7810500" y="2876550"/>
            <a:ext cx="3543300" cy="361950"/>
          </a:xfrm>
          <a:prstGeom prst="rect">
            <a:avLst/>
          </a:prstGeom>
          <a:noFill/>
          <a:ln w="0">
            <a:noFill/>
            <a:prstDash val="solid"/>
          </a:ln>
        </p:spPr>
        <p:txBody>
          <a:bodyPr lIns="0" tIns="0" rIns="0" bIns="0" anchor="t">
            <a:normAutofit/>
          </a:bodyPr>
          <a:lstStyle/>
          <a:p>
            <a:pPr algn="l">
              <a:buNone/>
              <a:defRPr sz="2100" b="1">
                <a:solidFill>
                  <a:srgbClr val="111827"/>
                </a:solidFill>
                <a:latin typeface="Aptos"/>
                <a:ea typeface="Aptos"/>
                <a:cs typeface="Aptos"/>
              </a:defRPr>
            </a:pPr>
            <a:r>
              <a:rPr sz="2100" b="1">
                <a:solidFill>
                  <a:srgbClr val="111827"/>
                </a:solidFill>
                <a:latin typeface="Aptos"/>
                <a:ea typeface="Aptos"/>
                <a:cs typeface="Aptos"/>
              </a:rPr>
              <a:t>−17.89%</a:t>
            </a:r>
          </a:p>
        </p:txBody>
      </p:sp>
      <p:sp>
        <p:nvSpPr>
          <p:cNvPr id="14" name="矩形 13">
            <a:extLst>
              <a:ext uri="{FF2B5EF4-FFF2-40B4-BE49-F238E27FC236}">
                <a16:creationId xmlns:a16="http://schemas.microsoft.com/office/drawing/2014/main" id="{9E6E1334-5061-422E-B463-B3E536317B72}"/>
              </a:ext>
            </a:extLst>
          </p:cNvPr>
          <p:cNvSpPr>
            <a:spLocks noGrp="1"/>
          </p:cNvSpPr>
          <p:nvPr/>
        </p:nvSpPr>
        <p:spPr>
          <a:xfrm>
            <a:off x="7810500" y="3209924"/>
            <a:ext cx="3543300" cy="34290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SAE NMSE relative to Base-</a:t>
            </a:r>
            <a:r>
              <a:rPr sz="1400" b="0" dirty="0" err="1">
                <a:solidFill>
                  <a:srgbClr val="5B6472"/>
                </a:solidFill>
                <a:latin typeface="Aptos"/>
                <a:ea typeface="Aptos"/>
                <a:cs typeface="Aptos"/>
              </a:rPr>
              <a:t>RoPE</a:t>
            </a:r>
            <a:endParaRPr sz="1400" b="0" dirty="0">
              <a:solidFill>
                <a:srgbClr val="5B6472"/>
              </a:solidFill>
              <a:latin typeface="Aptos"/>
              <a:ea typeface="Aptos"/>
              <a:cs typeface="Aptos"/>
            </a:endParaRPr>
          </a:p>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0.1220 versus 0.1485</a:t>
            </a:r>
          </a:p>
        </p:txBody>
      </p:sp>
      <p:sp>
        <p:nvSpPr>
          <p:cNvPr id="15" name="矩形 14">
            <a:extLst>
              <a:ext uri="{FF2B5EF4-FFF2-40B4-BE49-F238E27FC236}">
                <a16:creationId xmlns:a16="http://schemas.microsoft.com/office/drawing/2014/main" id="{35F99FA5-573F-4F9B-884C-14A432811761}"/>
              </a:ext>
            </a:extLst>
          </p:cNvPr>
          <p:cNvSpPr>
            <a:spLocks noGrp="1"/>
          </p:cNvSpPr>
          <p:nvPr/>
        </p:nvSpPr>
        <p:spPr>
          <a:xfrm>
            <a:off x="7581900" y="3943350"/>
            <a:ext cx="3905250" cy="1047750"/>
          </a:xfrm>
          <a:prstGeom prst="rect">
            <a:avLst/>
          </a:prstGeom>
          <a:solidFill>
            <a:srgbClr val="FDECEC"/>
          </a:solidFill>
          <a:ln w="9525">
            <a:solidFill>
              <a:srgbClr val="D7DEE8"/>
            </a:solidFill>
            <a:prstDash val="solid"/>
          </a:ln>
        </p:spPr>
        <p:txBody>
          <a:bodyPr/>
          <a:lstStyle/>
          <a:p>
            <a:endParaRPr/>
          </a:p>
        </p:txBody>
      </p:sp>
      <p:sp>
        <p:nvSpPr>
          <p:cNvPr id="16" name="矩形 15">
            <a:extLst>
              <a:ext uri="{FF2B5EF4-FFF2-40B4-BE49-F238E27FC236}">
                <a16:creationId xmlns:a16="http://schemas.microsoft.com/office/drawing/2014/main" id="{A9109A9B-2A00-44FA-AEBB-8E345DBEBE5A}"/>
              </a:ext>
            </a:extLst>
          </p:cNvPr>
          <p:cNvSpPr>
            <a:spLocks noGrp="1"/>
          </p:cNvSpPr>
          <p:nvPr/>
        </p:nvSpPr>
        <p:spPr>
          <a:xfrm>
            <a:off x="7581900" y="3943350"/>
            <a:ext cx="76200" cy="1047750"/>
          </a:xfrm>
          <a:prstGeom prst="rect">
            <a:avLst/>
          </a:prstGeom>
          <a:solidFill>
            <a:srgbClr val="B42318"/>
          </a:solidFill>
          <a:ln w="0">
            <a:solidFill>
              <a:srgbClr val="B42318"/>
            </a:solidFill>
            <a:prstDash val="solid"/>
          </a:ln>
        </p:spPr>
        <p:txBody>
          <a:bodyPr/>
          <a:lstStyle/>
          <a:p>
            <a:endParaRPr/>
          </a:p>
        </p:txBody>
      </p:sp>
      <p:sp>
        <p:nvSpPr>
          <p:cNvPr id="17" name="矩形 16">
            <a:extLst>
              <a:ext uri="{FF2B5EF4-FFF2-40B4-BE49-F238E27FC236}">
                <a16:creationId xmlns:a16="http://schemas.microsoft.com/office/drawing/2014/main" id="{0E053778-D6F2-4ACF-834C-B43D7716E9B6}"/>
              </a:ext>
            </a:extLst>
          </p:cNvPr>
          <p:cNvSpPr>
            <a:spLocks noGrp="1"/>
          </p:cNvSpPr>
          <p:nvPr/>
        </p:nvSpPr>
        <p:spPr>
          <a:xfrm>
            <a:off x="7810500" y="4095750"/>
            <a:ext cx="3543300" cy="361950"/>
          </a:xfrm>
          <a:prstGeom prst="rect">
            <a:avLst/>
          </a:prstGeom>
          <a:noFill/>
          <a:ln w="0">
            <a:noFill/>
            <a:prstDash val="solid"/>
          </a:ln>
        </p:spPr>
        <p:txBody>
          <a:bodyPr lIns="0" tIns="0" rIns="0" bIns="0" anchor="t">
            <a:normAutofit/>
          </a:bodyPr>
          <a:lstStyle/>
          <a:p>
            <a:pPr algn="l">
              <a:buNone/>
              <a:defRPr sz="2100" b="1">
                <a:solidFill>
                  <a:srgbClr val="111827"/>
                </a:solidFill>
                <a:latin typeface="Aptos"/>
                <a:ea typeface="Aptos"/>
                <a:cs typeface="Aptos"/>
              </a:defRPr>
            </a:pPr>
            <a:r>
              <a:rPr sz="2100" b="1">
                <a:solidFill>
                  <a:srgbClr val="111827"/>
                </a:solidFill>
                <a:latin typeface="Aptos"/>
                <a:ea typeface="Aptos"/>
                <a:cs typeface="Aptos"/>
              </a:rPr>
              <a:t>+232%</a:t>
            </a:r>
          </a:p>
        </p:txBody>
      </p:sp>
      <p:sp>
        <p:nvSpPr>
          <p:cNvPr id="18" name="矩形 17">
            <a:extLst>
              <a:ext uri="{FF2B5EF4-FFF2-40B4-BE49-F238E27FC236}">
                <a16:creationId xmlns:a16="http://schemas.microsoft.com/office/drawing/2014/main" id="{0C89CE37-CEC2-4F6B-9EA7-95EA3A4EF0A3}"/>
              </a:ext>
            </a:extLst>
          </p:cNvPr>
          <p:cNvSpPr>
            <a:spLocks noGrp="1"/>
          </p:cNvSpPr>
          <p:nvPr/>
        </p:nvSpPr>
        <p:spPr>
          <a:xfrm>
            <a:off x="7810500" y="4419601"/>
            <a:ext cx="3543300" cy="34290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SP-</a:t>
            </a:r>
            <a:r>
              <a:rPr sz="1400" b="0" dirty="0" err="1">
                <a:solidFill>
                  <a:srgbClr val="5B6472"/>
                </a:solidFill>
                <a:latin typeface="Aptos"/>
                <a:ea typeface="Aptos"/>
                <a:cs typeface="Aptos"/>
              </a:rPr>
              <a:t>RoPE</a:t>
            </a:r>
            <a:r>
              <a:rPr sz="1400" b="0" dirty="0">
                <a:solidFill>
                  <a:srgbClr val="5B6472"/>
                </a:solidFill>
                <a:latin typeface="Aptos"/>
                <a:ea typeface="Aptos"/>
                <a:cs typeface="Aptos"/>
              </a:rPr>
              <a:t> training time</a:t>
            </a:r>
          </a:p>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19,161 s versus 5,771 s</a:t>
            </a:r>
          </a:p>
        </p:txBody>
      </p:sp>
      <p:sp>
        <p:nvSpPr>
          <p:cNvPr id="19" name="矩形 18">
            <a:extLst>
              <a:ext uri="{FF2B5EF4-FFF2-40B4-BE49-F238E27FC236}">
                <a16:creationId xmlns:a16="http://schemas.microsoft.com/office/drawing/2014/main" id="{C41E9C44-C9BE-4890-A794-B6E8EE820D02}"/>
              </a:ext>
            </a:extLst>
          </p:cNvPr>
          <p:cNvSpPr>
            <a:spLocks noGrp="1"/>
          </p:cNvSpPr>
          <p:nvPr/>
        </p:nvSpPr>
        <p:spPr>
          <a:xfrm>
            <a:off x="609600" y="5886450"/>
            <a:ext cx="10839450" cy="285750"/>
          </a:xfrm>
          <a:prstGeom prst="rect">
            <a:avLst/>
          </a:prstGeom>
          <a:noFill/>
          <a:ln w="0">
            <a:noFill/>
            <a:prstDash val="solid"/>
          </a:ln>
        </p:spPr>
        <p:txBody>
          <a:bodyPr lIns="0" tIns="0" rIns="0" bIns="0" anchor="t">
            <a:noAutofit/>
          </a:bodyPr>
          <a:lstStyle/>
          <a:p>
            <a:pPr algn="ctr">
              <a:buNone/>
              <a:defRPr sz="1350" b="1">
                <a:solidFill>
                  <a:srgbClr val="111827"/>
                </a:solidFill>
                <a:latin typeface="Aptos"/>
                <a:ea typeface="Aptos"/>
                <a:cs typeface="Aptos"/>
              </a:defRPr>
            </a:pPr>
            <a:r>
              <a:rPr sz="1600" b="1" dirty="0">
                <a:solidFill>
                  <a:srgbClr val="111827"/>
                </a:solidFill>
                <a:latin typeface="Aptos"/>
                <a:ea typeface="Aptos"/>
                <a:cs typeface="Aptos"/>
              </a:rPr>
              <a:t>Conclusion: sparsity, SAE reconstruction, </a:t>
            </a:r>
            <a:r>
              <a:rPr sz="1600" b="1" dirty="0" err="1">
                <a:solidFill>
                  <a:srgbClr val="111827"/>
                </a:solidFill>
                <a:latin typeface="Aptos"/>
                <a:ea typeface="Aptos"/>
                <a:cs typeface="Aptos"/>
              </a:rPr>
              <a:t>monosemanticity</a:t>
            </a:r>
            <a:r>
              <a:rPr sz="1600" b="1" dirty="0">
                <a:solidFill>
                  <a:srgbClr val="111827"/>
                </a:solidFill>
                <a:latin typeface="Aptos"/>
                <a:ea typeface="Aptos"/>
                <a:cs typeface="Aptos"/>
              </a:rPr>
              <a:t>, causal locality, and actual acceleration must be evaluated separately.</a:t>
            </a:r>
          </a:p>
        </p:txBody>
      </p:sp>
    </p:spTree>
    <p:extLst>
      <p:ext uri="{BB962C8B-B14F-4D97-AF65-F5344CB8AC3E}">
        <p14:creationId xmlns:p14="http://schemas.microsoft.com/office/powerpoint/2010/main" val="603482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CA5A67A4-07E9-402D-BCA8-BA7A1CF5E9D6}"/>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2: limitations and next steps</a:t>
            </a:r>
          </a:p>
        </p:txBody>
      </p:sp>
      <p:sp>
        <p:nvSpPr>
          <p:cNvPr id="2" name="矩形 1">
            <a:extLst>
              <a:ext uri="{FF2B5EF4-FFF2-40B4-BE49-F238E27FC236}">
                <a16:creationId xmlns:a16="http://schemas.microsoft.com/office/drawing/2014/main" id="{D5B3D77E-4325-47FD-9496-64C0CF97FDFA}"/>
              </a:ext>
            </a:extLst>
          </p:cNvPr>
          <p:cNvSpPr>
            <a:spLocks noGrp="1"/>
          </p:cNvSpPr>
          <p:nvPr/>
        </p:nvSpPr>
        <p:spPr>
          <a:xfrm>
            <a:off x="533400" y="542925"/>
            <a:ext cx="10858500" cy="590550"/>
          </a:xfrm>
          <a:prstGeom prst="rect">
            <a:avLst/>
          </a:prstGeom>
          <a:noFill/>
          <a:ln w="0">
            <a:noFill/>
            <a:prstDash val="solid"/>
          </a:ln>
        </p:spPr>
        <p:txBody>
          <a:bodyPr lIns="0" tIns="0" rIns="0" bIns="0" anchor="t">
            <a:noAutofit/>
          </a:bodyPr>
          <a:lstStyle/>
          <a:p>
            <a:pPr algn="l">
              <a:buNone/>
              <a:defRPr sz="2700" b="1">
                <a:solidFill>
                  <a:srgbClr val="111827"/>
                </a:solidFill>
                <a:latin typeface="Aptos"/>
                <a:ea typeface="Aptos"/>
                <a:cs typeface="Aptos"/>
              </a:defRPr>
            </a:pPr>
            <a:r>
              <a:rPr sz="2400" b="1" dirty="0">
                <a:solidFill>
                  <a:srgbClr val="111827"/>
                </a:solidFill>
                <a:latin typeface="Aptos"/>
                <a:ea typeface="Aptos"/>
                <a:cs typeface="Aptos"/>
              </a:rPr>
              <a:t>The sparse structure works, but semantic objectives and actual acceleration remain unresolved</a:t>
            </a:r>
          </a:p>
        </p:txBody>
      </p:sp>
      <p:sp>
        <p:nvSpPr>
          <p:cNvPr id="3" name="直接连接符 2">
            <a:extLst>
              <a:ext uri="{FF2B5EF4-FFF2-40B4-BE49-F238E27FC236}">
                <a16:creationId xmlns:a16="http://schemas.microsoft.com/office/drawing/2014/main" id="{C378132C-8AEF-432B-B5A6-5C7298E57DEB}"/>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34C37680-52E2-4F3E-B228-3C33D1CF58E1}"/>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19</a:t>
            </a:r>
          </a:p>
        </p:txBody>
      </p:sp>
      <p:sp>
        <p:nvSpPr>
          <p:cNvPr id="5" name="矩形 4">
            <a:extLst>
              <a:ext uri="{FF2B5EF4-FFF2-40B4-BE49-F238E27FC236}">
                <a16:creationId xmlns:a16="http://schemas.microsoft.com/office/drawing/2014/main" id="{A608E48D-9D4B-4256-B9B2-2C40C90A730F}"/>
              </a:ext>
            </a:extLst>
          </p:cNvPr>
          <p:cNvSpPr>
            <a:spLocks noGrp="1"/>
          </p:cNvSpPr>
          <p:nvPr/>
        </p:nvSpPr>
        <p:spPr>
          <a:xfrm>
            <a:off x="609600" y="1562100"/>
            <a:ext cx="4000500" cy="285750"/>
          </a:xfrm>
          <a:prstGeom prst="rect">
            <a:avLst/>
          </a:prstGeom>
          <a:noFill/>
          <a:ln w="0">
            <a:noFill/>
            <a:prstDash val="solid"/>
          </a:ln>
        </p:spPr>
        <p:txBody>
          <a:bodyPr lIns="0" tIns="0" rIns="0" bIns="0" anchor="t">
            <a:normAutofit/>
          </a:bodyPr>
          <a:lstStyle/>
          <a:p>
            <a:pPr algn="l">
              <a:buNone/>
              <a:defRPr sz="1725" b="1">
                <a:solidFill>
                  <a:srgbClr val="B42318"/>
                </a:solidFill>
                <a:latin typeface="Aptos"/>
                <a:ea typeface="Aptos"/>
                <a:cs typeface="Aptos"/>
              </a:defRPr>
            </a:pPr>
            <a:r>
              <a:rPr sz="1725" b="1">
                <a:solidFill>
                  <a:srgbClr val="B42318"/>
                </a:solidFill>
                <a:latin typeface="Aptos"/>
                <a:ea typeface="Aptos"/>
                <a:cs typeface="Aptos"/>
              </a:rPr>
              <a:t>Current limitations</a:t>
            </a:r>
          </a:p>
        </p:txBody>
      </p:sp>
      <p:sp>
        <p:nvSpPr>
          <p:cNvPr id="6" name="矩形 5">
            <a:extLst>
              <a:ext uri="{FF2B5EF4-FFF2-40B4-BE49-F238E27FC236}">
                <a16:creationId xmlns:a16="http://schemas.microsoft.com/office/drawing/2014/main" id="{7BF9C1EA-4749-4F98-9B72-D47098D886AF}"/>
              </a:ext>
            </a:extLst>
          </p:cNvPr>
          <p:cNvSpPr>
            <a:spLocks noGrp="1"/>
          </p:cNvSpPr>
          <p:nvPr/>
        </p:nvSpPr>
        <p:spPr>
          <a:xfrm>
            <a:off x="6419850" y="1562100"/>
            <a:ext cx="4000500" cy="285750"/>
          </a:xfrm>
          <a:prstGeom prst="rect">
            <a:avLst/>
          </a:prstGeom>
          <a:noFill/>
          <a:ln w="0">
            <a:noFill/>
            <a:prstDash val="solid"/>
          </a:ln>
        </p:spPr>
        <p:txBody>
          <a:bodyPr lIns="0" tIns="0" rIns="0" bIns="0" anchor="t">
            <a:normAutofit/>
          </a:bodyPr>
          <a:lstStyle/>
          <a:p>
            <a:pPr algn="l">
              <a:buNone/>
              <a:defRPr sz="1725" b="1">
                <a:solidFill>
                  <a:srgbClr val="2457D6"/>
                </a:solidFill>
                <a:latin typeface="Aptos"/>
                <a:ea typeface="Aptos"/>
                <a:cs typeface="Aptos"/>
              </a:defRPr>
            </a:pPr>
            <a:r>
              <a:rPr sz="1725" b="1">
                <a:solidFill>
                  <a:srgbClr val="2457D6"/>
                </a:solidFill>
                <a:latin typeface="Aptos"/>
                <a:ea typeface="Aptos"/>
                <a:cs typeface="Aptos"/>
              </a:rPr>
              <a:t>Next steps</a:t>
            </a:r>
          </a:p>
        </p:txBody>
      </p:sp>
      <p:sp>
        <p:nvSpPr>
          <p:cNvPr id="7" name="矩形 6">
            <a:extLst>
              <a:ext uri="{FF2B5EF4-FFF2-40B4-BE49-F238E27FC236}">
                <a16:creationId xmlns:a16="http://schemas.microsoft.com/office/drawing/2014/main" id="{48F647C4-0D04-4302-B96D-4BA12EBBC049}"/>
              </a:ext>
            </a:extLst>
          </p:cNvPr>
          <p:cNvSpPr>
            <a:spLocks noGrp="1"/>
          </p:cNvSpPr>
          <p:nvPr/>
        </p:nvSpPr>
        <p:spPr>
          <a:xfrm>
            <a:off x="609600" y="2076450"/>
            <a:ext cx="66675" cy="666750"/>
          </a:xfrm>
          <a:prstGeom prst="rect">
            <a:avLst/>
          </a:prstGeom>
          <a:solidFill>
            <a:srgbClr val="B42318"/>
          </a:solidFill>
          <a:ln w="0">
            <a:solidFill>
              <a:srgbClr val="B42318"/>
            </a:solidFill>
            <a:prstDash val="solid"/>
          </a:ln>
        </p:spPr>
        <p:txBody>
          <a:bodyPr/>
          <a:lstStyle/>
          <a:p>
            <a:endParaRPr/>
          </a:p>
        </p:txBody>
      </p:sp>
      <p:sp>
        <p:nvSpPr>
          <p:cNvPr id="8" name="矩形 7">
            <a:extLst>
              <a:ext uri="{FF2B5EF4-FFF2-40B4-BE49-F238E27FC236}">
                <a16:creationId xmlns:a16="http://schemas.microsoft.com/office/drawing/2014/main" id="{1DFE4514-97E0-49BD-9071-3BA609F71DD4}"/>
              </a:ext>
            </a:extLst>
          </p:cNvPr>
          <p:cNvSpPr>
            <a:spLocks noGrp="1"/>
          </p:cNvSpPr>
          <p:nvPr/>
        </p:nvSpPr>
        <p:spPr>
          <a:xfrm>
            <a:off x="838200" y="20383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SAE seed variance</a:t>
            </a:r>
          </a:p>
        </p:txBody>
      </p:sp>
      <p:sp>
        <p:nvSpPr>
          <p:cNvPr id="9" name="矩形 8">
            <a:extLst>
              <a:ext uri="{FF2B5EF4-FFF2-40B4-BE49-F238E27FC236}">
                <a16:creationId xmlns:a16="http://schemas.microsoft.com/office/drawing/2014/main" id="{117756BD-EDD0-4F5A-A92E-05A680DFAE8E}"/>
              </a:ext>
            </a:extLst>
          </p:cNvPr>
          <p:cNvSpPr>
            <a:spLocks noGrp="1"/>
          </p:cNvSpPr>
          <p:nvPr/>
        </p:nvSpPr>
        <p:spPr>
          <a:xfrm>
            <a:off x="2571750" y="2038350"/>
            <a:ext cx="3219450" cy="6858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The primary analysis has three model seeds but only one SAE seed per model, so SAE-training variability is not estimated.</a:t>
            </a:r>
          </a:p>
        </p:txBody>
      </p:sp>
      <p:sp>
        <p:nvSpPr>
          <p:cNvPr id="10" name="矩形 9">
            <a:extLst>
              <a:ext uri="{FF2B5EF4-FFF2-40B4-BE49-F238E27FC236}">
                <a16:creationId xmlns:a16="http://schemas.microsoft.com/office/drawing/2014/main" id="{A6F74702-0D36-41E9-8DE6-8F6F328FBE65}"/>
              </a:ext>
            </a:extLst>
          </p:cNvPr>
          <p:cNvSpPr>
            <a:spLocks noGrp="1"/>
          </p:cNvSpPr>
          <p:nvPr/>
        </p:nvSpPr>
        <p:spPr>
          <a:xfrm>
            <a:off x="609600" y="3105150"/>
            <a:ext cx="66675" cy="666750"/>
          </a:xfrm>
          <a:prstGeom prst="rect">
            <a:avLst/>
          </a:prstGeom>
          <a:solidFill>
            <a:srgbClr val="B42318"/>
          </a:solidFill>
          <a:ln w="0">
            <a:solidFill>
              <a:srgbClr val="B42318"/>
            </a:solidFill>
            <a:prstDash val="solid"/>
          </a:ln>
        </p:spPr>
        <p:txBody>
          <a:bodyPr/>
          <a:lstStyle/>
          <a:p>
            <a:endParaRPr/>
          </a:p>
        </p:txBody>
      </p:sp>
      <p:sp>
        <p:nvSpPr>
          <p:cNvPr id="11" name="矩形 10">
            <a:extLst>
              <a:ext uri="{FF2B5EF4-FFF2-40B4-BE49-F238E27FC236}">
                <a16:creationId xmlns:a16="http://schemas.microsoft.com/office/drawing/2014/main" id="{27EB9B9F-B824-4859-9822-B005A0194B06}"/>
              </a:ext>
            </a:extLst>
          </p:cNvPr>
          <p:cNvSpPr>
            <a:spLocks noGrp="1"/>
          </p:cNvSpPr>
          <p:nvPr/>
        </p:nvSpPr>
        <p:spPr>
          <a:xfrm>
            <a:off x="838200" y="30670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Dense computation remains</a:t>
            </a:r>
          </a:p>
        </p:txBody>
      </p:sp>
      <p:sp>
        <p:nvSpPr>
          <p:cNvPr id="12" name="矩形 11">
            <a:extLst>
              <a:ext uri="{FF2B5EF4-FFF2-40B4-BE49-F238E27FC236}">
                <a16:creationId xmlns:a16="http://schemas.microsoft.com/office/drawing/2014/main" id="{9113AE9C-880A-4157-8471-09D3FD30BFE9}"/>
              </a:ext>
            </a:extLst>
          </p:cNvPr>
          <p:cNvSpPr>
            <a:spLocks noGrp="1"/>
          </p:cNvSpPr>
          <p:nvPr/>
        </p:nvSpPr>
        <p:spPr>
          <a:xfrm>
            <a:off x="2571750" y="3067050"/>
            <a:ext cx="3219450" cy="6858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Original SP still performs dense projections and full statistics; fewer non-zeros do not automatically become actual speedup.</a:t>
            </a:r>
          </a:p>
        </p:txBody>
      </p:sp>
      <p:sp>
        <p:nvSpPr>
          <p:cNvPr id="13" name="矩形 12">
            <a:extLst>
              <a:ext uri="{FF2B5EF4-FFF2-40B4-BE49-F238E27FC236}">
                <a16:creationId xmlns:a16="http://schemas.microsoft.com/office/drawing/2014/main" id="{112203C4-EE6F-4057-B3B3-B042E5B08FC9}"/>
              </a:ext>
            </a:extLst>
          </p:cNvPr>
          <p:cNvSpPr>
            <a:spLocks noGrp="1"/>
          </p:cNvSpPr>
          <p:nvPr/>
        </p:nvSpPr>
        <p:spPr>
          <a:xfrm>
            <a:off x="609600" y="4133850"/>
            <a:ext cx="66675" cy="666750"/>
          </a:xfrm>
          <a:prstGeom prst="rect">
            <a:avLst/>
          </a:prstGeom>
          <a:solidFill>
            <a:srgbClr val="B42318"/>
          </a:solidFill>
          <a:ln w="0">
            <a:solidFill>
              <a:srgbClr val="B42318"/>
            </a:solidFill>
            <a:prstDash val="solid"/>
          </a:ln>
        </p:spPr>
        <p:txBody>
          <a:bodyPr/>
          <a:lstStyle/>
          <a:p>
            <a:endParaRPr/>
          </a:p>
        </p:txBody>
      </p:sp>
      <p:sp>
        <p:nvSpPr>
          <p:cNvPr id="14" name="矩形 13">
            <a:extLst>
              <a:ext uri="{FF2B5EF4-FFF2-40B4-BE49-F238E27FC236}">
                <a16:creationId xmlns:a16="http://schemas.microsoft.com/office/drawing/2014/main" id="{C3FABBF9-E2C1-421B-8C15-465C275BEDC5}"/>
              </a:ext>
            </a:extLst>
          </p:cNvPr>
          <p:cNvSpPr>
            <a:spLocks noGrp="1"/>
          </p:cNvSpPr>
          <p:nvPr/>
        </p:nvSpPr>
        <p:spPr>
          <a:xfrm>
            <a:off x="838200" y="4095750"/>
            <a:ext cx="1619250" cy="266700"/>
          </a:xfrm>
          <a:prstGeom prst="rect">
            <a:avLst/>
          </a:prstGeom>
          <a:noFill/>
          <a:ln w="0">
            <a:noFill/>
            <a:prstDash val="solid"/>
          </a:ln>
        </p:spPr>
        <p:txBody>
          <a:bodyPr lIns="0" tIns="0" rIns="0" bIns="0" anchor="t">
            <a:norm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Indirect objective</a:t>
            </a:r>
          </a:p>
        </p:txBody>
      </p:sp>
      <p:sp>
        <p:nvSpPr>
          <p:cNvPr id="15" name="矩形 14">
            <a:extLst>
              <a:ext uri="{FF2B5EF4-FFF2-40B4-BE49-F238E27FC236}">
                <a16:creationId xmlns:a16="http://schemas.microsoft.com/office/drawing/2014/main" id="{C311D32D-5572-4C43-A8D4-7B727C514764}"/>
              </a:ext>
            </a:extLst>
          </p:cNvPr>
          <p:cNvSpPr>
            <a:spLocks noGrp="1"/>
          </p:cNvSpPr>
          <p:nvPr/>
        </p:nvSpPr>
        <p:spPr>
          <a:xfrm>
            <a:off x="2571750" y="4095750"/>
            <a:ext cx="3219450" cy="6858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The current sparsity constraint controls activation count but does not directly </a:t>
            </a:r>
            <a:r>
              <a:rPr sz="1400" b="0" dirty="0" err="1">
                <a:solidFill>
                  <a:srgbClr val="5B6472"/>
                </a:solidFill>
                <a:latin typeface="Aptos"/>
                <a:ea typeface="Aptos"/>
                <a:cs typeface="Aptos"/>
              </a:rPr>
              <a:t>optimise</a:t>
            </a:r>
            <a:r>
              <a:rPr sz="1400" b="0" dirty="0">
                <a:solidFill>
                  <a:srgbClr val="5B6472"/>
                </a:solidFill>
                <a:latin typeface="Aptos"/>
                <a:ea typeface="Aptos"/>
                <a:cs typeface="Aptos"/>
              </a:rPr>
              <a:t> semantic boundaries, deduplication, or causal locality.</a:t>
            </a:r>
          </a:p>
        </p:txBody>
      </p:sp>
      <p:sp>
        <p:nvSpPr>
          <p:cNvPr id="16" name="矩形 15">
            <a:extLst>
              <a:ext uri="{FF2B5EF4-FFF2-40B4-BE49-F238E27FC236}">
                <a16:creationId xmlns:a16="http://schemas.microsoft.com/office/drawing/2014/main" id="{F385F998-32B7-4C46-8886-8951EF63AAE7}"/>
              </a:ext>
            </a:extLst>
          </p:cNvPr>
          <p:cNvSpPr>
            <a:spLocks noGrp="1"/>
          </p:cNvSpPr>
          <p:nvPr/>
        </p:nvSpPr>
        <p:spPr>
          <a:xfrm>
            <a:off x="6419850" y="2076450"/>
            <a:ext cx="66675" cy="666750"/>
          </a:xfrm>
          <a:prstGeom prst="rect">
            <a:avLst/>
          </a:prstGeom>
          <a:solidFill>
            <a:srgbClr val="2457D6"/>
          </a:solidFill>
          <a:ln w="0">
            <a:solidFill>
              <a:srgbClr val="2457D6"/>
            </a:solidFill>
            <a:prstDash val="solid"/>
          </a:ln>
        </p:spPr>
        <p:txBody>
          <a:bodyPr/>
          <a:lstStyle/>
          <a:p>
            <a:endParaRPr/>
          </a:p>
        </p:txBody>
      </p:sp>
      <p:sp>
        <p:nvSpPr>
          <p:cNvPr id="17" name="矩形 16">
            <a:extLst>
              <a:ext uri="{FF2B5EF4-FFF2-40B4-BE49-F238E27FC236}">
                <a16:creationId xmlns:a16="http://schemas.microsoft.com/office/drawing/2014/main" id="{C837EA0C-036F-4EB0-ADDC-48624B389686}"/>
              </a:ext>
            </a:extLst>
          </p:cNvPr>
          <p:cNvSpPr>
            <a:spLocks noGrp="1"/>
          </p:cNvSpPr>
          <p:nvPr/>
        </p:nvSpPr>
        <p:spPr>
          <a:xfrm>
            <a:off x="6648450" y="20383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More model and SAE seeds</a:t>
            </a:r>
          </a:p>
        </p:txBody>
      </p:sp>
      <p:sp>
        <p:nvSpPr>
          <p:cNvPr id="18" name="矩形 17">
            <a:extLst>
              <a:ext uri="{FF2B5EF4-FFF2-40B4-BE49-F238E27FC236}">
                <a16:creationId xmlns:a16="http://schemas.microsoft.com/office/drawing/2014/main" id="{69C2935A-9E93-422B-9C3F-A5D3B2429CCE}"/>
              </a:ext>
            </a:extLst>
          </p:cNvPr>
          <p:cNvSpPr>
            <a:spLocks noGrp="1"/>
          </p:cNvSpPr>
          <p:nvPr/>
        </p:nvSpPr>
        <p:spPr>
          <a:xfrm>
            <a:off x="8382000" y="2038350"/>
            <a:ext cx="31051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Increase both model and SAE seeds to estimate the two sources of randomness separately.</a:t>
            </a:r>
          </a:p>
        </p:txBody>
      </p:sp>
      <p:sp>
        <p:nvSpPr>
          <p:cNvPr id="19" name="矩形 18">
            <a:extLst>
              <a:ext uri="{FF2B5EF4-FFF2-40B4-BE49-F238E27FC236}">
                <a16:creationId xmlns:a16="http://schemas.microsoft.com/office/drawing/2014/main" id="{8CA82043-74CA-43B2-A3E2-2F2601D5DE48}"/>
              </a:ext>
            </a:extLst>
          </p:cNvPr>
          <p:cNvSpPr>
            <a:spLocks noGrp="1"/>
          </p:cNvSpPr>
          <p:nvPr/>
        </p:nvSpPr>
        <p:spPr>
          <a:xfrm>
            <a:off x="6419850" y="3105150"/>
            <a:ext cx="66675" cy="666750"/>
          </a:xfrm>
          <a:prstGeom prst="rect">
            <a:avLst/>
          </a:prstGeom>
          <a:solidFill>
            <a:srgbClr val="2457D6"/>
          </a:solidFill>
          <a:ln w="0">
            <a:solidFill>
              <a:srgbClr val="2457D6"/>
            </a:solidFill>
            <a:prstDash val="solid"/>
          </a:ln>
        </p:spPr>
        <p:txBody>
          <a:bodyPr/>
          <a:lstStyle/>
          <a:p>
            <a:endParaRPr/>
          </a:p>
        </p:txBody>
      </p:sp>
      <p:sp>
        <p:nvSpPr>
          <p:cNvPr id="20" name="矩形 19">
            <a:extLst>
              <a:ext uri="{FF2B5EF4-FFF2-40B4-BE49-F238E27FC236}">
                <a16:creationId xmlns:a16="http://schemas.microsoft.com/office/drawing/2014/main" id="{39BA03CD-0354-404D-8022-958ED6F4EEB2}"/>
              </a:ext>
            </a:extLst>
          </p:cNvPr>
          <p:cNvSpPr>
            <a:spLocks noGrp="1"/>
          </p:cNvSpPr>
          <p:nvPr/>
        </p:nvSpPr>
        <p:spPr>
          <a:xfrm>
            <a:off x="6648450" y="3067050"/>
            <a:ext cx="1619250" cy="266700"/>
          </a:xfrm>
          <a:prstGeom prst="rect">
            <a:avLst/>
          </a:prstGeom>
          <a:noFill/>
          <a:ln w="0">
            <a:noFill/>
            <a:prstDash val="solid"/>
          </a:ln>
        </p:spPr>
        <p:txBody>
          <a:bodyPr lIns="0" tIns="0" rIns="0" bIns="0" anchor="t">
            <a:norm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Avoid full ranking</a:t>
            </a:r>
          </a:p>
        </p:txBody>
      </p:sp>
      <p:sp>
        <p:nvSpPr>
          <p:cNvPr id="21" name="矩形 20">
            <a:extLst>
              <a:ext uri="{FF2B5EF4-FFF2-40B4-BE49-F238E27FC236}">
                <a16:creationId xmlns:a16="http://schemas.microsoft.com/office/drawing/2014/main" id="{F78D09A5-DC3E-4D6B-A599-CE2BE3ED8D0E}"/>
              </a:ext>
            </a:extLst>
          </p:cNvPr>
          <p:cNvSpPr>
            <a:spLocks noGrp="1"/>
          </p:cNvSpPr>
          <p:nvPr/>
        </p:nvSpPr>
        <p:spPr>
          <a:xfrm>
            <a:off x="8382000" y="3067050"/>
            <a:ext cx="31051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Study learnable thresholds, low-cost block predictors, and sparse kernels that truly skip inactive units.</a:t>
            </a:r>
          </a:p>
        </p:txBody>
      </p:sp>
      <p:sp>
        <p:nvSpPr>
          <p:cNvPr id="22" name="矩形 21">
            <a:extLst>
              <a:ext uri="{FF2B5EF4-FFF2-40B4-BE49-F238E27FC236}">
                <a16:creationId xmlns:a16="http://schemas.microsoft.com/office/drawing/2014/main" id="{FFFE7314-D9A7-4792-94C5-495C52D411AE}"/>
              </a:ext>
            </a:extLst>
          </p:cNvPr>
          <p:cNvSpPr>
            <a:spLocks noGrp="1"/>
          </p:cNvSpPr>
          <p:nvPr/>
        </p:nvSpPr>
        <p:spPr>
          <a:xfrm>
            <a:off x="6419850" y="4133850"/>
            <a:ext cx="66675" cy="666750"/>
          </a:xfrm>
          <a:prstGeom prst="rect">
            <a:avLst/>
          </a:prstGeom>
          <a:solidFill>
            <a:srgbClr val="2457D6"/>
          </a:solidFill>
          <a:ln w="0">
            <a:solidFill>
              <a:srgbClr val="2457D6"/>
            </a:solidFill>
            <a:prstDash val="solid"/>
          </a:ln>
        </p:spPr>
        <p:txBody>
          <a:bodyPr/>
          <a:lstStyle/>
          <a:p>
            <a:endParaRPr/>
          </a:p>
        </p:txBody>
      </p:sp>
      <p:sp>
        <p:nvSpPr>
          <p:cNvPr id="23" name="矩形 22">
            <a:extLst>
              <a:ext uri="{FF2B5EF4-FFF2-40B4-BE49-F238E27FC236}">
                <a16:creationId xmlns:a16="http://schemas.microsoft.com/office/drawing/2014/main" id="{79EDAFA7-E00F-46A3-AF8A-0F1A30E174B3}"/>
              </a:ext>
            </a:extLst>
          </p:cNvPr>
          <p:cNvSpPr>
            <a:spLocks noGrp="1"/>
          </p:cNvSpPr>
          <p:nvPr/>
        </p:nvSpPr>
        <p:spPr>
          <a:xfrm>
            <a:off x="6648450" y="40957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Direct interpretability loss</a:t>
            </a:r>
          </a:p>
        </p:txBody>
      </p:sp>
      <p:sp>
        <p:nvSpPr>
          <p:cNvPr id="24" name="矩形 23">
            <a:extLst>
              <a:ext uri="{FF2B5EF4-FFF2-40B4-BE49-F238E27FC236}">
                <a16:creationId xmlns:a16="http://schemas.microsoft.com/office/drawing/2014/main" id="{0FC9E614-5DBB-402A-95AD-BDA893EB1E81}"/>
              </a:ext>
            </a:extLst>
          </p:cNvPr>
          <p:cNvSpPr>
            <a:spLocks noGrp="1"/>
          </p:cNvSpPr>
          <p:nvPr/>
        </p:nvSpPr>
        <p:spPr>
          <a:xfrm>
            <a:off x="8382000" y="4095750"/>
            <a:ext cx="3105150" cy="6858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Train with hard negatives, feature deduplication, and local causal constraints, then ablate each component.</a:t>
            </a:r>
          </a:p>
        </p:txBody>
      </p:sp>
      <p:sp>
        <p:nvSpPr>
          <p:cNvPr id="25" name="矩形 24">
            <a:extLst>
              <a:ext uri="{FF2B5EF4-FFF2-40B4-BE49-F238E27FC236}">
                <a16:creationId xmlns:a16="http://schemas.microsoft.com/office/drawing/2014/main" id="{09A1DAEA-E1FB-4760-B872-2502B308E2BD}"/>
              </a:ext>
            </a:extLst>
          </p:cNvPr>
          <p:cNvSpPr>
            <a:spLocks noGrp="1"/>
          </p:cNvSpPr>
          <p:nvPr/>
        </p:nvSpPr>
        <p:spPr>
          <a:xfrm>
            <a:off x="609600" y="5429249"/>
            <a:ext cx="10934700" cy="723899"/>
          </a:xfrm>
          <a:prstGeom prst="rect">
            <a:avLst/>
          </a:prstGeom>
          <a:solidFill>
            <a:srgbClr val="111A2E"/>
          </a:solidFill>
          <a:ln w="0">
            <a:solidFill>
              <a:srgbClr val="111A2E"/>
            </a:solidFill>
            <a:prstDash val="solid"/>
          </a:ln>
        </p:spPr>
        <p:txBody>
          <a:bodyPr/>
          <a:lstStyle/>
          <a:p>
            <a:endParaRPr/>
          </a:p>
        </p:txBody>
      </p:sp>
      <p:sp>
        <p:nvSpPr>
          <p:cNvPr id="26" name="矩形 25">
            <a:extLst>
              <a:ext uri="{FF2B5EF4-FFF2-40B4-BE49-F238E27FC236}">
                <a16:creationId xmlns:a16="http://schemas.microsoft.com/office/drawing/2014/main" id="{576F05B0-7A21-4B72-87DC-D597B7DC5752}"/>
              </a:ext>
            </a:extLst>
          </p:cNvPr>
          <p:cNvSpPr>
            <a:spLocks noGrp="1"/>
          </p:cNvSpPr>
          <p:nvPr/>
        </p:nvSpPr>
        <p:spPr>
          <a:xfrm>
            <a:off x="838200" y="5591175"/>
            <a:ext cx="10477500" cy="285750"/>
          </a:xfrm>
          <a:prstGeom prst="rect">
            <a:avLst/>
          </a:prstGeom>
          <a:noFill/>
          <a:ln w="0">
            <a:noFill/>
            <a:prstDash val="solid"/>
          </a:ln>
        </p:spPr>
        <p:txBody>
          <a:bodyPr lIns="0" tIns="0" rIns="0" bIns="0" anchor="t">
            <a:noAutofit/>
          </a:bodyPr>
          <a:lstStyle/>
          <a:p>
            <a:pPr algn="ctr">
              <a:buNone/>
              <a:defRPr sz="1350" b="1">
                <a:solidFill>
                  <a:srgbClr val="FFFFFF"/>
                </a:solidFill>
                <a:latin typeface="Aptos"/>
                <a:ea typeface="Aptos"/>
                <a:cs typeface="Aptos"/>
              </a:defRPr>
            </a:pPr>
            <a:r>
              <a:rPr sz="1600" b="1" dirty="0">
                <a:solidFill>
                  <a:srgbClr val="FFFFFF"/>
                </a:solidFill>
                <a:latin typeface="Aptos"/>
                <a:ea typeface="Aptos"/>
                <a:cs typeface="Aptos"/>
              </a:rPr>
              <a:t>The next step is not simply to reduce non-zero rate, but to test whether sparsity yields reproducible semantic, causal, and runtime benefits.</a:t>
            </a:r>
          </a:p>
        </p:txBody>
      </p:sp>
      <p:sp>
        <p:nvSpPr>
          <p:cNvPr id="27" name="矩形 26">
            <a:extLst>
              <a:ext uri="{FF2B5EF4-FFF2-40B4-BE49-F238E27FC236}">
                <a16:creationId xmlns:a16="http://schemas.microsoft.com/office/drawing/2014/main" id="{FEBD2483-6E86-4C53-9206-B4664A9AC19C}"/>
              </a:ext>
            </a:extLst>
          </p:cNvPr>
          <p:cNvSpPr>
            <a:spLocks noGrp="1"/>
          </p:cNvSpPr>
          <p:nvPr/>
        </p:nvSpPr>
        <p:spPr>
          <a:xfrm>
            <a:off x="9486900" y="6324600"/>
            <a:ext cx="2171700" cy="285750"/>
          </a:xfrm>
          <a:prstGeom prst="rect">
            <a:avLst/>
          </a:prstGeom>
          <a:solidFill>
            <a:srgbClr val="F8FAFC"/>
          </a:solidFill>
          <a:ln w="0">
            <a:solidFill>
              <a:srgbClr val="F8FAFC"/>
            </a:solidFill>
            <a:prstDash val="solid"/>
          </a:ln>
        </p:spPr>
        <p:txBody>
          <a:bodyPr/>
          <a:lstStyle/>
          <a:p>
            <a:endParaRPr/>
          </a:p>
        </p:txBody>
      </p:sp>
      <p:sp>
        <p:nvSpPr>
          <p:cNvPr id="28" name="矩形 27">
            <a:extLst>
              <a:ext uri="{FF2B5EF4-FFF2-40B4-BE49-F238E27FC236}">
                <a16:creationId xmlns:a16="http://schemas.microsoft.com/office/drawing/2014/main" id="{EE6FB856-FEDB-47AB-BEA0-89A1A4A85602}"/>
              </a:ext>
            </a:extLst>
          </p:cNvPr>
          <p:cNvSpPr>
            <a:spLocks noGrp="1"/>
          </p:cNvSpPr>
          <p:nvPr/>
        </p:nvSpPr>
        <p:spPr>
          <a:xfrm>
            <a:off x="10572750" y="6153150"/>
            <a:ext cx="10858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Page 19</a:t>
            </a:r>
          </a:p>
        </p:txBody>
      </p:sp>
    </p:spTree>
    <p:extLst>
      <p:ext uri="{BB962C8B-B14F-4D97-AF65-F5344CB8AC3E}">
        <p14:creationId xmlns:p14="http://schemas.microsoft.com/office/powerpoint/2010/main" val="1899350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9C388F47-13A8-4A4D-BC6A-4C3B5F999959}"/>
              </a:ext>
            </a:extLst>
          </p:cNvPr>
          <p:cNvSpPr>
            <a:spLocks noGrp="1"/>
          </p:cNvSpPr>
          <p:nvPr/>
        </p:nvSpPr>
        <p:spPr>
          <a:xfrm>
            <a:off x="533400" y="266700"/>
            <a:ext cx="5905500" cy="228600"/>
          </a:xfrm>
          <a:prstGeom prst="rect">
            <a:avLst/>
          </a:prstGeom>
          <a:noFill/>
          <a:ln w="0">
            <a:noFill/>
            <a:prstDash val="solid"/>
          </a:ln>
        </p:spPr>
        <p:txBody>
          <a:bodyPr lIns="0" tIns="0" rIns="0" bIns="0" anchor="t">
            <a:normAutofit/>
          </a:bodyPr>
          <a:lstStyle/>
          <a:p>
            <a:pPr algn="l">
              <a:buNone/>
              <a:defRPr sz="1200" b="1">
                <a:solidFill>
                  <a:srgbClr val="2457D6"/>
                </a:solidFill>
                <a:latin typeface="Aptos"/>
                <a:ea typeface="Aptos"/>
                <a:cs typeface="Aptos"/>
              </a:defRPr>
            </a:pPr>
            <a:r>
              <a:rPr sz="1200" b="1">
                <a:solidFill>
                  <a:srgbClr val="2457D6"/>
                </a:solidFill>
                <a:latin typeface="Aptos"/>
                <a:ea typeface="Aptos"/>
                <a:cs typeface="Aptos"/>
              </a:rPr>
              <a:t>Experiment 3: objective and theoretical basis</a:t>
            </a:r>
          </a:p>
        </p:txBody>
      </p:sp>
      <p:sp>
        <p:nvSpPr>
          <p:cNvPr id="2" name="矩形 1">
            <a:extLst>
              <a:ext uri="{FF2B5EF4-FFF2-40B4-BE49-F238E27FC236}">
                <a16:creationId xmlns:a16="http://schemas.microsoft.com/office/drawing/2014/main" id="{F65709AC-E567-4EF1-B1AF-BDEE7649C8B9}"/>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86346"/>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RA-CABLE relaxes positional penalties only for semantically relevant distant keys</a:t>
            </a:r>
          </a:p>
        </p:txBody>
      </p:sp>
      <p:sp>
        <p:nvSpPr>
          <p:cNvPr id="3" name="直接连接符 2">
            <a:extLst>
              <a:ext uri="{FF2B5EF4-FFF2-40B4-BE49-F238E27FC236}">
                <a16:creationId xmlns:a16="http://schemas.microsoft.com/office/drawing/2014/main" id="{0A48AEE2-25A4-4BD8-90C6-9D36BC47AB82}"/>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645953D2-6D34-4E70-9460-63151478E447}"/>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20</a:t>
            </a:r>
          </a:p>
        </p:txBody>
      </p:sp>
      <p:sp>
        <p:nvSpPr>
          <p:cNvPr id="5" name="矩形 4">
            <a:extLst>
              <a:ext uri="{FF2B5EF4-FFF2-40B4-BE49-F238E27FC236}">
                <a16:creationId xmlns:a16="http://schemas.microsoft.com/office/drawing/2014/main" id="{E47FA310-07BE-482A-9438-F56E41EF4685}"/>
              </a:ext>
            </a:extLst>
          </p:cNvPr>
          <p:cNvSpPr>
            <a:spLocks noGrp="1"/>
          </p:cNvSpPr>
          <p:nvPr/>
        </p:nvSpPr>
        <p:spPr>
          <a:xfrm>
            <a:off x="533400" y="1466850"/>
            <a:ext cx="6572250" cy="4095750"/>
          </a:xfrm>
          <a:prstGeom prst="rect">
            <a:avLst/>
          </a:prstGeom>
          <a:solidFill>
            <a:srgbClr val="F1F5F9"/>
          </a:solidFill>
          <a:ln w="0">
            <a:solidFill>
              <a:srgbClr val="F1F5F9"/>
            </a:solidFill>
            <a:prstDash val="solid"/>
          </a:ln>
        </p:spPr>
        <p:txBody>
          <a:bodyPr/>
          <a:lstStyle/>
          <a:p>
            <a:endParaRPr/>
          </a:p>
        </p:txBody>
      </p:sp>
      <p:pic>
        <p:nvPicPr>
          <p:cNvPr id="28" name="图片 24"/>
          <p:cNvPicPr>
            <a:picLocks noChangeAspect="1"/>
          </p:cNvPicPr>
          <p:nvPr/>
        </p:nvPicPr>
        <p:blipFill>
          <a:blip r:embed="rId3"/>
          <a:stretch/>
        </p:blipFill>
        <p:spPr>
          <a:xfrm>
            <a:off x="685800" y="1930400"/>
            <a:ext cx="6477000" cy="2806700"/>
          </a:xfrm>
          <a:prstGeom prst="rect">
            <a:avLst/>
          </a:prstGeom>
        </p:spPr>
      </p:pic>
      <p:sp>
        <p:nvSpPr>
          <p:cNvPr id="7" name="矩形 6">
            <a:extLst>
              <a:ext uri="{FF2B5EF4-FFF2-40B4-BE49-F238E27FC236}">
                <a16:creationId xmlns:a16="http://schemas.microsoft.com/office/drawing/2014/main" id="{C13A7EBA-69C0-4183-8F83-F32757037129}"/>
              </a:ext>
            </a:extLst>
          </p:cNvPr>
          <p:cNvSpPr>
            <a:spLocks noGrp="1"/>
          </p:cNvSpPr>
          <p:nvPr/>
        </p:nvSpPr>
        <p:spPr>
          <a:xfrm>
            <a:off x="7448549" y="1466849"/>
            <a:ext cx="4143375" cy="1390649"/>
          </a:xfrm>
          <a:prstGeom prst="rect">
            <a:avLst/>
          </a:prstGeom>
          <a:solidFill>
            <a:srgbClr val="EAF1FF"/>
          </a:solidFill>
          <a:ln w="14288">
            <a:solidFill>
              <a:srgbClr val="2457D6"/>
            </a:solidFill>
            <a:prstDash val="solid"/>
          </a:ln>
        </p:spPr>
        <p:txBody>
          <a:bodyPr/>
          <a:lstStyle/>
          <a:p>
            <a:endParaRPr/>
          </a:p>
        </p:txBody>
      </p:sp>
      <p:pic>
        <p:nvPicPr>
          <p:cNvPr id="30" name="图形 26"/>
          <p:cNvPicPr>
            <a:picLocks noChangeAspect="1"/>
          </p:cNvPicPr>
          <p:nvPr/>
        </p:nvPicPr>
        <p:blipFill>
          <a:blip>
            <a:extLst>
              <a:ext uri="{96DAC541-7B7A-43D3-8B79-37D633B846F1}">
                <asvg:svgBlip xmlns:asvg="http://schemas.microsoft.com/office/drawing/2016/SVG/main" r:embed="rId4"/>
              </a:ext>
            </a:extLst>
          </a:blip>
          <a:stretch/>
        </p:blipFill>
        <p:spPr>
          <a:xfrm>
            <a:off x="7772400" y="1581150"/>
            <a:ext cx="3429000" cy="666750"/>
          </a:xfrm>
          <a:prstGeom prst="rect">
            <a:avLst/>
          </a:prstGeom>
        </p:spPr>
      </p:pic>
      <p:sp>
        <p:nvSpPr>
          <p:cNvPr id="9" name="矩形 8">
            <a:extLst>
              <a:ext uri="{FF2B5EF4-FFF2-40B4-BE49-F238E27FC236}">
                <a16:creationId xmlns:a16="http://schemas.microsoft.com/office/drawing/2014/main" id="{CC067155-AD74-4CD8-B713-C6A8ECA16B5A}"/>
              </a:ext>
            </a:extLst>
          </p:cNvPr>
          <p:cNvSpPr>
            <a:spLocks noGrp="1"/>
          </p:cNvSpPr>
          <p:nvPr/>
        </p:nvSpPr>
        <p:spPr>
          <a:xfrm>
            <a:off x="7677150" y="2152650"/>
            <a:ext cx="3619500" cy="419100"/>
          </a:xfrm>
          <a:prstGeom prst="rect">
            <a:avLst/>
          </a:prstGeom>
          <a:noFill/>
          <a:ln w="0">
            <a:noFill/>
            <a:prstDash val="solid"/>
          </a:ln>
        </p:spPr>
        <p:txBody>
          <a:bodyPr lIns="0" tIns="0" rIns="0" bIns="0" anchor="t">
            <a:noAutofit/>
          </a:bodyPr>
          <a:lstStyle/>
          <a:p>
            <a:pPr algn="ctr">
              <a:buNone/>
              <a:defRPr sz="1125" b="0">
                <a:solidFill>
                  <a:srgbClr val="5B6472"/>
                </a:solidFill>
                <a:latin typeface="Aptos"/>
                <a:ea typeface="Aptos"/>
                <a:cs typeface="Aptos"/>
              </a:defRPr>
            </a:pPr>
            <a:r>
              <a:rPr sz="1400" b="0" dirty="0">
                <a:solidFill>
                  <a:srgbClr val="5B6472"/>
                </a:solidFill>
                <a:latin typeface="Aptos"/>
                <a:ea typeface="Aptos"/>
                <a:cs typeface="Aptos"/>
              </a:rPr>
              <a:t>r near 0: preserve the CABLE penalty</a:t>
            </a:r>
          </a:p>
          <a:p>
            <a:pPr algn="ctr">
              <a:buNone/>
              <a:defRPr sz="1125" b="0">
                <a:solidFill>
                  <a:srgbClr val="5B6472"/>
                </a:solidFill>
                <a:latin typeface="Aptos"/>
                <a:ea typeface="Aptos"/>
                <a:cs typeface="Aptos"/>
              </a:defRPr>
            </a:pPr>
            <a:r>
              <a:rPr sz="1400" b="0" dirty="0">
                <a:solidFill>
                  <a:srgbClr val="5B6472"/>
                </a:solidFill>
                <a:latin typeface="Aptos"/>
                <a:ea typeface="Aptos"/>
                <a:cs typeface="Aptos"/>
              </a:rPr>
              <a:t>r near 1: reduce the penalty towards zero, without adding a positive reward</a:t>
            </a:r>
          </a:p>
        </p:txBody>
      </p:sp>
      <p:sp>
        <p:nvSpPr>
          <p:cNvPr id="10" name="矩形 9">
            <a:extLst>
              <a:ext uri="{FF2B5EF4-FFF2-40B4-BE49-F238E27FC236}">
                <a16:creationId xmlns:a16="http://schemas.microsoft.com/office/drawing/2014/main" id="{EE065107-6118-41E5-9286-2FB698323467}"/>
              </a:ext>
            </a:extLst>
          </p:cNvPr>
          <p:cNvSpPr>
            <a:spLocks noGrp="1"/>
          </p:cNvSpPr>
          <p:nvPr/>
        </p:nvSpPr>
        <p:spPr>
          <a:xfrm>
            <a:off x="7524750" y="3124200"/>
            <a:ext cx="66675" cy="495300"/>
          </a:xfrm>
          <a:prstGeom prst="rect">
            <a:avLst/>
          </a:prstGeom>
          <a:solidFill>
            <a:srgbClr val="B42318"/>
          </a:solidFill>
          <a:ln w="0">
            <a:solidFill>
              <a:srgbClr val="B42318"/>
            </a:solidFill>
            <a:prstDash val="solid"/>
          </a:ln>
        </p:spPr>
        <p:txBody>
          <a:bodyPr/>
          <a:lstStyle/>
          <a:p>
            <a:endParaRPr/>
          </a:p>
        </p:txBody>
      </p:sp>
      <p:sp>
        <p:nvSpPr>
          <p:cNvPr id="11" name="矩形 10">
            <a:extLst>
              <a:ext uri="{FF2B5EF4-FFF2-40B4-BE49-F238E27FC236}">
                <a16:creationId xmlns:a16="http://schemas.microsoft.com/office/drawing/2014/main" id="{1648223C-E8B5-40CE-AB4F-8D7B6F53852A}"/>
              </a:ext>
            </a:extLst>
          </p:cNvPr>
          <p:cNvSpPr>
            <a:spLocks noGrp="1"/>
          </p:cNvSpPr>
          <p:nvPr/>
        </p:nvSpPr>
        <p:spPr>
          <a:xfrm>
            <a:off x="7734300" y="3067050"/>
            <a:ext cx="87630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Problem</a:t>
            </a:r>
          </a:p>
        </p:txBody>
      </p:sp>
      <p:sp>
        <p:nvSpPr>
          <p:cNvPr id="12" name="矩形 11">
            <a:extLst>
              <a:ext uri="{FF2B5EF4-FFF2-40B4-BE49-F238E27FC236}">
                <a16:creationId xmlns:a16="http://schemas.microsoft.com/office/drawing/2014/main" id="{080262AF-2D67-460F-B79D-AB01F5A37A26}"/>
              </a:ext>
            </a:extLst>
          </p:cNvPr>
          <p:cNvSpPr>
            <a:spLocks noGrp="1"/>
          </p:cNvSpPr>
          <p:nvPr/>
        </p:nvSpPr>
        <p:spPr>
          <a:xfrm>
            <a:off x="8743950" y="3067050"/>
            <a:ext cx="2686050" cy="533400"/>
          </a:xfrm>
          <a:prstGeom prst="rect">
            <a:avLst/>
          </a:prstGeom>
          <a:noFill/>
          <a:ln w="0">
            <a:noFill/>
            <a:prstDash val="solid"/>
          </a:ln>
        </p:spPr>
        <p:txBody>
          <a:bodyPr lIns="0" tIns="0" rIns="0" bIns="0" anchor="t">
            <a:no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Important distant information must still overcome a larger monotonic positional penalty</a:t>
            </a:r>
          </a:p>
        </p:txBody>
      </p:sp>
      <p:sp>
        <p:nvSpPr>
          <p:cNvPr id="13" name="矩形 12">
            <a:extLst>
              <a:ext uri="{FF2B5EF4-FFF2-40B4-BE49-F238E27FC236}">
                <a16:creationId xmlns:a16="http://schemas.microsoft.com/office/drawing/2014/main" id="{9F348AA9-01B3-479C-ADC6-E21F5B226382}"/>
              </a:ext>
            </a:extLst>
          </p:cNvPr>
          <p:cNvSpPr>
            <a:spLocks noGrp="1"/>
          </p:cNvSpPr>
          <p:nvPr/>
        </p:nvSpPr>
        <p:spPr>
          <a:xfrm>
            <a:off x="7524750" y="3886200"/>
            <a:ext cx="66675" cy="495300"/>
          </a:xfrm>
          <a:prstGeom prst="rect">
            <a:avLst/>
          </a:prstGeom>
          <a:solidFill>
            <a:srgbClr val="0F766E"/>
          </a:solidFill>
          <a:ln w="0">
            <a:solidFill>
              <a:srgbClr val="0F766E"/>
            </a:solidFill>
            <a:prstDash val="solid"/>
          </a:ln>
        </p:spPr>
        <p:txBody>
          <a:bodyPr/>
          <a:lstStyle/>
          <a:p>
            <a:endParaRPr/>
          </a:p>
        </p:txBody>
      </p:sp>
      <p:sp>
        <p:nvSpPr>
          <p:cNvPr id="14" name="矩形 13">
            <a:extLst>
              <a:ext uri="{FF2B5EF4-FFF2-40B4-BE49-F238E27FC236}">
                <a16:creationId xmlns:a16="http://schemas.microsoft.com/office/drawing/2014/main" id="{7FB52DB7-217C-437F-8D84-6E2E46C84953}"/>
              </a:ext>
            </a:extLst>
          </p:cNvPr>
          <p:cNvSpPr>
            <a:spLocks noGrp="1"/>
          </p:cNvSpPr>
          <p:nvPr/>
        </p:nvSpPr>
        <p:spPr>
          <a:xfrm>
            <a:off x="7734300" y="3829050"/>
            <a:ext cx="87630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Aim</a:t>
            </a:r>
          </a:p>
        </p:txBody>
      </p:sp>
      <p:sp>
        <p:nvSpPr>
          <p:cNvPr id="15" name="矩形 14">
            <a:extLst>
              <a:ext uri="{FF2B5EF4-FFF2-40B4-BE49-F238E27FC236}">
                <a16:creationId xmlns:a16="http://schemas.microsoft.com/office/drawing/2014/main" id="{ECF20220-0A30-4050-AB13-9926740112A7}"/>
              </a:ext>
            </a:extLst>
          </p:cNvPr>
          <p:cNvSpPr>
            <a:spLocks noGrp="1"/>
          </p:cNvSpPr>
          <p:nvPr/>
        </p:nvSpPr>
        <p:spPr>
          <a:xfrm>
            <a:off x="8743950" y="3829050"/>
            <a:ext cx="2686050" cy="533400"/>
          </a:xfrm>
          <a:prstGeom prst="rect">
            <a:avLst/>
          </a:prstGeom>
          <a:noFill/>
          <a:ln w="0">
            <a:noFill/>
            <a:prstDash val="solid"/>
          </a:ln>
        </p:spPr>
        <p:txBody>
          <a:bodyPr lIns="0" tIns="0" rIns="0" bIns="0" anchor="t">
            <a:no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Use query–key relevance to generate a constrained exemption gate</a:t>
            </a:r>
          </a:p>
        </p:txBody>
      </p:sp>
      <p:sp>
        <p:nvSpPr>
          <p:cNvPr id="16" name="矩形 15">
            <a:extLst>
              <a:ext uri="{FF2B5EF4-FFF2-40B4-BE49-F238E27FC236}">
                <a16:creationId xmlns:a16="http://schemas.microsoft.com/office/drawing/2014/main" id="{527EB9D7-3509-438F-A421-89B6C0CF91B3}"/>
              </a:ext>
            </a:extLst>
          </p:cNvPr>
          <p:cNvSpPr>
            <a:spLocks noGrp="1"/>
          </p:cNvSpPr>
          <p:nvPr/>
        </p:nvSpPr>
        <p:spPr>
          <a:xfrm>
            <a:off x="7524750" y="4648200"/>
            <a:ext cx="66675" cy="495300"/>
          </a:xfrm>
          <a:prstGeom prst="rect">
            <a:avLst/>
          </a:prstGeom>
          <a:solidFill>
            <a:srgbClr val="B45309"/>
          </a:solidFill>
          <a:ln w="0">
            <a:solidFill>
              <a:srgbClr val="B45309"/>
            </a:solidFill>
            <a:prstDash val="solid"/>
          </a:ln>
        </p:spPr>
        <p:txBody>
          <a:bodyPr/>
          <a:lstStyle/>
          <a:p>
            <a:endParaRPr/>
          </a:p>
        </p:txBody>
      </p:sp>
      <p:sp>
        <p:nvSpPr>
          <p:cNvPr id="17" name="矩形 16">
            <a:extLst>
              <a:ext uri="{FF2B5EF4-FFF2-40B4-BE49-F238E27FC236}">
                <a16:creationId xmlns:a16="http://schemas.microsoft.com/office/drawing/2014/main" id="{DF1AF5F6-B712-41B9-BBEC-15A363E3E6A6}"/>
              </a:ext>
            </a:extLst>
          </p:cNvPr>
          <p:cNvSpPr>
            <a:spLocks noGrp="1"/>
          </p:cNvSpPr>
          <p:nvPr/>
        </p:nvSpPr>
        <p:spPr>
          <a:xfrm>
            <a:off x="7734300" y="4591050"/>
            <a:ext cx="87630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Risk</a:t>
            </a:r>
          </a:p>
        </p:txBody>
      </p:sp>
      <p:sp>
        <p:nvSpPr>
          <p:cNvPr id="18" name="矩形 17">
            <a:extLst>
              <a:ext uri="{FF2B5EF4-FFF2-40B4-BE49-F238E27FC236}">
                <a16:creationId xmlns:a16="http://schemas.microsoft.com/office/drawing/2014/main" id="{82345CE4-6A66-44DC-BE93-CEE06005431D}"/>
              </a:ext>
            </a:extLst>
          </p:cNvPr>
          <p:cNvSpPr>
            <a:spLocks noGrp="1"/>
          </p:cNvSpPr>
          <p:nvPr/>
        </p:nvSpPr>
        <p:spPr>
          <a:xfrm>
            <a:off x="8743950" y="4591050"/>
            <a:ext cx="2686050" cy="533400"/>
          </a:xfrm>
          <a:prstGeom prst="rect">
            <a:avLst/>
          </a:prstGeom>
          <a:noFill/>
          <a:ln w="0">
            <a:noFill/>
            <a:prstDash val="solid"/>
          </a:ln>
        </p:spPr>
        <p:txBody>
          <a:bodyPr lIns="0" tIns="0" rIns="0" bIns="0" anchor="t">
            <a:no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Amplifying spurious relevance, frequent-token exemptions, and Attention sinks</a:t>
            </a:r>
          </a:p>
        </p:txBody>
      </p:sp>
      <p:sp>
        <p:nvSpPr>
          <p:cNvPr id="19" name="矩形 18">
            <a:extLst>
              <a:ext uri="{FF2B5EF4-FFF2-40B4-BE49-F238E27FC236}">
                <a16:creationId xmlns:a16="http://schemas.microsoft.com/office/drawing/2014/main" id="{AA9B4AB7-AAFA-4858-A0EB-C2E8E7EE2466}"/>
              </a:ext>
            </a:extLst>
          </p:cNvPr>
          <p:cNvSpPr>
            <a:spLocks noGrp="1"/>
          </p:cNvSpPr>
          <p:nvPr/>
        </p:nvSpPr>
        <p:spPr>
          <a:xfrm>
            <a:off x="609600" y="5905500"/>
            <a:ext cx="10934700" cy="266700"/>
          </a:xfrm>
          <a:prstGeom prst="rect">
            <a:avLst/>
          </a:prstGeom>
          <a:noFill/>
          <a:ln w="0">
            <a:noFill/>
            <a:prstDash val="solid"/>
          </a:ln>
        </p:spPr>
        <p:txBody>
          <a:bodyPr lIns="0" tIns="0" rIns="0" bIns="0" anchor="t">
            <a:normAutofit/>
          </a:bodyPr>
          <a:lstStyle/>
          <a:p>
            <a:pPr algn="ctr">
              <a:buNone/>
              <a:defRPr sz="1350" b="1">
                <a:solidFill>
                  <a:srgbClr val="111827"/>
                </a:solidFill>
                <a:latin typeface="Aptos"/>
                <a:ea typeface="Aptos"/>
                <a:cs typeface="Aptos"/>
              </a:defRPr>
            </a:pPr>
            <a:r>
              <a:rPr sz="1350" b="1">
                <a:solidFill>
                  <a:srgbClr val="111827"/>
                </a:solidFill>
                <a:latin typeface="Aptos"/>
                <a:ea typeface="Aptos"/>
                <a:cs typeface="Aptos"/>
              </a:rPr>
              <a:t>Non-monotonicity is not the goal; success requires joint gains in long-range tasks, semantic exemptions, and cost.</a:t>
            </a:r>
          </a:p>
        </p:txBody>
      </p:sp>
    </p:spTree>
    <p:extLst>
      <p:ext uri="{BB962C8B-B14F-4D97-AF65-F5344CB8AC3E}">
        <p14:creationId xmlns:p14="http://schemas.microsoft.com/office/powerpoint/2010/main" val="1236144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CF5868ED-516F-4C23-87AE-7E6F6CC5A3F7}"/>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3: design, evaluation, and current status</a:t>
            </a:r>
          </a:p>
        </p:txBody>
      </p:sp>
      <p:sp>
        <p:nvSpPr>
          <p:cNvPr id="2" name="矩形 1">
            <a:extLst>
              <a:ext uri="{FF2B5EF4-FFF2-40B4-BE49-F238E27FC236}">
                <a16:creationId xmlns:a16="http://schemas.microsoft.com/office/drawing/2014/main" id="{2CD5AA4D-E23F-420C-BBAD-075EF0073426}"/>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Results are still running; success criteria were fixed in advance</a:t>
            </a:r>
          </a:p>
        </p:txBody>
      </p:sp>
      <p:sp>
        <p:nvSpPr>
          <p:cNvPr id="3" name="直接连接符 2">
            <a:extLst>
              <a:ext uri="{FF2B5EF4-FFF2-40B4-BE49-F238E27FC236}">
                <a16:creationId xmlns:a16="http://schemas.microsoft.com/office/drawing/2014/main" id="{C6EC32FB-1708-499A-80B9-DE7C3B2AA4F6}"/>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332CA875-F804-447B-922D-A5C983E69D74}"/>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21</a:t>
            </a:r>
          </a:p>
        </p:txBody>
      </p:sp>
      <p:sp>
        <p:nvSpPr>
          <p:cNvPr id="5" name="矩形 4">
            <a:extLst>
              <a:ext uri="{FF2B5EF4-FFF2-40B4-BE49-F238E27FC236}">
                <a16:creationId xmlns:a16="http://schemas.microsoft.com/office/drawing/2014/main" id="{F0F78914-BEFE-4C66-A12A-8470B9563833}"/>
              </a:ext>
            </a:extLst>
          </p:cNvPr>
          <p:cNvSpPr>
            <a:spLocks noGrp="1"/>
          </p:cNvSpPr>
          <p:nvPr/>
        </p:nvSpPr>
        <p:spPr>
          <a:xfrm>
            <a:off x="609600" y="1524000"/>
            <a:ext cx="3429000" cy="1352550"/>
          </a:xfrm>
          <a:prstGeom prst="rect">
            <a:avLst/>
          </a:prstGeom>
          <a:solidFill>
            <a:srgbClr val="F1F5F9"/>
          </a:solidFill>
          <a:ln w="0">
            <a:solidFill>
              <a:srgbClr val="F1F5F9"/>
            </a:solidFill>
            <a:prstDash val="solid"/>
          </a:ln>
        </p:spPr>
        <p:txBody>
          <a:bodyPr/>
          <a:lstStyle/>
          <a:p>
            <a:endParaRPr/>
          </a:p>
        </p:txBody>
      </p:sp>
      <p:sp>
        <p:nvSpPr>
          <p:cNvPr id="6" name="矩形 5">
            <a:extLst>
              <a:ext uri="{FF2B5EF4-FFF2-40B4-BE49-F238E27FC236}">
                <a16:creationId xmlns:a16="http://schemas.microsoft.com/office/drawing/2014/main" id="{DD007F2E-718E-4EB5-A057-8D3A07B754C8}"/>
              </a:ext>
            </a:extLst>
          </p:cNvPr>
          <p:cNvSpPr>
            <a:spLocks noGrp="1"/>
          </p:cNvSpPr>
          <p:nvPr/>
        </p:nvSpPr>
        <p:spPr>
          <a:xfrm>
            <a:off x="800100" y="1714500"/>
            <a:ext cx="3048000" cy="247650"/>
          </a:xfrm>
          <a:prstGeom prst="rect">
            <a:avLst/>
          </a:prstGeom>
          <a:noFill/>
          <a:ln w="0">
            <a:noFill/>
            <a:prstDash val="solid"/>
          </a:ln>
        </p:spPr>
        <p:txBody>
          <a:bodyPr lIns="0" tIns="0" rIns="0" bIns="0" anchor="t">
            <a:normAutofit/>
          </a:bodyPr>
          <a:lstStyle/>
          <a:p>
            <a:pPr algn="l">
              <a:buNone/>
              <a:defRPr sz="1425" b="1">
                <a:solidFill>
                  <a:srgbClr val="2457D6"/>
                </a:solidFill>
                <a:latin typeface="Aptos"/>
                <a:ea typeface="Aptos"/>
                <a:cs typeface="Aptos"/>
              </a:defRPr>
            </a:pPr>
            <a:r>
              <a:rPr sz="1600" b="1" dirty="0">
                <a:solidFill>
                  <a:srgbClr val="2457D6"/>
                </a:solidFill>
                <a:latin typeface="Aptos"/>
                <a:ea typeface="Aptos"/>
                <a:cs typeface="Aptos"/>
              </a:rPr>
              <a:t>Comparisons</a:t>
            </a:r>
          </a:p>
        </p:txBody>
      </p:sp>
      <p:sp>
        <p:nvSpPr>
          <p:cNvPr id="7" name="矩形 6">
            <a:extLst>
              <a:ext uri="{FF2B5EF4-FFF2-40B4-BE49-F238E27FC236}">
                <a16:creationId xmlns:a16="http://schemas.microsoft.com/office/drawing/2014/main" id="{215526BB-83CB-4596-AC4D-7A471B8CE658}"/>
              </a:ext>
            </a:extLst>
          </p:cNvPr>
          <p:cNvSpPr>
            <a:spLocks noGrp="1"/>
          </p:cNvSpPr>
          <p:nvPr/>
        </p:nvSpPr>
        <p:spPr>
          <a:xfrm>
            <a:off x="800100" y="2133600"/>
            <a:ext cx="3048000" cy="514350"/>
          </a:xfrm>
          <a:prstGeom prst="rect">
            <a:avLst/>
          </a:prstGeom>
          <a:noFill/>
          <a:ln w="0">
            <a:noFill/>
            <a:prstDash val="solid"/>
          </a:ln>
        </p:spPr>
        <p:txBody>
          <a:bodyPr lIns="0" tIns="0" rIns="0" bIns="0" anchor="t">
            <a:normAutofit/>
          </a:bodyPr>
          <a:lstStyle/>
          <a:p>
            <a:pPr algn="ctr">
              <a:buNone/>
              <a:defRPr sz="1275" b="1">
                <a:solidFill>
                  <a:srgbClr val="111827"/>
                </a:solidFill>
                <a:latin typeface="Aptos"/>
                <a:ea typeface="Aptos"/>
                <a:cs typeface="Aptos"/>
              </a:defRPr>
            </a:pPr>
            <a:r>
              <a:rPr sz="1400" b="1" dirty="0" err="1">
                <a:solidFill>
                  <a:srgbClr val="111827"/>
                </a:solidFill>
                <a:latin typeface="Aptos"/>
                <a:ea typeface="Aptos"/>
                <a:cs typeface="Aptos"/>
              </a:rPr>
              <a:t>RoPE</a:t>
            </a:r>
            <a:r>
              <a:rPr sz="1400" b="1" dirty="0">
                <a:solidFill>
                  <a:srgbClr val="111827"/>
                </a:solidFill>
                <a:latin typeface="Aptos"/>
                <a:ea typeface="Aptos"/>
                <a:cs typeface="Aptos"/>
              </a:rPr>
              <a:t>, </a:t>
            </a:r>
            <a:r>
              <a:rPr sz="1400" b="1" dirty="0" err="1">
                <a:solidFill>
                  <a:srgbClr val="111827"/>
                </a:solidFill>
                <a:latin typeface="Aptos"/>
                <a:ea typeface="Aptos"/>
                <a:cs typeface="Aptos"/>
              </a:rPr>
              <a:t>ALiBi</a:t>
            </a:r>
            <a:r>
              <a:rPr sz="1400" b="1" dirty="0">
                <a:solidFill>
                  <a:srgbClr val="111827"/>
                </a:solidFill>
                <a:latin typeface="Aptos"/>
                <a:ea typeface="Aptos"/>
                <a:cs typeface="Aptos"/>
              </a:rPr>
              <a:t>, CABLE, and RA-CABLE</a:t>
            </a:r>
          </a:p>
        </p:txBody>
      </p:sp>
      <p:sp>
        <p:nvSpPr>
          <p:cNvPr id="8" name="矩形 7">
            <a:extLst>
              <a:ext uri="{FF2B5EF4-FFF2-40B4-BE49-F238E27FC236}">
                <a16:creationId xmlns:a16="http://schemas.microsoft.com/office/drawing/2014/main" id="{2A7002A6-46E7-4C34-8DF5-92B2FB7B6BBB}"/>
              </a:ext>
            </a:extLst>
          </p:cNvPr>
          <p:cNvSpPr>
            <a:spLocks noGrp="1"/>
          </p:cNvSpPr>
          <p:nvPr/>
        </p:nvSpPr>
        <p:spPr>
          <a:xfrm>
            <a:off x="4267200" y="1524000"/>
            <a:ext cx="3429000" cy="1352550"/>
          </a:xfrm>
          <a:prstGeom prst="rect">
            <a:avLst/>
          </a:prstGeom>
          <a:solidFill>
            <a:srgbClr val="F1F5F9"/>
          </a:solidFill>
          <a:ln w="0">
            <a:solidFill>
              <a:srgbClr val="F1F5F9"/>
            </a:solidFill>
            <a:prstDash val="solid"/>
          </a:ln>
        </p:spPr>
        <p:txBody>
          <a:bodyPr/>
          <a:lstStyle/>
          <a:p>
            <a:endParaRPr/>
          </a:p>
        </p:txBody>
      </p:sp>
      <p:sp>
        <p:nvSpPr>
          <p:cNvPr id="9" name="矩形 8">
            <a:extLst>
              <a:ext uri="{FF2B5EF4-FFF2-40B4-BE49-F238E27FC236}">
                <a16:creationId xmlns:a16="http://schemas.microsoft.com/office/drawing/2014/main" id="{A74D8542-5D15-439B-A713-2D77CE28322E}"/>
              </a:ext>
            </a:extLst>
          </p:cNvPr>
          <p:cNvSpPr>
            <a:spLocks noGrp="1"/>
          </p:cNvSpPr>
          <p:nvPr/>
        </p:nvSpPr>
        <p:spPr>
          <a:xfrm>
            <a:off x="4457700" y="1714500"/>
            <a:ext cx="3048000" cy="247650"/>
          </a:xfrm>
          <a:prstGeom prst="rect">
            <a:avLst/>
          </a:prstGeom>
          <a:noFill/>
          <a:ln w="0">
            <a:noFill/>
            <a:prstDash val="solid"/>
          </a:ln>
        </p:spPr>
        <p:txBody>
          <a:bodyPr lIns="0" tIns="0" rIns="0" bIns="0" anchor="t">
            <a:normAutofit/>
          </a:bodyPr>
          <a:lstStyle/>
          <a:p>
            <a:pPr algn="l">
              <a:buNone/>
              <a:defRPr sz="1425" b="1">
                <a:solidFill>
                  <a:srgbClr val="0F766E"/>
                </a:solidFill>
                <a:latin typeface="Aptos"/>
                <a:ea typeface="Aptos"/>
                <a:cs typeface="Aptos"/>
              </a:defRPr>
            </a:pPr>
            <a:r>
              <a:rPr sz="1600" b="1" dirty="0">
                <a:solidFill>
                  <a:srgbClr val="0F766E"/>
                </a:solidFill>
                <a:latin typeface="Aptos"/>
                <a:ea typeface="Aptos"/>
                <a:cs typeface="Aptos"/>
              </a:rPr>
              <a:t>Training scale</a:t>
            </a:r>
          </a:p>
        </p:txBody>
      </p:sp>
      <p:sp>
        <p:nvSpPr>
          <p:cNvPr id="10" name="矩形 9">
            <a:extLst>
              <a:ext uri="{FF2B5EF4-FFF2-40B4-BE49-F238E27FC236}">
                <a16:creationId xmlns:a16="http://schemas.microsoft.com/office/drawing/2014/main" id="{358C9203-2080-4DA2-9AE7-91E224C370D9}"/>
              </a:ext>
            </a:extLst>
          </p:cNvPr>
          <p:cNvSpPr>
            <a:spLocks noGrp="1"/>
          </p:cNvSpPr>
          <p:nvPr/>
        </p:nvSpPr>
        <p:spPr>
          <a:xfrm>
            <a:off x="4457700" y="2133600"/>
            <a:ext cx="3048000" cy="514350"/>
          </a:xfrm>
          <a:prstGeom prst="rect">
            <a:avLst/>
          </a:prstGeom>
          <a:noFill/>
          <a:ln w="0">
            <a:noFill/>
            <a:prstDash val="solid"/>
          </a:ln>
        </p:spPr>
        <p:txBody>
          <a:bodyPr lIns="0" tIns="0" rIns="0" bIns="0" anchor="t">
            <a:normAutofit/>
          </a:bodyPr>
          <a:lstStyle/>
          <a:p>
            <a:pPr algn="ctr">
              <a:buNone/>
              <a:defRPr sz="1275" b="1">
                <a:solidFill>
                  <a:srgbClr val="111827"/>
                </a:solidFill>
                <a:latin typeface="Aptos"/>
                <a:ea typeface="Aptos"/>
                <a:cs typeface="Aptos"/>
              </a:defRPr>
            </a:pPr>
            <a:r>
              <a:rPr sz="1400" b="1" dirty="0">
                <a:solidFill>
                  <a:srgbClr val="111827"/>
                </a:solidFill>
                <a:latin typeface="Aptos"/>
                <a:ea typeface="Aptos"/>
                <a:cs typeface="Aptos"/>
              </a:rPr>
              <a:t>GPT-2 Small scale; 1B tokens per model; 8 planned seeds</a:t>
            </a:r>
          </a:p>
        </p:txBody>
      </p:sp>
      <p:sp>
        <p:nvSpPr>
          <p:cNvPr id="11" name="矩形 10">
            <a:extLst>
              <a:ext uri="{FF2B5EF4-FFF2-40B4-BE49-F238E27FC236}">
                <a16:creationId xmlns:a16="http://schemas.microsoft.com/office/drawing/2014/main" id="{75B50471-B5E6-4D09-BBD0-1CD27D8306F0}"/>
              </a:ext>
            </a:extLst>
          </p:cNvPr>
          <p:cNvSpPr>
            <a:spLocks noGrp="1"/>
          </p:cNvSpPr>
          <p:nvPr/>
        </p:nvSpPr>
        <p:spPr>
          <a:xfrm>
            <a:off x="7924800" y="1524000"/>
            <a:ext cx="3429000" cy="1352550"/>
          </a:xfrm>
          <a:prstGeom prst="rect">
            <a:avLst/>
          </a:prstGeom>
          <a:solidFill>
            <a:srgbClr val="F1F5F9"/>
          </a:solidFill>
          <a:ln w="0">
            <a:solidFill>
              <a:srgbClr val="F1F5F9"/>
            </a:solidFill>
            <a:prstDash val="solid"/>
          </a:ln>
        </p:spPr>
        <p:txBody>
          <a:bodyPr/>
          <a:lstStyle/>
          <a:p>
            <a:endParaRPr/>
          </a:p>
        </p:txBody>
      </p:sp>
      <p:sp>
        <p:nvSpPr>
          <p:cNvPr id="12" name="矩形 11">
            <a:extLst>
              <a:ext uri="{FF2B5EF4-FFF2-40B4-BE49-F238E27FC236}">
                <a16:creationId xmlns:a16="http://schemas.microsoft.com/office/drawing/2014/main" id="{C1FCCB14-4886-4B97-8D09-22D643EE4A2D}"/>
              </a:ext>
            </a:extLst>
          </p:cNvPr>
          <p:cNvSpPr>
            <a:spLocks noGrp="1"/>
          </p:cNvSpPr>
          <p:nvPr/>
        </p:nvSpPr>
        <p:spPr>
          <a:xfrm>
            <a:off x="8115300" y="1714500"/>
            <a:ext cx="3048000" cy="247650"/>
          </a:xfrm>
          <a:prstGeom prst="rect">
            <a:avLst/>
          </a:prstGeom>
          <a:noFill/>
          <a:ln w="0">
            <a:noFill/>
            <a:prstDash val="solid"/>
          </a:ln>
        </p:spPr>
        <p:txBody>
          <a:bodyPr lIns="0" tIns="0" rIns="0" bIns="0" anchor="t">
            <a:normAutofit/>
          </a:bodyPr>
          <a:lstStyle/>
          <a:p>
            <a:pPr algn="l">
              <a:buNone/>
              <a:defRPr sz="1425" b="1">
                <a:solidFill>
                  <a:srgbClr val="6D3CC7"/>
                </a:solidFill>
                <a:latin typeface="Aptos"/>
                <a:ea typeface="Aptos"/>
                <a:cs typeface="Aptos"/>
              </a:defRPr>
            </a:pPr>
            <a:r>
              <a:rPr sz="1600" b="1" dirty="0">
                <a:solidFill>
                  <a:srgbClr val="6D3CC7"/>
                </a:solidFill>
                <a:latin typeface="Aptos"/>
                <a:ea typeface="Aptos"/>
                <a:cs typeface="Aptos"/>
              </a:rPr>
              <a:t>Lengths and tasks</a:t>
            </a:r>
          </a:p>
        </p:txBody>
      </p:sp>
      <p:sp>
        <p:nvSpPr>
          <p:cNvPr id="13" name="矩形 12">
            <a:extLst>
              <a:ext uri="{FF2B5EF4-FFF2-40B4-BE49-F238E27FC236}">
                <a16:creationId xmlns:a16="http://schemas.microsoft.com/office/drawing/2014/main" id="{79D12040-05D5-4DA9-8AD5-1938D65CA6EE}"/>
              </a:ext>
            </a:extLst>
          </p:cNvPr>
          <p:cNvSpPr>
            <a:spLocks noGrp="1"/>
          </p:cNvSpPr>
          <p:nvPr/>
        </p:nvSpPr>
        <p:spPr>
          <a:xfrm>
            <a:off x="8115300" y="2133600"/>
            <a:ext cx="3048000" cy="514350"/>
          </a:xfrm>
          <a:prstGeom prst="rect">
            <a:avLst/>
          </a:prstGeom>
          <a:noFill/>
          <a:ln w="0">
            <a:noFill/>
            <a:prstDash val="solid"/>
          </a:ln>
        </p:spPr>
        <p:txBody>
          <a:bodyPr lIns="0" tIns="0" rIns="0" bIns="0" anchor="t">
            <a:normAutofit/>
          </a:bodyPr>
          <a:lstStyle/>
          <a:p>
            <a:pPr algn="ctr">
              <a:buNone/>
              <a:defRPr sz="1275" b="1">
                <a:solidFill>
                  <a:srgbClr val="111827"/>
                </a:solidFill>
                <a:latin typeface="Aptos"/>
                <a:ea typeface="Aptos"/>
                <a:cs typeface="Aptos"/>
              </a:defRPr>
            </a:pPr>
            <a:r>
              <a:rPr sz="1400" b="1" dirty="0">
                <a:solidFill>
                  <a:srgbClr val="111827"/>
                </a:solidFill>
                <a:latin typeface="Aptos"/>
                <a:ea typeface="Aptos"/>
                <a:cs typeface="Aptos"/>
              </a:rPr>
              <a:t>1024/2048/4096/8192; natural text, QASPER, and remote retrieval</a:t>
            </a:r>
          </a:p>
        </p:txBody>
      </p:sp>
      <p:sp>
        <p:nvSpPr>
          <p:cNvPr id="14" name="矩形 13">
            <a:extLst>
              <a:ext uri="{FF2B5EF4-FFF2-40B4-BE49-F238E27FC236}">
                <a16:creationId xmlns:a16="http://schemas.microsoft.com/office/drawing/2014/main" id="{4C33EA5B-73D2-4AE8-B6D2-C947B4A23E5C}"/>
              </a:ext>
            </a:extLst>
          </p:cNvPr>
          <p:cNvSpPr>
            <a:spLocks noGrp="1"/>
          </p:cNvSpPr>
          <p:nvPr/>
        </p:nvSpPr>
        <p:spPr>
          <a:xfrm>
            <a:off x="609600" y="3219450"/>
            <a:ext cx="1447800" cy="247650"/>
          </a:xfrm>
          <a:prstGeom prst="rect">
            <a:avLst/>
          </a:prstGeom>
          <a:noFill/>
          <a:ln w="0">
            <a:noFill/>
            <a:prstDash val="solid"/>
          </a:ln>
        </p:spPr>
        <p:txBody>
          <a:bodyPr lIns="0" tIns="0" rIns="0" bIns="0" anchor="t">
            <a:normAutofit/>
          </a:bodyPr>
          <a:lstStyle/>
          <a:p>
            <a:pPr algn="l">
              <a:buNone/>
              <a:defRPr sz="1275" b="1">
                <a:solidFill>
                  <a:srgbClr val="111827"/>
                </a:solidFill>
                <a:latin typeface="Aptos"/>
                <a:ea typeface="Aptos"/>
                <a:cs typeface="Aptos"/>
              </a:defRPr>
            </a:pPr>
            <a:r>
              <a:rPr sz="1600" b="1" dirty="0">
                <a:solidFill>
                  <a:srgbClr val="111827"/>
                </a:solidFill>
                <a:latin typeface="Aptos"/>
                <a:ea typeface="Aptos"/>
                <a:cs typeface="Aptos"/>
              </a:rPr>
              <a:t>Long-range use</a:t>
            </a:r>
          </a:p>
        </p:txBody>
      </p:sp>
      <p:sp>
        <p:nvSpPr>
          <p:cNvPr id="15" name="矩形 14">
            <a:extLst>
              <a:ext uri="{FF2B5EF4-FFF2-40B4-BE49-F238E27FC236}">
                <a16:creationId xmlns:a16="http://schemas.microsoft.com/office/drawing/2014/main" id="{65A26EB2-2E6E-4655-8480-6F8B35F7491C}"/>
              </a:ext>
            </a:extLst>
          </p:cNvPr>
          <p:cNvSpPr>
            <a:spLocks noGrp="1"/>
          </p:cNvSpPr>
          <p:nvPr/>
        </p:nvSpPr>
        <p:spPr>
          <a:xfrm>
            <a:off x="2228850" y="3219450"/>
            <a:ext cx="3600450" cy="40005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Retrieval accuracy and Relevant Attention Advantage</a:t>
            </a:r>
          </a:p>
        </p:txBody>
      </p:sp>
      <p:sp>
        <p:nvSpPr>
          <p:cNvPr id="16" name="矩形 15">
            <a:extLst>
              <a:ext uri="{FF2B5EF4-FFF2-40B4-BE49-F238E27FC236}">
                <a16:creationId xmlns:a16="http://schemas.microsoft.com/office/drawing/2014/main" id="{17D6E18A-1D65-4D76-B455-BBD2D1F78A3C}"/>
              </a:ext>
            </a:extLst>
          </p:cNvPr>
          <p:cNvSpPr>
            <a:spLocks noGrp="1"/>
          </p:cNvSpPr>
          <p:nvPr/>
        </p:nvSpPr>
        <p:spPr>
          <a:xfrm>
            <a:off x="6096000" y="3219450"/>
            <a:ext cx="1447800" cy="247650"/>
          </a:xfrm>
          <a:prstGeom prst="rect">
            <a:avLst/>
          </a:prstGeom>
          <a:noFill/>
          <a:ln w="0">
            <a:noFill/>
            <a:prstDash val="solid"/>
          </a:ln>
        </p:spPr>
        <p:txBody>
          <a:bodyPr lIns="0" tIns="0" rIns="0" bIns="0" anchor="t">
            <a:noAutofit/>
          </a:bodyPr>
          <a:lstStyle/>
          <a:p>
            <a:pPr algn="l">
              <a:buNone/>
              <a:defRPr sz="1275" b="1">
                <a:solidFill>
                  <a:srgbClr val="111827"/>
                </a:solidFill>
                <a:latin typeface="Aptos"/>
                <a:ea typeface="Aptos"/>
                <a:cs typeface="Aptos"/>
              </a:defRPr>
            </a:pPr>
            <a:r>
              <a:rPr sz="1600" b="1" dirty="0">
                <a:solidFill>
                  <a:srgbClr val="111827"/>
                </a:solidFill>
                <a:latin typeface="Aptos"/>
                <a:ea typeface="Aptos"/>
                <a:cs typeface="Aptos"/>
              </a:rPr>
              <a:t>Exemption semantics</a:t>
            </a:r>
          </a:p>
        </p:txBody>
      </p:sp>
      <p:sp>
        <p:nvSpPr>
          <p:cNvPr id="17" name="矩形 16">
            <a:extLst>
              <a:ext uri="{FF2B5EF4-FFF2-40B4-BE49-F238E27FC236}">
                <a16:creationId xmlns:a16="http://schemas.microsoft.com/office/drawing/2014/main" id="{193BE31B-AAF4-47C9-8ABE-6741846885FC}"/>
              </a:ext>
            </a:extLst>
          </p:cNvPr>
          <p:cNvSpPr>
            <a:spLocks noGrp="1"/>
          </p:cNvSpPr>
          <p:nvPr/>
        </p:nvSpPr>
        <p:spPr>
          <a:xfrm>
            <a:off x="7715250" y="3219450"/>
            <a:ext cx="3600450" cy="40005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Higher SESR while controlling FER and Attention sinks</a:t>
            </a:r>
          </a:p>
        </p:txBody>
      </p:sp>
      <p:sp>
        <p:nvSpPr>
          <p:cNvPr id="18" name="矩形 17">
            <a:extLst>
              <a:ext uri="{FF2B5EF4-FFF2-40B4-BE49-F238E27FC236}">
                <a16:creationId xmlns:a16="http://schemas.microsoft.com/office/drawing/2014/main" id="{07F523CF-9436-4842-9D49-2208AFECB6EC}"/>
              </a:ext>
            </a:extLst>
          </p:cNvPr>
          <p:cNvSpPr>
            <a:spLocks noGrp="1"/>
          </p:cNvSpPr>
          <p:nvPr/>
        </p:nvSpPr>
        <p:spPr>
          <a:xfrm>
            <a:off x="609600" y="3981450"/>
            <a:ext cx="1447800" cy="247650"/>
          </a:xfrm>
          <a:prstGeom prst="rect">
            <a:avLst/>
          </a:prstGeom>
          <a:noFill/>
          <a:ln w="0">
            <a:noFill/>
            <a:prstDash val="solid"/>
          </a:ln>
        </p:spPr>
        <p:txBody>
          <a:bodyPr lIns="0" tIns="0" rIns="0" bIns="0" anchor="t">
            <a:noAutofit/>
          </a:bodyPr>
          <a:lstStyle/>
          <a:p>
            <a:pPr algn="l">
              <a:buNone/>
              <a:defRPr sz="1275" b="1">
                <a:solidFill>
                  <a:srgbClr val="111827"/>
                </a:solidFill>
                <a:latin typeface="Aptos"/>
                <a:ea typeface="Aptos"/>
                <a:cs typeface="Aptos"/>
              </a:defRPr>
            </a:pPr>
            <a:r>
              <a:rPr sz="1600" b="1" dirty="0">
                <a:solidFill>
                  <a:srgbClr val="111827"/>
                </a:solidFill>
                <a:latin typeface="Aptos"/>
                <a:ea typeface="Aptos"/>
                <a:cs typeface="Aptos"/>
              </a:rPr>
              <a:t>Short-context protection</a:t>
            </a:r>
          </a:p>
        </p:txBody>
      </p:sp>
      <p:sp>
        <p:nvSpPr>
          <p:cNvPr id="19" name="矩形 18">
            <a:extLst>
              <a:ext uri="{FF2B5EF4-FFF2-40B4-BE49-F238E27FC236}">
                <a16:creationId xmlns:a16="http://schemas.microsoft.com/office/drawing/2014/main" id="{D39F0A51-F07D-48A0-AF10-8356F88AF25C}"/>
              </a:ext>
            </a:extLst>
          </p:cNvPr>
          <p:cNvSpPr>
            <a:spLocks noGrp="1"/>
          </p:cNvSpPr>
          <p:nvPr/>
        </p:nvSpPr>
        <p:spPr>
          <a:xfrm>
            <a:off x="2228850" y="3981450"/>
            <a:ext cx="3600450" cy="40005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At length 1024, PPL degrades by no more than 1% relative to CABLE</a:t>
            </a:r>
          </a:p>
        </p:txBody>
      </p:sp>
      <p:sp>
        <p:nvSpPr>
          <p:cNvPr id="20" name="矩形 19">
            <a:extLst>
              <a:ext uri="{FF2B5EF4-FFF2-40B4-BE49-F238E27FC236}">
                <a16:creationId xmlns:a16="http://schemas.microsoft.com/office/drawing/2014/main" id="{D3523450-39F1-4D36-BE96-E883B7CD59DD}"/>
              </a:ext>
            </a:extLst>
          </p:cNvPr>
          <p:cNvSpPr>
            <a:spLocks noGrp="1"/>
          </p:cNvSpPr>
          <p:nvPr/>
        </p:nvSpPr>
        <p:spPr>
          <a:xfrm>
            <a:off x="6096000" y="3981450"/>
            <a:ext cx="1447800" cy="247650"/>
          </a:xfrm>
          <a:prstGeom prst="rect">
            <a:avLst/>
          </a:prstGeom>
          <a:noFill/>
          <a:ln w="0">
            <a:noFill/>
            <a:prstDash val="solid"/>
          </a:ln>
        </p:spPr>
        <p:txBody>
          <a:bodyPr lIns="0" tIns="0" rIns="0" bIns="0" anchor="t">
            <a:normAutofit/>
          </a:bodyPr>
          <a:lstStyle/>
          <a:p>
            <a:pPr algn="l">
              <a:buNone/>
              <a:defRPr sz="1275" b="1">
                <a:solidFill>
                  <a:srgbClr val="111827"/>
                </a:solidFill>
                <a:latin typeface="Aptos"/>
                <a:ea typeface="Aptos"/>
                <a:cs typeface="Aptos"/>
              </a:defRPr>
            </a:pPr>
            <a:r>
              <a:rPr sz="1600" b="1" dirty="0">
                <a:solidFill>
                  <a:srgbClr val="111827"/>
                </a:solidFill>
                <a:latin typeface="Aptos"/>
                <a:ea typeface="Aptos"/>
                <a:cs typeface="Aptos"/>
              </a:rPr>
              <a:t>Real-world task</a:t>
            </a:r>
          </a:p>
        </p:txBody>
      </p:sp>
      <p:sp>
        <p:nvSpPr>
          <p:cNvPr id="21" name="矩形 20">
            <a:extLst>
              <a:ext uri="{FF2B5EF4-FFF2-40B4-BE49-F238E27FC236}">
                <a16:creationId xmlns:a16="http://schemas.microsoft.com/office/drawing/2014/main" id="{49632060-8A32-4758-BFE0-331843BBF305}"/>
              </a:ext>
            </a:extLst>
          </p:cNvPr>
          <p:cNvSpPr>
            <a:spLocks noGrp="1"/>
          </p:cNvSpPr>
          <p:nvPr/>
        </p:nvSpPr>
        <p:spPr>
          <a:xfrm>
            <a:off x="7715250" y="3981450"/>
            <a:ext cx="3600450" cy="40005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QASPER F1/EM and evidence-use gains</a:t>
            </a:r>
          </a:p>
        </p:txBody>
      </p:sp>
      <p:sp>
        <p:nvSpPr>
          <p:cNvPr id="22" name="矩形 21">
            <a:extLst>
              <a:ext uri="{FF2B5EF4-FFF2-40B4-BE49-F238E27FC236}">
                <a16:creationId xmlns:a16="http://schemas.microsoft.com/office/drawing/2014/main" id="{134537D3-3BD5-41EE-96C2-991DEA21C163}"/>
              </a:ext>
            </a:extLst>
          </p:cNvPr>
          <p:cNvSpPr>
            <a:spLocks noGrp="1"/>
          </p:cNvSpPr>
          <p:nvPr/>
        </p:nvSpPr>
        <p:spPr>
          <a:xfrm>
            <a:off x="609600" y="4743450"/>
            <a:ext cx="1447800" cy="247650"/>
          </a:xfrm>
          <a:prstGeom prst="rect">
            <a:avLst/>
          </a:prstGeom>
          <a:noFill/>
          <a:ln w="0">
            <a:noFill/>
            <a:prstDash val="solid"/>
          </a:ln>
        </p:spPr>
        <p:txBody>
          <a:bodyPr lIns="0" tIns="0" rIns="0" bIns="0" anchor="t">
            <a:noAutofit/>
          </a:bodyPr>
          <a:lstStyle/>
          <a:p>
            <a:pPr algn="l">
              <a:buNone/>
              <a:defRPr sz="1275" b="1">
                <a:solidFill>
                  <a:srgbClr val="111827"/>
                </a:solidFill>
                <a:latin typeface="Aptos"/>
                <a:ea typeface="Aptos"/>
                <a:cs typeface="Aptos"/>
              </a:defRPr>
            </a:pPr>
            <a:r>
              <a:rPr sz="1600" b="1" dirty="0">
                <a:solidFill>
                  <a:srgbClr val="111827"/>
                </a:solidFill>
                <a:latin typeface="Aptos"/>
                <a:ea typeface="Aptos"/>
                <a:cs typeface="Aptos"/>
              </a:rPr>
              <a:t>Engineering cost</a:t>
            </a:r>
          </a:p>
        </p:txBody>
      </p:sp>
      <p:sp>
        <p:nvSpPr>
          <p:cNvPr id="23" name="矩形 22">
            <a:extLst>
              <a:ext uri="{FF2B5EF4-FFF2-40B4-BE49-F238E27FC236}">
                <a16:creationId xmlns:a16="http://schemas.microsoft.com/office/drawing/2014/main" id="{40D70A11-637C-4FB0-A404-896878053DBF}"/>
              </a:ext>
            </a:extLst>
          </p:cNvPr>
          <p:cNvSpPr>
            <a:spLocks noGrp="1"/>
          </p:cNvSpPr>
          <p:nvPr/>
        </p:nvSpPr>
        <p:spPr>
          <a:xfrm>
            <a:off x="2228850" y="4743450"/>
            <a:ext cx="3600450" cy="40005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Training, inference, throughput, and peak memory</a:t>
            </a:r>
          </a:p>
        </p:txBody>
      </p:sp>
      <p:sp>
        <p:nvSpPr>
          <p:cNvPr id="24" name="矩形 23">
            <a:extLst>
              <a:ext uri="{FF2B5EF4-FFF2-40B4-BE49-F238E27FC236}">
                <a16:creationId xmlns:a16="http://schemas.microsoft.com/office/drawing/2014/main" id="{C9FB53EC-7972-45C7-97E0-E3681D289CF1}"/>
              </a:ext>
            </a:extLst>
          </p:cNvPr>
          <p:cNvSpPr>
            <a:spLocks noGrp="1"/>
          </p:cNvSpPr>
          <p:nvPr/>
        </p:nvSpPr>
        <p:spPr>
          <a:xfrm>
            <a:off x="6096000" y="4743450"/>
            <a:ext cx="1447800" cy="247650"/>
          </a:xfrm>
          <a:prstGeom prst="rect">
            <a:avLst/>
          </a:prstGeom>
          <a:noFill/>
          <a:ln w="0">
            <a:noFill/>
            <a:prstDash val="solid"/>
          </a:ln>
        </p:spPr>
        <p:txBody>
          <a:bodyPr lIns="0" tIns="0" rIns="0" bIns="0" anchor="t">
            <a:normAutofit/>
          </a:bodyPr>
          <a:lstStyle/>
          <a:p>
            <a:pPr algn="l">
              <a:buNone/>
              <a:defRPr sz="1275" b="1">
                <a:solidFill>
                  <a:srgbClr val="111827"/>
                </a:solidFill>
                <a:latin typeface="Aptos"/>
                <a:ea typeface="Aptos"/>
                <a:cs typeface="Aptos"/>
              </a:defRPr>
            </a:pPr>
            <a:r>
              <a:rPr sz="1600" b="1" dirty="0">
                <a:solidFill>
                  <a:srgbClr val="111827"/>
                </a:solidFill>
                <a:latin typeface="Aptos"/>
                <a:ea typeface="Aptos"/>
                <a:cs typeface="Aptos"/>
              </a:rPr>
              <a:t>Causal link</a:t>
            </a:r>
          </a:p>
        </p:txBody>
      </p:sp>
      <p:sp>
        <p:nvSpPr>
          <p:cNvPr id="25" name="矩形 24">
            <a:extLst>
              <a:ext uri="{FF2B5EF4-FFF2-40B4-BE49-F238E27FC236}">
                <a16:creationId xmlns:a16="http://schemas.microsoft.com/office/drawing/2014/main" id="{05E112FF-0544-47E1-888D-D115B40FD27B}"/>
              </a:ext>
            </a:extLst>
          </p:cNvPr>
          <p:cNvSpPr>
            <a:spLocks noGrp="1"/>
          </p:cNvSpPr>
          <p:nvPr/>
        </p:nvSpPr>
        <p:spPr>
          <a:xfrm>
            <a:off x="7715250" y="4743450"/>
            <a:ext cx="3600450" cy="40005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Changes in distance patterns must correlate with task gains</a:t>
            </a:r>
          </a:p>
        </p:txBody>
      </p:sp>
      <p:sp>
        <p:nvSpPr>
          <p:cNvPr id="26" name="矩形 25">
            <a:extLst>
              <a:ext uri="{FF2B5EF4-FFF2-40B4-BE49-F238E27FC236}">
                <a16:creationId xmlns:a16="http://schemas.microsoft.com/office/drawing/2014/main" id="{109505A2-C81B-485E-8203-41B0A7AA5910}"/>
              </a:ext>
            </a:extLst>
          </p:cNvPr>
          <p:cNvSpPr>
            <a:spLocks noGrp="1"/>
          </p:cNvSpPr>
          <p:nvPr/>
        </p:nvSpPr>
        <p:spPr>
          <a:xfrm>
            <a:off x="4781550" y="5619461"/>
            <a:ext cx="2914650" cy="381000"/>
          </a:xfrm>
          <a:prstGeom prst="rect">
            <a:avLst/>
          </a:prstGeom>
          <a:solidFill>
            <a:srgbClr val="FFF4DB"/>
          </a:solidFill>
          <a:ln w="0">
            <a:solidFill>
              <a:srgbClr val="FFF4DB"/>
            </a:solidFill>
            <a:prstDash val="solid"/>
          </a:ln>
        </p:spPr>
        <p:txBody>
          <a:bodyPr/>
          <a:lstStyle/>
          <a:p>
            <a:endParaRPr/>
          </a:p>
        </p:txBody>
      </p:sp>
      <p:sp>
        <p:nvSpPr>
          <p:cNvPr id="27" name="矩形 26">
            <a:extLst>
              <a:ext uri="{FF2B5EF4-FFF2-40B4-BE49-F238E27FC236}">
                <a16:creationId xmlns:a16="http://schemas.microsoft.com/office/drawing/2014/main" id="{D0D2FCB6-80D5-4320-9EC6-4E4516BDB0EC}"/>
              </a:ext>
            </a:extLst>
          </p:cNvPr>
          <p:cNvSpPr>
            <a:spLocks noGrp="1"/>
          </p:cNvSpPr>
          <p:nvPr/>
        </p:nvSpPr>
        <p:spPr>
          <a:xfrm>
            <a:off x="5100204" y="5714711"/>
            <a:ext cx="2324100" cy="190500"/>
          </a:xfrm>
          <a:prstGeom prst="rect">
            <a:avLst/>
          </a:prstGeom>
          <a:noFill/>
          <a:ln w="0">
            <a:noFill/>
            <a:prstDash val="solid"/>
          </a:ln>
        </p:spPr>
        <p:txBody>
          <a:bodyPr lIns="0" tIns="0" rIns="0" bIns="0" anchor="ctr">
            <a:noAutofit/>
          </a:bodyPr>
          <a:lstStyle/>
          <a:p>
            <a:pPr algn="ctr">
              <a:buNone/>
              <a:defRPr sz="975" b="1">
                <a:solidFill>
                  <a:srgbClr val="B45309"/>
                </a:solidFill>
                <a:latin typeface="Aptos"/>
                <a:ea typeface="Aptos"/>
                <a:cs typeface="Aptos"/>
              </a:defRPr>
            </a:pPr>
            <a:r>
              <a:rPr sz="1600" b="1" dirty="0">
                <a:solidFill>
                  <a:srgbClr val="B45309"/>
                </a:solidFill>
                <a:latin typeface="Aptos"/>
                <a:ea typeface="Aptos"/>
                <a:cs typeface="Aptos"/>
              </a:rPr>
              <a:t>Experiment still running</a:t>
            </a:r>
          </a:p>
        </p:txBody>
      </p:sp>
      <p:sp>
        <p:nvSpPr>
          <p:cNvPr id="28" name="矩形 27">
            <a:extLst>
              <a:ext uri="{FF2B5EF4-FFF2-40B4-BE49-F238E27FC236}">
                <a16:creationId xmlns:a16="http://schemas.microsoft.com/office/drawing/2014/main" id="{DA47F8A9-7E6D-4E96-901C-F4040F218EB0}"/>
              </a:ext>
            </a:extLst>
          </p:cNvPr>
          <p:cNvSpPr>
            <a:spLocks noGrp="1"/>
          </p:cNvSpPr>
          <p:nvPr/>
        </p:nvSpPr>
        <p:spPr>
          <a:xfrm>
            <a:off x="609600" y="6115050"/>
            <a:ext cx="10934700" cy="228600"/>
          </a:xfrm>
          <a:prstGeom prst="rect">
            <a:avLst/>
          </a:prstGeom>
          <a:noFill/>
          <a:ln w="0">
            <a:noFill/>
            <a:prstDash val="solid"/>
          </a:ln>
        </p:spPr>
        <p:txBody>
          <a:bodyPr lIns="0" tIns="0" rIns="0" bIns="0" anchor="t">
            <a:noAutofit/>
          </a:bodyPr>
          <a:lstStyle/>
          <a:p>
            <a:pPr algn="ctr">
              <a:buNone/>
              <a:defRPr sz="1275" b="1">
                <a:solidFill>
                  <a:srgbClr val="111827"/>
                </a:solidFill>
                <a:latin typeface="Aptos"/>
                <a:ea typeface="Aptos"/>
                <a:cs typeface="Aptos"/>
              </a:defRPr>
            </a:pPr>
            <a:r>
              <a:rPr sz="1600" b="1" dirty="0">
                <a:solidFill>
                  <a:srgbClr val="111827"/>
                </a:solidFill>
                <a:latin typeface="Aptos"/>
                <a:ea typeface="Aptos"/>
                <a:cs typeface="Aptos"/>
              </a:rPr>
              <a:t>Results will be added after the full cross-seed evaluation.</a:t>
            </a:r>
          </a:p>
        </p:txBody>
      </p:sp>
    </p:spTree>
    <p:extLst>
      <p:ext uri="{BB962C8B-B14F-4D97-AF65-F5344CB8AC3E}">
        <p14:creationId xmlns:p14="http://schemas.microsoft.com/office/powerpoint/2010/main" val="1684571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A5A67DE1-73A9-4E65-AA32-ED094F3E21A1}"/>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3: limitations and next steps</a:t>
            </a:r>
          </a:p>
        </p:txBody>
      </p:sp>
      <p:sp>
        <p:nvSpPr>
          <p:cNvPr id="2" name="矩形 1">
            <a:extLst>
              <a:ext uri="{FF2B5EF4-FFF2-40B4-BE49-F238E27FC236}">
                <a16:creationId xmlns:a16="http://schemas.microsoft.com/office/drawing/2014/main" id="{59751295-8EC9-423E-9E20-4A6903F48CE5}"/>
              </a:ext>
            </a:extLst>
          </p:cNvPr>
          <p:cNvSpPr>
            <a:spLocks noGrp="1"/>
          </p:cNvSpPr>
          <p:nvPr/>
        </p:nvSpPr>
        <p:spPr>
          <a:xfrm>
            <a:off x="533400" y="542925"/>
            <a:ext cx="10858500" cy="590550"/>
          </a:xfrm>
          <a:prstGeom prst="rect">
            <a:avLst/>
          </a:prstGeom>
          <a:noFill/>
          <a:ln w="0">
            <a:noFill/>
            <a:prstDash val="solid"/>
          </a:ln>
        </p:spPr>
        <p:txBody>
          <a:bodyPr lIns="0" tIns="0" rIns="0" bIns="0" anchor="t">
            <a:noAutofit/>
          </a:bodyPr>
          <a:lstStyle/>
          <a:p>
            <a:pPr algn="l">
              <a:buNone/>
              <a:defRPr sz="2700" b="1">
                <a:solidFill>
                  <a:srgbClr val="111827"/>
                </a:solidFill>
                <a:latin typeface="Aptos"/>
                <a:ea typeface="Aptos"/>
                <a:cs typeface="Aptos"/>
              </a:defRPr>
            </a:pPr>
            <a:r>
              <a:rPr sz="2400" b="1" dirty="0">
                <a:solidFill>
                  <a:srgbClr val="111827"/>
                </a:solidFill>
                <a:latin typeface="Aptos"/>
                <a:ea typeface="Aptos"/>
                <a:cs typeface="Aptos"/>
              </a:rPr>
              <a:t>The experiment is incomplete; the priority is a full evidence chain under the preregistered criteria</a:t>
            </a:r>
          </a:p>
        </p:txBody>
      </p:sp>
      <p:sp>
        <p:nvSpPr>
          <p:cNvPr id="3" name="直接连接符 2">
            <a:extLst>
              <a:ext uri="{FF2B5EF4-FFF2-40B4-BE49-F238E27FC236}">
                <a16:creationId xmlns:a16="http://schemas.microsoft.com/office/drawing/2014/main" id="{D440D00B-86B2-44BB-98EB-37ADB93EB449}"/>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4C03113A-30F9-40D2-804B-BBA81BAD28E5}"/>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22</a:t>
            </a:r>
          </a:p>
        </p:txBody>
      </p:sp>
      <p:sp>
        <p:nvSpPr>
          <p:cNvPr id="5" name="矩形 4">
            <a:extLst>
              <a:ext uri="{FF2B5EF4-FFF2-40B4-BE49-F238E27FC236}">
                <a16:creationId xmlns:a16="http://schemas.microsoft.com/office/drawing/2014/main" id="{36F8B299-6EB7-4D92-B87B-E5DADEFB1297}"/>
              </a:ext>
            </a:extLst>
          </p:cNvPr>
          <p:cNvSpPr>
            <a:spLocks noGrp="1"/>
          </p:cNvSpPr>
          <p:nvPr/>
        </p:nvSpPr>
        <p:spPr>
          <a:xfrm>
            <a:off x="609600" y="1562100"/>
            <a:ext cx="4000500" cy="285750"/>
          </a:xfrm>
          <a:prstGeom prst="rect">
            <a:avLst/>
          </a:prstGeom>
          <a:noFill/>
          <a:ln w="0">
            <a:noFill/>
            <a:prstDash val="solid"/>
          </a:ln>
        </p:spPr>
        <p:txBody>
          <a:bodyPr lIns="0" tIns="0" rIns="0" bIns="0" anchor="t">
            <a:normAutofit/>
          </a:bodyPr>
          <a:lstStyle/>
          <a:p>
            <a:pPr algn="l">
              <a:buNone/>
              <a:defRPr sz="1725" b="1">
                <a:solidFill>
                  <a:srgbClr val="B42318"/>
                </a:solidFill>
                <a:latin typeface="Aptos"/>
                <a:ea typeface="Aptos"/>
                <a:cs typeface="Aptos"/>
              </a:defRPr>
            </a:pPr>
            <a:r>
              <a:rPr sz="1725" b="1">
                <a:solidFill>
                  <a:srgbClr val="B42318"/>
                </a:solidFill>
                <a:latin typeface="Aptos"/>
                <a:ea typeface="Aptos"/>
                <a:cs typeface="Aptos"/>
              </a:rPr>
              <a:t>Current limitations</a:t>
            </a:r>
          </a:p>
        </p:txBody>
      </p:sp>
      <p:sp>
        <p:nvSpPr>
          <p:cNvPr id="6" name="矩形 5">
            <a:extLst>
              <a:ext uri="{FF2B5EF4-FFF2-40B4-BE49-F238E27FC236}">
                <a16:creationId xmlns:a16="http://schemas.microsoft.com/office/drawing/2014/main" id="{C6351CD9-2512-4089-944E-4A7A53A7A859}"/>
              </a:ext>
            </a:extLst>
          </p:cNvPr>
          <p:cNvSpPr>
            <a:spLocks noGrp="1"/>
          </p:cNvSpPr>
          <p:nvPr/>
        </p:nvSpPr>
        <p:spPr>
          <a:xfrm>
            <a:off x="6419850" y="1562100"/>
            <a:ext cx="4000500" cy="285750"/>
          </a:xfrm>
          <a:prstGeom prst="rect">
            <a:avLst/>
          </a:prstGeom>
          <a:noFill/>
          <a:ln w="0">
            <a:noFill/>
            <a:prstDash val="solid"/>
          </a:ln>
        </p:spPr>
        <p:txBody>
          <a:bodyPr lIns="0" tIns="0" rIns="0" bIns="0" anchor="t">
            <a:normAutofit/>
          </a:bodyPr>
          <a:lstStyle/>
          <a:p>
            <a:pPr algn="l">
              <a:buNone/>
              <a:defRPr sz="1725" b="1">
                <a:solidFill>
                  <a:srgbClr val="2457D6"/>
                </a:solidFill>
                <a:latin typeface="Aptos"/>
                <a:ea typeface="Aptos"/>
                <a:cs typeface="Aptos"/>
              </a:defRPr>
            </a:pPr>
            <a:r>
              <a:rPr sz="1725" b="1">
                <a:solidFill>
                  <a:srgbClr val="2457D6"/>
                </a:solidFill>
                <a:latin typeface="Aptos"/>
                <a:ea typeface="Aptos"/>
                <a:cs typeface="Aptos"/>
              </a:rPr>
              <a:t>Next steps</a:t>
            </a:r>
          </a:p>
        </p:txBody>
      </p:sp>
      <p:sp>
        <p:nvSpPr>
          <p:cNvPr id="7" name="矩形 6">
            <a:extLst>
              <a:ext uri="{FF2B5EF4-FFF2-40B4-BE49-F238E27FC236}">
                <a16:creationId xmlns:a16="http://schemas.microsoft.com/office/drawing/2014/main" id="{6C447652-597C-4829-82AC-BAD628E3B321}"/>
              </a:ext>
            </a:extLst>
          </p:cNvPr>
          <p:cNvSpPr>
            <a:spLocks noGrp="1"/>
          </p:cNvSpPr>
          <p:nvPr/>
        </p:nvSpPr>
        <p:spPr>
          <a:xfrm>
            <a:off x="609600" y="2076450"/>
            <a:ext cx="66675" cy="666750"/>
          </a:xfrm>
          <a:prstGeom prst="rect">
            <a:avLst/>
          </a:prstGeom>
          <a:solidFill>
            <a:srgbClr val="B42318"/>
          </a:solidFill>
          <a:ln w="0">
            <a:solidFill>
              <a:srgbClr val="B42318"/>
            </a:solidFill>
            <a:prstDash val="solid"/>
          </a:ln>
        </p:spPr>
        <p:txBody>
          <a:bodyPr/>
          <a:lstStyle/>
          <a:p>
            <a:endParaRPr/>
          </a:p>
        </p:txBody>
      </p:sp>
      <p:sp>
        <p:nvSpPr>
          <p:cNvPr id="8" name="矩形 7">
            <a:extLst>
              <a:ext uri="{FF2B5EF4-FFF2-40B4-BE49-F238E27FC236}">
                <a16:creationId xmlns:a16="http://schemas.microsoft.com/office/drawing/2014/main" id="{B629F74F-7438-43B2-806A-B702EBC3B292}"/>
              </a:ext>
            </a:extLst>
          </p:cNvPr>
          <p:cNvSpPr>
            <a:spLocks noGrp="1"/>
          </p:cNvSpPr>
          <p:nvPr/>
        </p:nvSpPr>
        <p:spPr>
          <a:xfrm>
            <a:off x="838200" y="20383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Results are incomplete</a:t>
            </a:r>
          </a:p>
        </p:txBody>
      </p:sp>
      <p:sp>
        <p:nvSpPr>
          <p:cNvPr id="9" name="矩形 8">
            <a:extLst>
              <a:ext uri="{FF2B5EF4-FFF2-40B4-BE49-F238E27FC236}">
                <a16:creationId xmlns:a16="http://schemas.microsoft.com/office/drawing/2014/main" id="{2A8C10AB-630A-4A65-8D64-405173E19318}"/>
              </a:ext>
            </a:extLst>
          </p:cNvPr>
          <p:cNvSpPr>
            <a:spLocks noGrp="1"/>
          </p:cNvSpPr>
          <p:nvPr/>
        </p:nvSpPr>
        <p:spPr>
          <a:xfrm>
            <a:off x="2571750" y="2038350"/>
            <a:ext cx="32194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Training, long-context evaluation, Attention audits, and cross-seed summaries are not all complete.</a:t>
            </a:r>
          </a:p>
        </p:txBody>
      </p:sp>
      <p:sp>
        <p:nvSpPr>
          <p:cNvPr id="10" name="矩形 9">
            <a:extLst>
              <a:ext uri="{FF2B5EF4-FFF2-40B4-BE49-F238E27FC236}">
                <a16:creationId xmlns:a16="http://schemas.microsoft.com/office/drawing/2014/main" id="{3377620B-FF20-4151-9E5D-D7FA480A2A88}"/>
              </a:ext>
            </a:extLst>
          </p:cNvPr>
          <p:cNvSpPr>
            <a:spLocks noGrp="1"/>
          </p:cNvSpPr>
          <p:nvPr/>
        </p:nvSpPr>
        <p:spPr>
          <a:xfrm>
            <a:off x="609600" y="3105150"/>
            <a:ext cx="66675" cy="666750"/>
          </a:xfrm>
          <a:prstGeom prst="rect">
            <a:avLst/>
          </a:prstGeom>
          <a:solidFill>
            <a:srgbClr val="B42318"/>
          </a:solidFill>
          <a:ln w="0">
            <a:solidFill>
              <a:srgbClr val="B42318"/>
            </a:solidFill>
            <a:prstDash val="solid"/>
          </a:ln>
        </p:spPr>
        <p:txBody>
          <a:bodyPr/>
          <a:lstStyle/>
          <a:p>
            <a:endParaRPr/>
          </a:p>
        </p:txBody>
      </p:sp>
      <p:sp>
        <p:nvSpPr>
          <p:cNvPr id="11" name="矩形 10">
            <a:extLst>
              <a:ext uri="{FF2B5EF4-FFF2-40B4-BE49-F238E27FC236}">
                <a16:creationId xmlns:a16="http://schemas.microsoft.com/office/drawing/2014/main" id="{31EC8A03-CCEF-43F8-B6C5-9B1D6B8EA793}"/>
              </a:ext>
            </a:extLst>
          </p:cNvPr>
          <p:cNvSpPr>
            <a:spLocks noGrp="1"/>
          </p:cNvSpPr>
          <p:nvPr/>
        </p:nvSpPr>
        <p:spPr>
          <a:xfrm>
            <a:off x="838200" y="30670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The gate may amplify errors</a:t>
            </a:r>
          </a:p>
        </p:txBody>
      </p:sp>
      <p:sp>
        <p:nvSpPr>
          <p:cNvPr id="12" name="矩形 11">
            <a:extLst>
              <a:ext uri="{FF2B5EF4-FFF2-40B4-BE49-F238E27FC236}">
                <a16:creationId xmlns:a16="http://schemas.microsoft.com/office/drawing/2014/main" id="{FAB9C4BE-0EE0-41DC-BA03-D88627FF72C1}"/>
              </a:ext>
            </a:extLst>
          </p:cNvPr>
          <p:cNvSpPr>
            <a:spLocks noGrp="1"/>
          </p:cNvSpPr>
          <p:nvPr/>
        </p:nvSpPr>
        <p:spPr>
          <a:xfrm>
            <a:off x="2571750" y="3067050"/>
            <a:ext cx="32194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Query–key relevance may itself contain spurious correlations, frequent-token bias, or Attention sinks.</a:t>
            </a:r>
          </a:p>
        </p:txBody>
      </p:sp>
      <p:sp>
        <p:nvSpPr>
          <p:cNvPr id="13" name="矩形 12">
            <a:extLst>
              <a:ext uri="{FF2B5EF4-FFF2-40B4-BE49-F238E27FC236}">
                <a16:creationId xmlns:a16="http://schemas.microsoft.com/office/drawing/2014/main" id="{C9023B42-AD91-4097-9754-0AC49960633E}"/>
              </a:ext>
            </a:extLst>
          </p:cNvPr>
          <p:cNvSpPr>
            <a:spLocks noGrp="1"/>
          </p:cNvSpPr>
          <p:nvPr/>
        </p:nvSpPr>
        <p:spPr>
          <a:xfrm>
            <a:off x="609600" y="4133850"/>
            <a:ext cx="66675" cy="666750"/>
          </a:xfrm>
          <a:prstGeom prst="rect">
            <a:avLst/>
          </a:prstGeom>
          <a:solidFill>
            <a:srgbClr val="B42318"/>
          </a:solidFill>
          <a:ln w="0">
            <a:solidFill>
              <a:srgbClr val="B42318"/>
            </a:solidFill>
            <a:prstDash val="solid"/>
          </a:ln>
        </p:spPr>
        <p:txBody>
          <a:bodyPr/>
          <a:lstStyle/>
          <a:p>
            <a:endParaRPr/>
          </a:p>
        </p:txBody>
      </p:sp>
      <p:sp>
        <p:nvSpPr>
          <p:cNvPr id="14" name="矩形 13">
            <a:extLst>
              <a:ext uri="{FF2B5EF4-FFF2-40B4-BE49-F238E27FC236}">
                <a16:creationId xmlns:a16="http://schemas.microsoft.com/office/drawing/2014/main" id="{A5008C92-7695-482B-A4BD-0173B5B8AAD6}"/>
              </a:ext>
            </a:extLst>
          </p:cNvPr>
          <p:cNvSpPr>
            <a:spLocks noGrp="1"/>
          </p:cNvSpPr>
          <p:nvPr/>
        </p:nvSpPr>
        <p:spPr>
          <a:xfrm>
            <a:off x="838200" y="40957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Cost is not yet established</a:t>
            </a:r>
          </a:p>
        </p:txBody>
      </p:sp>
      <p:sp>
        <p:nvSpPr>
          <p:cNvPr id="15" name="矩形 14">
            <a:extLst>
              <a:ext uri="{FF2B5EF4-FFF2-40B4-BE49-F238E27FC236}">
                <a16:creationId xmlns:a16="http://schemas.microsoft.com/office/drawing/2014/main" id="{A3343A73-874D-4A7F-B854-1FF639B89B16}"/>
              </a:ext>
            </a:extLst>
          </p:cNvPr>
          <p:cNvSpPr>
            <a:spLocks noGrp="1"/>
          </p:cNvSpPr>
          <p:nvPr/>
        </p:nvSpPr>
        <p:spPr>
          <a:xfrm>
            <a:off x="2571750" y="4095750"/>
            <a:ext cx="32194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A full Attention gate adds elementwise computation and memory; its actual overhead must be measured separately.</a:t>
            </a:r>
          </a:p>
        </p:txBody>
      </p:sp>
      <p:sp>
        <p:nvSpPr>
          <p:cNvPr id="16" name="矩形 15">
            <a:extLst>
              <a:ext uri="{FF2B5EF4-FFF2-40B4-BE49-F238E27FC236}">
                <a16:creationId xmlns:a16="http://schemas.microsoft.com/office/drawing/2014/main" id="{478D4461-7E8F-407B-A38F-F92525D0DB11}"/>
              </a:ext>
            </a:extLst>
          </p:cNvPr>
          <p:cNvSpPr>
            <a:spLocks noGrp="1"/>
          </p:cNvSpPr>
          <p:nvPr/>
        </p:nvSpPr>
        <p:spPr>
          <a:xfrm>
            <a:off x="6419850" y="2076450"/>
            <a:ext cx="66675" cy="666750"/>
          </a:xfrm>
          <a:prstGeom prst="rect">
            <a:avLst/>
          </a:prstGeom>
          <a:solidFill>
            <a:srgbClr val="2457D6"/>
          </a:solidFill>
          <a:ln w="0">
            <a:solidFill>
              <a:srgbClr val="2457D6"/>
            </a:solidFill>
            <a:prstDash val="solid"/>
          </a:ln>
        </p:spPr>
        <p:txBody>
          <a:bodyPr/>
          <a:lstStyle/>
          <a:p>
            <a:endParaRPr/>
          </a:p>
        </p:txBody>
      </p:sp>
      <p:sp>
        <p:nvSpPr>
          <p:cNvPr id="17" name="矩形 16">
            <a:extLst>
              <a:ext uri="{FF2B5EF4-FFF2-40B4-BE49-F238E27FC236}">
                <a16:creationId xmlns:a16="http://schemas.microsoft.com/office/drawing/2014/main" id="{2102CA2D-9432-445A-BFFF-37A0598CDB61}"/>
              </a:ext>
            </a:extLst>
          </p:cNvPr>
          <p:cNvSpPr>
            <a:spLocks noGrp="1"/>
          </p:cNvSpPr>
          <p:nvPr/>
        </p:nvSpPr>
        <p:spPr>
          <a:xfrm>
            <a:off x="6648450" y="20383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Complete all four evaluations</a:t>
            </a:r>
          </a:p>
        </p:txBody>
      </p:sp>
      <p:sp>
        <p:nvSpPr>
          <p:cNvPr id="18" name="矩形 17">
            <a:extLst>
              <a:ext uri="{FF2B5EF4-FFF2-40B4-BE49-F238E27FC236}">
                <a16:creationId xmlns:a16="http://schemas.microsoft.com/office/drawing/2014/main" id="{87F449E9-F6D2-4D2C-B79C-71E01F291E95}"/>
              </a:ext>
            </a:extLst>
          </p:cNvPr>
          <p:cNvSpPr>
            <a:spLocks noGrp="1"/>
          </p:cNvSpPr>
          <p:nvPr/>
        </p:nvSpPr>
        <p:spPr>
          <a:xfrm>
            <a:off x="8382000" y="2038350"/>
            <a:ext cx="31051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Complete length 1024–8192, controlled retrieval, QASPER, and natural-text evaluations.</a:t>
            </a:r>
          </a:p>
        </p:txBody>
      </p:sp>
      <p:sp>
        <p:nvSpPr>
          <p:cNvPr id="19" name="矩形 18">
            <a:extLst>
              <a:ext uri="{FF2B5EF4-FFF2-40B4-BE49-F238E27FC236}">
                <a16:creationId xmlns:a16="http://schemas.microsoft.com/office/drawing/2014/main" id="{20EC4854-09A2-4C26-91C9-F60ECF55D09D}"/>
              </a:ext>
            </a:extLst>
          </p:cNvPr>
          <p:cNvSpPr>
            <a:spLocks noGrp="1"/>
          </p:cNvSpPr>
          <p:nvPr/>
        </p:nvSpPr>
        <p:spPr>
          <a:xfrm>
            <a:off x="6419850" y="3105150"/>
            <a:ext cx="66675" cy="666750"/>
          </a:xfrm>
          <a:prstGeom prst="rect">
            <a:avLst/>
          </a:prstGeom>
          <a:solidFill>
            <a:srgbClr val="2457D6"/>
          </a:solidFill>
          <a:ln w="0">
            <a:solidFill>
              <a:srgbClr val="2457D6"/>
            </a:solidFill>
            <a:prstDash val="solid"/>
          </a:ln>
        </p:spPr>
        <p:txBody>
          <a:bodyPr/>
          <a:lstStyle/>
          <a:p>
            <a:endParaRPr/>
          </a:p>
        </p:txBody>
      </p:sp>
      <p:sp>
        <p:nvSpPr>
          <p:cNvPr id="20" name="矩形 19">
            <a:extLst>
              <a:ext uri="{FF2B5EF4-FFF2-40B4-BE49-F238E27FC236}">
                <a16:creationId xmlns:a16="http://schemas.microsoft.com/office/drawing/2014/main" id="{0651E12E-26DE-43C3-8554-591B75724EFF}"/>
              </a:ext>
            </a:extLst>
          </p:cNvPr>
          <p:cNvSpPr>
            <a:spLocks noGrp="1"/>
          </p:cNvSpPr>
          <p:nvPr/>
        </p:nvSpPr>
        <p:spPr>
          <a:xfrm>
            <a:off x="6648450" y="30670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Complete the exemption audit</a:t>
            </a:r>
          </a:p>
        </p:txBody>
      </p:sp>
      <p:sp>
        <p:nvSpPr>
          <p:cNvPr id="21" name="矩形 20">
            <a:extLst>
              <a:ext uri="{FF2B5EF4-FFF2-40B4-BE49-F238E27FC236}">
                <a16:creationId xmlns:a16="http://schemas.microsoft.com/office/drawing/2014/main" id="{BCA8F31A-7D73-4A06-A8BC-69A8E8DE4010}"/>
              </a:ext>
            </a:extLst>
          </p:cNvPr>
          <p:cNvSpPr>
            <a:spLocks noGrp="1"/>
          </p:cNvSpPr>
          <p:nvPr/>
        </p:nvSpPr>
        <p:spPr>
          <a:xfrm>
            <a:off x="8382000" y="3067050"/>
            <a:ext cx="31051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Report correct exemptions, false exemptions, sinks, remote advantage, and distance patterns together.</a:t>
            </a:r>
          </a:p>
        </p:txBody>
      </p:sp>
      <p:sp>
        <p:nvSpPr>
          <p:cNvPr id="22" name="矩形 21">
            <a:extLst>
              <a:ext uri="{FF2B5EF4-FFF2-40B4-BE49-F238E27FC236}">
                <a16:creationId xmlns:a16="http://schemas.microsoft.com/office/drawing/2014/main" id="{5293E1EE-2B63-419B-B169-C408DEFFED8E}"/>
              </a:ext>
            </a:extLst>
          </p:cNvPr>
          <p:cNvSpPr>
            <a:spLocks noGrp="1"/>
          </p:cNvSpPr>
          <p:nvPr/>
        </p:nvSpPr>
        <p:spPr>
          <a:xfrm>
            <a:off x="6419850" y="4133850"/>
            <a:ext cx="66675" cy="666750"/>
          </a:xfrm>
          <a:prstGeom prst="rect">
            <a:avLst/>
          </a:prstGeom>
          <a:solidFill>
            <a:srgbClr val="2457D6"/>
          </a:solidFill>
          <a:ln w="0">
            <a:solidFill>
              <a:srgbClr val="2457D6"/>
            </a:solidFill>
            <a:prstDash val="solid"/>
          </a:ln>
        </p:spPr>
        <p:txBody>
          <a:bodyPr/>
          <a:lstStyle/>
          <a:p>
            <a:endParaRPr/>
          </a:p>
        </p:txBody>
      </p:sp>
      <p:sp>
        <p:nvSpPr>
          <p:cNvPr id="23" name="矩形 22">
            <a:extLst>
              <a:ext uri="{FF2B5EF4-FFF2-40B4-BE49-F238E27FC236}">
                <a16:creationId xmlns:a16="http://schemas.microsoft.com/office/drawing/2014/main" id="{03C518F8-E3D7-4A9E-970B-8285170D2593}"/>
              </a:ext>
            </a:extLst>
          </p:cNvPr>
          <p:cNvSpPr>
            <a:spLocks noGrp="1"/>
          </p:cNvSpPr>
          <p:nvPr/>
        </p:nvSpPr>
        <p:spPr>
          <a:xfrm>
            <a:off x="6648450" y="40957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Maintain fair comparisons</a:t>
            </a:r>
          </a:p>
        </p:txBody>
      </p:sp>
      <p:sp>
        <p:nvSpPr>
          <p:cNvPr id="24" name="矩形 23">
            <a:extLst>
              <a:ext uri="{FF2B5EF4-FFF2-40B4-BE49-F238E27FC236}">
                <a16:creationId xmlns:a16="http://schemas.microsoft.com/office/drawing/2014/main" id="{08C36FCD-932B-4408-8CB5-F15F41AEC7AC}"/>
              </a:ext>
            </a:extLst>
          </p:cNvPr>
          <p:cNvSpPr>
            <a:spLocks noGrp="1"/>
          </p:cNvSpPr>
          <p:nvPr/>
        </p:nvSpPr>
        <p:spPr>
          <a:xfrm>
            <a:off x="8382000" y="4095750"/>
            <a:ext cx="31051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err="1">
                <a:solidFill>
                  <a:srgbClr val="5B6472"/>
                </a:solidFill>
                <a:latin typeface="Aptos"/>
                <a:ea typeface="Aptos"/>
                <a:cs typeface="Aptos"/>
              </a:rPr>
              <a:t>Prioritise</a:t>
            </a:r>
            <a:r>
              <a:rPr sz="1400" b="0" dirty="0">
                <a:solidFill>
                  <a:srgbClr val="5B6472"/>
                </a:solidFill>
                <a:latin typeface="Aptos"/>
                <a:ea typeface="Aptos"/>
                <a:cs typeface="Aptos"/>
              </a:rPr>
              <a:t> RA-CABLE versus Base-CABLE, while retaining Base-</a:t>
            </a:r>
            <a:r>
              <a:rPr sz="1400" b="0" dirty="0" err="1">
                <a:solidFill>
                  <a:srgbClr val="5B6472"/>
                </a:solidFill>
                <a:latin typeface="Aptos"/>
                <a:ea typeface="Aptos"/>
                <a:cs typeface="Aptos"/>
              </a:rPr>
              <a:t>RoPE</a:t>
            </a:r>
            <a:r>
              <a:rPr sz="1400" b="0" dirty="0">
                <a:solidFill>
                  <a:srgbClr val="5B6472"/>
                </a:solidFill>
                <a:latin typeface="Aptos"/>
                <a:ea typeface="Aptos"/>
                <a:cs typeface="Aptos"/>
              </a:rPr>
              <a:t> as a reference and reporting cost.</a:t>
            </a:r>
          </a:p>
        </p:txBody>
      </p:sp>
      <p:sp>
        <p:nvSpPr>
          <p:cNvPr id="25" name="矩形 24">
            <a:extLst>
              <a:ext uri="{FF2B5EF4-FFF2-40B4-BE49-F238E27FC236}">
                <a16:creationId xmlns:a16="http://schemas.microsoft.com/office/drawing/2014/main" id="{8671CE54-5DC3-4B10-A135-DB789B422B62}"/>
              </a:ext>
            </a:extLst>
          </p:cNvPr>
          <p:cNvSpPr>
            <a:spLocks noGrp="1"/>
          </p:cNvSpPr>
          <p:nvPr/>
        </p:nvSpPr>
        <p:spPr>
          <a:xfrm>
            <a:off x="609600" y="5429249"/>
            <a:ext cx="10934700" cy="723899"/>
          </a:xfrm>
          <a:prstGeom prst="rect">
            <a:avLst/>
          </a:prstGeom>
          <a:solidFill>
            <a:srgbClr val="111A2E"/>
          </a:solidFill>
          <a:ln w="0">
            <a:solidFill>
              <a:srgbClr val="111A2E"/>
            </a:solidFill>
            <a:prstDash val="solid"/>
          </a:ln>
        </p:spPr>
        <p:txBody>
          <a:bodyPr/>
          <a:lstStyle/>
          <a:p>
            <a:endParaRPr/>
          </a:p>
        </p:txBody>
      </p:sp>
      <p:sp>
        <p:nvSpPr>
          <p:cNvPr id="26" name="矩形 25">
            <a:extLst>
              <a:ext uri="{FF2B5EF4-FFF2-40B4-BE49-F238E27FC236}">
                <a16:creationId xmlns:a16="http://schemas.microsoft.com/office/drawing/2014/main" id="{BAAE872B-751F-4EDB-A72C-19A25460CF63}"/>
              </a:ext>
            </a:extLst>
          </p:cNvPr>
          <p:cNvSpPr>
            <a:spLocks noGrp="1"/>
          </p:cNvSpPr>
          <p:nvPr/>
        </p:nvSpPr>
        <p:spPr>
          <a:xfrm>
            <a:off x="838200" y="5591175"/>
            <a:ext cx="10477500" cy="285750"/>
          </a:xfrm>
          <a:prstGeom prst="rect">
            <a:avLst/>
          </a:prstGeom>
          <a:noFill/>
          <a:ln w="0">
            <a:noFill/>
            <a:prstDash val="solid"/>
          </a:ln>
        </p:spPr>
        <p:txBody>
          <a:bodyPr lIns="0" tIns="0" rIns="0" bIns="0" anchor="t">
            <a:noAutofit/>
          </a:bodyPr>
          <a:lstStyle/>
          <a:p>
            <a:pPr algn="ctr">
              <a:buNone/>
              <a:defRPr sz="1350" b="1">
                <a:solidFill>
                  <a:srgbClr val="FFFFFF"/>
                </a:solidFill>
                <a:latin typeface="Aptos"/>
                <a:ea typeface="Aptos"/>
                <a:cs typeface="Aptos"/>
              </a:defRPr>
            </a:pPr>
            <a:r>
              <a:rPr sz="1600" b="1" dirty="0">
                <a:solidFill>
                  <a:srgbClr val="FFFFFF"/>
                </a:solidFill>
                <a:latin typeface="Aptos"/>
                <a:ea typeface="Aptos"/>
                <a:cs typeface="Aptos"/>
              </a:rPr>
              <a:t>RA-CABLE is supported only if long-range tasks, semantic exemptions, short-context protection, and cost improve together.</a:t>
            </a:r>
          </a:p>
        </p:txBody>
      </p:sp>
      <p:sp>
        <p:nvSpPr>
          <p:cNvPr id="27" name="矩形 26">
            <a:extLst>
              <a:ext uri="{FF2B5EF4-FFF2-40B4-BE49-F238E27FC236}">
                <a16:creationId xmlns:a16="http://schemas.microsoft.com/office/drawing/2014/main" id="{E5B0821D-672C-411D-A914-CE4F4F2FE83A}"/>
              </a:ext>
            </a:extLst>
          </p:cNvPr>
          <p:cNvSpPr>
            <a:spLocks noGrp="1"/>
          </p:cNvSpPr>
          <p:nvPr/>
        </p:nvSpPr>
        <p:spPr>
          <a:xfrm>
            <a:off x="9486900" y="6324600"/>
            <a:ext cx="2171700" cy="285750"/>
          </a:xfrm>
          <a:prstGeom prst="rect">
            <a:avLst/>
          </a:prstGeom>
          <a:solidFill>
            <a:srgbClr val="F8FAFC"/>
          </a:solidFill>
          <a:ln w="0">
            <a:solidFill>
              <a:srgbClr val="F8FAFC"/>
            </a:solidFill>
            <a:prstDash val="solid"/>
          </a:ln>
        </p:spPr>
        <p:txBody>
          <a:bodyPr/>
          <a:lstStyle/>
          <a:p>
            <a:endParaRPr/>
          </a:p>
        </p:txBody>
      </p:sp>
      <p:sp>
        <p:nvSpPr>
          <p:cNvPr id="28" name="矩形 27">
            <a:extLst>
              <a:ext uri="{FF2B5EF4-FFF2-40B4-BE49-F238E27FC236}">
                <a16:creationId xmlns:a16="http://schemas.microsoft.com/office/drawing/2014/main" id="{A05DD891-BE7F-4A9C-AD53-8447F64C04B2}"/>
              </a:ext>
            </a:extLst>
          </p:cNvPr>
          <p:cNvSpPr>
            <a:spLocks noGrp="1"/>
          </p:cNvSpPr>
          <p:nvPr/>
        </p:nvSpPr>
        <p:spPr>
          <a:xfrm>
            <a:off x="10572750" y="6153150"/>
            <a:ext cx="10858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Page 22</a:t>
            </a:r>
          </a:p>
        </p:txBody>
      </p:sp>
    </p:spTree>
    <p:extLst>
      <p:ext uri="{BB962C8B-B14F-4D97-AF65-F5344CB8AC3E}">
        <p14:creationId xmlns:p14="http://schemas.microsoft.com/office/powerpoint/2010/main" val="1435203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B2637D6F-0091-4802-B816-0C9BFF7574D0}"/>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4: deriving the hypothesis</a:t>
            </a:r>
          </a:p>
        </p:txBody>
      </p:sp>
      <p:sp>
        <p:nvSpPr>
          <p:cNvPr id="2" name="矩形 1">
            <a:extLst>
              <a:ext uri="{FF2B5EF4-FFF2-40B4-BE49-F238E27FC236}">
                <a16:creationId xmlns:a16="http://schemas.microsoft.com/office/drawing/2014/main" id="{5F31B30A-298D-4F83-97A7-D5BE4429398A}"/>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a:bodyPr>
          <a:lstStyle/>
          <a:p>
            <a:pPr algn="l">
              <a:buNone/>
              <a:defRPr sz="2700" b="1">
                <a:solidFill>
                  <a:srgbClr val="111827"/>
                </a:solidFill>
                <a:latin typeface="Aptos"/>
                <a:ea typeface="Aptos"/>
                <a:cs typeface="Aptos"/>
              </a:defRPr>
            </a:pPr>
            <a:r>
              <a:rPr sz="2700" b="1" dirty="0">
                <a:solidFill>
                  <a:srgbClr val="111827"/>
                </a:solidFill>
                <a:latin typeface="Aptos"/>
                <a:ea typeface="Aptos"/>
                <a:cs typeface="Aptos"/>
              </a:rPr>
              <a:t>A higher-level concept interface must satisfy two conditions</a:t>
            </a:r>
          </a:p>
        </p:txBody>
      </p:sp>
      <p:sp>
        <p:nvSpPr>
          <p:cNvPr id="3" name="直接连接符 2">
            <a:extLst>
              <a:ext uri="{FF2B5EF4-FFF2-40B4-BE49-F238E27FC236}">
                <a16:creationId xmlns:a16="http://schemas.microsoft.com/office/drawing/2014/main" id="{59DF342A-7069-4A92-9768-028375BDBA48}"/>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87B2FAED-8B91-4B0E-95D6-B1E7BC93FC18}"/>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23</a:t>
            </a:r>
          </a:p>
        </p:txBody>
      </p:sp>
      <p:sp>
        <p:nvSpPr>
          <p:cNvPr id="5" name="矩形 4">
            <a:extLst>
              <a:ext uri="{FF2B5EF4-FFF2-40B4-BE49-F238E27FC236}">
                <a16:creationId xmlns:a16="http://schemas.microsoft.com/office/drawing/2014/main" id="{87CC215C-7A21-4A78-A8D5-93DF71B0BD6C}"/>
              </a:ext>
            </a:extLst>
          </p:cNvPr>
          <p:cNvSpPr>
            <a:spLocks noGrp="1"/>
          </p:cNvSpPr>
          <p:nvPr/>
        </p:nvSpPr>
        <p:spPr>
          <a:xfrm>
            <a:off x="609600" y="1562100"/>
            <a:ext cx="4953000" cy="304800"/>
          </a:xfrm>
          <a:prstGeom prst="rect">
            <a:avLst/>
          </a:prstGeom>
          <a:noFill/>
          <a:ln w="0">
            <a:noFill/>
            <a:prstDash val="solid"/>
          </a:ln>
        </p:spPr>
        <p:txBody>
          <a:bodyPr lIns="0" tIns="0" rIns="0" bIns="0" anchor="t">
            <a:normAutofit fontScale="93198"/>
          </a:bodyPr>
          <a:lstStyle/>
          <a:p>
            <a:pPr algn="l">
              <a:buNone/>
              <a:defRPr sz="1725" b="1">
                <a:solidFill>
                  <a:srgbClr val="0F766E"/>
                </a:solidFill>
                <a:latin typeface="Aptos"/>
                <a:ea typeface="Aptos"/>
                <a:cs typeface="Aptos"/>
              </a:defRPr>
            </a:pPr>
            <a:r>
              <a:rPr sz="1725" b="1" dirty="0">
                <a:solidFill>
                  <a:srgbClr val="0F766E"/>
                </a:solidFill>
                <a:latin typeface="Aptos"/>
                <a:ea typeface="Aptos"/>
                <a:cs typeface="Aptos"/>
              </a:rPr>
              <a:t>Condition 1: higher-level concepts depend on context</a:t>
            </a:r>
          </a:p>
        </p:txBody>
      </p:sp>
      <p:sp>
        <p:nvSpPr>
          <p:cNvPr id="6" name="矩形 5">
            <a:extLst>
              <a:ext uri="{FF2B5EF4-FFF2-40B4-BE49-F238E27FC236}">
                <a16:creationId xmlns:a16="http://schemas.microsoft.com/office/drawing/2014/main" id="{EF878DE6-A3C7-4D81-A34B-3D5E15B5E045}"/>
              </a:ext>
            </a:extLst>
          </p:cNvPr>
          <p:cNvSpPr>
            <a:spLocks noGrp="1"/>
          </p:cNvSpPr>
          <p:nvPr/>
        </p:nvSpPr>
        <p:spPr>
          <a:xfrm>
            <a:off x="609600" y="2019300"/>
            <a:ext cx="5219700" cy="2381250"/>
          </a:xfrm>
          <a:prstGeom prst="rect">
            <a:avLst/>
          </a:prstGeom>
          <a:solidFill>
            <a:srgbClr val="E7F7F3"/>
          </a:solidFill>
          <a:ln w="9525">
            <a:solidFill>
              <a:srgbClr val="0F766E"/>
            </a:solidFill>
            <a:prstDash val="solid"/>
          </a:ln>
        </p:spPr>
        <p:txBody>
          <a:bodyPr/>
          <a:lstStyle/>
          <a:p>
            <a:endParaRPr/>
          </a:p>
        </p:txBody>
      </p:sp>
      <p:sp>
        <p:nvSpPr>
          <p:cNvPr id="7" name="矩形 6">
            <a:extLst>
              <a:ext uri="{FF2B5EF4-FFF2-40B4-BE49-F238E27FC236}">
                <a16:creationId xmlns:a16="http://schemas.microsoft.com/office/drawing/2014/main" id="{08D47CD0-EE7A-40BC-B2D2-C4798A85FEA3}"/>
              </a:ext>
            </a:extLst>
          </p:cNvPr>
          <p:cNvSpPr>
            <a:spLocks noGrp="1"/>
          </p:cNvSpPr>
          <p:nvPr/>
        </p:nvSpPr>
        <p:spPr>
          <a:xfrm>
            <a:off x="876300" y="2266950"/>
            <a:ext cx="4686300" cy="323850"/>
          </a:xfrm>
          <a:prstGeom prst="rect">
            <a:avLst/>
          </a:prstGeom>
          <a:noFill/>
          <a:ln w="0">
            <a:noFill/>
            <a:prstDash val="solid"/>
          </a:ln>
        </p:spPr>
        <p:txBody>
          <a:bodyPr lIns="0" tIns="0" rIns="0" bIns="0" anchor="t">
            <a:normAutofit/>
          </a:bodyPr>
          <a:lstStyle/>
          <a:p>
            <a:pPr algn="ctr">
              <a:buNone/>
              <a:defRPr sz="1650" b="1">
                <a:solidFill>
                  <a:srgbClr val="111827"/>
                </a:solidFill>
                <a:latin typeface="Aptos"/>
                <a:ea typeface="Aptos"/>
                <a:cs typeface="Aptos"/>
              </a:defRPr>
            </a:pPr>
            <a:r>
              <a:rPr sz="1650" b="1" dirty="0">
                <a:solidFill>
                  <a:srgbClr val="111827"/>
                </a:solidFill>
                <a:latin typeface="Aptos"/>
                <a:ea typeface="Aptos"/>
                <a:cs typeface="Aptos"/>
              </a:rPr>
              <a:t>‘Bread’ does not have a fixed France attribute</a:t>
            </a:r>
          </a:p>
        </p:txBody>
      </p:sp>
      <p:sp>
        <p:nvSpPr>
          <p:cNvPr id="8" name="矩形 7">
            <a:extLst>
              <a:ext uri="{FF2B5EF4-FFF2-40B4-BE49-F238E27FC236}">
                <a16:creationId xmlns:a16="http://schemas.microsoft.com/office/drawing/2014/main" id="{450D35C6-3874-4284-9671-2A148C64DB00}"/>
              </a:ext>
            </a:extLst>
          </p:cNvPr>
          <p:cNvSpPr>
            <a:spLocks noGrp="1"/>
          </p:cNvSpPr>
          <p:nvPr/>
        </p:nvSpPr>
        <p:spPr>
          <a:xfrm>
            <a:off x="876300" y="2857500"/>
            <a:ext cx="4686300" cy="781050"/>
          </a:xfrm>
          <a:prstGeom prst="rect">
            <a:avLst/>
          </a:prstGeom>
          <a:noFill/>
          <a:ln w="0">
            <a:noFill/>
            <a:prstDash val="solid"/>
          </a:ln>
        </p:spPr>
        <p:txBody>
          <a:bodyPr lIns="0" tIns="0" rIns="0" bIns="0" anchor="t">
            <a:normAutofit/>
          </a:bodyPr>
          <a:lstStyle/>
          <a:p>
            <a:pPr algn="ctr">
              <a:buNone/>
              <a:defRPr sz="1350" b="0">
                <a:solidFill>
                  <a:srgbClr val="111827"/>
                </a:solidFill>
                <a:latin typeface="Aptos"/>
                <a:ea typeface="Aptos"/>
                <a:cs typeface="Aptos"/>
              </a:defRPr>
            </a:pPr>
            <a:r>
              <a:rPr sz="1400" b="0" dirty="0">
                <a:solidFill>
                  <a:srgbClr val="111827"/>
                </a:solidFill>
                <a:latin typeface="Aptos"/>
                <a:ea typeface="Aptos"/>
                <a:cs typeface="Aptos"/>
              </a:rPr>
              <a:t>Only when context establishes relations such as ‘this bread comes from France’ does COUNTRY = France become part of the current meaning.</a:t>
            </a:r>
          </a:p>
        </p:txBody>
      </p:sp>
      <p:sp>
        <p:nvSpPr>
          <p:cNvPr id="9" name="矩形 8">
            <a:extLst>
              <a:ext uri="{FF2B5EF4-FFF2-40B4-BE49-F238E27FC236}">
                <a16:creationId xmlns:a16="http://schemas.microsoft.com/office/drawing/2014/main" id="{5A23B170-678A-4906-8B0F-3986FEDC8354}"/>
              </a:ext>
            </a:extLst>
          </p:cNvPr>
          <p:cNvSpPr>
            <a:spLocks noGrp="1"/>
          </p:cNvSpPr>
          <p:nvPr/>
        </p:nvSpPr>
        <p:spPr>
          <a:xfrm>
            <a:off x="876300" y="3886923"/>
            <a:ext cx="4686300" cy="447674"/>
          </a:xfrm>
          <a:prstGeom prst="rect">
            <a:avLst/>
          </a:prstGeom>
          <a:solidFill>
            <a:srgbClr val="0F766E"/>
          </a:solidFill>
          <a:ln w="0">
            <a:solidFill>
              <a:srgbClr val="0F766E"/>
            </a:solidFill>
            <a:prstDash val="solid"/>
          </a:ln>
        </p:spPr>
        <p:txBody>
          <a:bodyPr/>
          <a:lstStyle/>
          <a:p>
            <a:endParaRPr/>
          </a:p>
        </p:txBody>
      </p:sp>
      <p:sp>
        <p:nvSpPr>
          <p:cNvPr id="10" name="矩形 9">
            <a:extLst>
              <a:ext uri="{FF2B5EF4-FFF2-40B4-BE49-F238E27FC236}">
                <a16:creationId xmlns:a16="http://schemas.microsoft.com/office/drawing/2014/main" id="{CF3865A3-5E3A-42A2-876A-4B0A9A6AD55B}"/>
              </a:ext>
            </a:extLst>
          </p:cNvPr>
          <p:cNvSpPr>
            <a:spLocks noGrp="1"/>
          </p:cNvSpPr>
          <p:nvPr/>
        </p:nvSpPr>
        <p:spPr>
          <a:xfrm>
            <a:off x="971550" y="3901063"/>
            <a:ext cx="4495800" cy="209550"/>
          </a:xfrm>
          <a:prstGeom prst="rect">
            <a:avLst/>
          </a:prstGeom>
          <a:noFill/>
          <a:ln w="0">
            <a:noFill/>
            <a:prstDash val="solid"/>
          </a:ln>
        </p:spPr>
        <p:txBody>
          <a:bodyPr lIns="0" tIns="0" rIns="0" bIns="0" anchor="t">
            <a:noAutofit/>
          </a:bodyPr>
          <a:lstStyle/>
          <a:p>
            <a:pPr algn="ctr">
              <a:buNone/>
              <a:defRPr sz="1275" b="1">
                <a:solidFill>
                  <a:srgbClr val="FFFFFF"/>
                </a:solidFill>
                <a:latin typeface="Aptos"/>
                <a:ea typeface="Aptos"/>
                <a:cs typeface="Aptos"/>
              </a:defRPr>
            </a:pPr>
            <a:r>
              <a:rPr sz="1400" b="1" dirty="0">
                <a:solidFill>
                  <a:srgbClr val="FFFFFF"/>
                </a:solidFill>
                <a:latin typeface="Aptos"/>
                <a:ea typeface="Aptos"/>
                <a:cs typeface="Aptos"/>
              </a:rPr>
              <a:t>Implication: a concept representation must aggregate cross-token context</a:t>
            </a:r>
          </a:p>
        </p:txBody>
      </p:sp>
      <p:sp>
        <p:nvSpPr>
          <p:cNvPr id="11" name="矩形 10">
            <a:extLst>
              <a:ext uri="{FF2B5EF4-FFF2-40B4-BE49-F238E27FC236}">
                <a16:creationId xmlns:a16="http://schemas.microsoft.com/office/drawing/2014/main" id="{18EEC222-F3A4-47BA-85B7-E687C09601A0}"/>
              </a:ext>
            </a:extLst>
          </p:cNvPr>
          <p:cNvSpPr>
            <a:spLocks noGrp="1"/>
          </p:cNvSpPr>
          <p:nvPr/>
        </p:nvSpPr>
        <p:spPr>
          <a:xfrm>
            <a:off x="6362700" y="1562100"/>
            <a:ext cx="4953000" cy="304800"/>
          </a:xfrm>
          <a:prstGeom prst="rect">
            <a:avLst/>
          </a:prstGeom>
          <a:noFill/>
          <a:ln w="0">
            <a:noFill/>
            <a:prstDash val="solid"/>
          </a:ln>
        </p:spPr>
        <p:txBody>
          <a:bodyPr lIns="0" tIns="0" rIns="0" bIns="0" anchor="t">
            <a:normAutofit fontScale="83928" lnSpcReduction="10000"/>
          </a:bodyPr>
          <a:lstStyle/>
          <a:p>
            <a:pPr algn="l">
              <a:buNone/>
              <a:defRPr sz="1725" b="1">
                <a:solidFill>
                  <a:srgbClr val="6D3CC7"/>
                </a:solidFill>
                <a:latin typeface="Aptos"/>
                <a:ea typeface="Aptos"/>
                <a:cs typeface="Aptos"/>
              </a:defRPr>
            </a:pPr>
            <a:r>
              <a:rPr sz="1725" b="1">
                <a:solidFill>
                  <a:srgbClr val="6D3CC7"/>
                </a:solidFill>
                <a:latin typeface="Aptos"/>
                <a:ea typeface="Aptos"/>
                <a:cs typeface="Aptos"/>
              </a:rPr>
              <a:t>Condition 2: concepts need a more suitable representation space</a:t>
            </a:r>
          </a:p>
        </p:txBody>
      </p:sp>
      <p:sp>
        <p:nvSpPr>
          <p:cNvPr id="12" name="矩形 11">
            <a:extLst>
              <a:ext uri="{FF2B5EF4-FFF2-40B4-BE49-F238E27FC236}">
                <a16:creationId xmlns:a16="http://schemas.microsoft.com/office/drawing/2014/main" id="{C9092336-3226-4E4F-BFDD-E76EA732E599}"/>
              </a:ext>
            </a:extLst>
          </p:cNvPr>
          <p:cNvSpPr>
            <a:spLocks noGrp="1"/>
          </p:cNvSpPr>
          <p:nvPr/>
        </p:nvSpPr>
        <p:spPr>
          <a:xfrm>
            <a:off x="6362700" y="2019300"/>
            <a:ext cx="5181600" cy="2381250"/>
          </a:xfrm>
          <a:prstGeom prst="rect">
            <a:avLst/>
          </a:prstGeom>
          <a:solidFill>
            <a:srgbClr val="F1ECFF"/>
          </a:solidFill>
          <a:ln w="9525">
            <a:solidFill>
              <a:srgbClr val="6D3CC7"/>
            </a:solidFill>
            <a:prstDash val="solid"/>
          </a:ln>
        </p:spPr>
        <p:txBody>
          <a:bodyPr/>
          <a:lstStyle/>
          <a:p>
            <a:endParaRPr/>
          </a:p>
        </p:txBody>
      </p:sp>
      <p:sp>
        <p:nvSpPr>
          <p:cNvPr id="13" name="矩形 12">
            <a:extLst>
              <a:ext uri="{FF2B5EF4-FFF2-40B4-BE49-F238E27FC236}">
                <a16:creationId xmlns:a16="http://schemas.microsoft.com/office/drawing/2014/main" id="{528AFAC8-2BA6-44D1-AE90-3FF65EAFAD1A}"/>
              </a:ext>
            </a:extLst>
          </p:cNvPr>
          <p:cNvSpPr>
            <a:spLocks noGrp="1"/>
          </p:cNvSpPr>
          <p:nvPr/>
        </p:nvSpPr>
        <p:spPr>
          <a:xfrm>
            <a:off x="6629400" y="2266950"/>
            <a:ext cx="1714500" cy="247650"/>
          </a:xfrm>
          <a:prstGeom prst="rect">
            <a:avLst/>
          </a:prstGeom>
          <a:noFill/>
          <a:ln w="0">
            <a:noFill/>
            <a:prstDash val="solid"/>
          </a:ln>
        </p:spPr>
        <p:txBody>
          <a:bodyPr lIns="0" tIns="0" rIns="0" bIns="0" anchor="t">
            <a:norm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residual stream</a:t>
            </a:r>
          </a:p>
        </p:txBody>
      </p:sp>
      <p:sp>
        <p:nvSpPr>
          <p:cNvPr id="14" name="矩形 13">
            <a:extLst>
              <a:ext uri="{FF2B5EF4-FFF2-40B4-BE49-F238E27FC236}">
                <a16:creationId xmlns:a16="http://schemas.microsoft.com/office/drawing/2014/main" id="{161DE456-A61C-4FB9-9B59-D9B22247AF42}"/>
              </a:ext>
            </a:extLst>
          </p:cNvPr>
          <p:cNvSpPr>
            <a:spLocks noGrp="1"/>
          </p:cNvSpPr>
          <p:nvPr/>
        </p:nvSpPr>
        <p:spPr>
          <a:xfrm>
            <a:off x="8316768" y="2076451"/>
            <a:ext cx="3219450" cy="533400"/>
          </a:xfrm>
          <a:prstGeom prst="rect">
            <a:avLst/>
          </a:prstGeom>
          <a:noFill/>
          <a:ln w="0">
            <a:noFill/>
            <a:prstDash val="solid"/>
          </a:ln>
        </p:spPr>
        <p:txBody>
          <a:bodyPr lIns="0" tIns="0" rIns="0" bIns="0" anchor="t">
            <a:no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A shared low-dimensional space that accumulates Attention and FFN outputs across layers, allowing features to mix repeatedly.</a:t>
            </a:r>
          </a:p>
        </p:txBody>
      </p:sp>
      <p:sp>
        <p:nvSpPr>
          <p:cNvPr id="15" name="直接连接符 14">
            <a:extLst>
              <a:ext uri="{FF2B5EF4-FFF2-40B4-BE49-F238E27FC236}">
                <a16:creationId xmlns:a16="http://schemas.microsoft.com/office/drawing/2014/main" id="{838BF4F1-2767-4483-98C4-C98CD9FDCE84}"/>
              </a:ext>
            </a:extLst>
          </p:cNvPr>
          <p:cNvSpPr>
            <a:spLocks noGrp="1"/>
          </p:cNvSpPr>
          <p:nvPr/>
        </p:nvSpPr>
        <p:spPr>
          <a:xfrm>
            <a:off x="6629400" y="2924175"/>
            <a:ext cx="4591050" cy="0"/>
          </a:xfrm>
          <a:prstGeom prst="line">
            <a:avLst/>
          </a:prstGeom>
          <a:noFill/>
          <a:ln w="9525">
            <a:solidFill>
              <a:srgbClr val="C6B7EF"/>
            </a:solidFill>
            <a:prstDash val="solid"/>
          </a:ln>
        </p:spPr>
        <p:txBody>
          <a:bodyPr/>
          <a:lstStyle/>
          <a:p>
            <a:endParaRPr/>
          </a:p>
        </p:txBody>
      </p:sp>
      <p:sp>
        <p:nvSpPr>
          <p:cNvPr id="16" name="矩形 15">
            <a:extLst>
              <a:ext uri="{FF2B5EF4-FFF2-40B4-BE49-F238E27FC236}">
                <a16:creationId xmlns:a16="http://schemas.microsoft.com/office/drawing/2014/main" id="{CEEB5F8A-FC38-40AF-8F0B-78964D2B235A}"/>
              </a:ext>
            </a:extLst>
          </p:cNvPr>
          <p:cNvSpPr>
            <a:spLocks noGrp="1"/>
          </p:cNvSpPr>
          <p:nvPr/>
        </p:nvSpPr>
        <p:spPr>
          <a:xfrm>
            <a:off x="6629400" y="3143250"/>
            <a:ext cx="1809750" cy="247650"/>
          </a:xfrm>
          <a:prstGeom prst="rect">
            <a:avLst/>
          </a:prstGeom>
          <a:noFill/>
          <a:ln w="0">
            <a:noFill/>
            <a:prstDash val="solid"/>
          </a:ln>
        </p:spPr>
        <p:txBody>
          <a:bodyPr lIns="0" tIns="0" rIns="0" bIns="0" anchor="t">
            <a:normAutofit/>
          </a:bodyPr>
          <a:lstStyle/>
          <a:p>
            <a:pPr algn="l">
              <a:buNone/>
              <a:defRPr sz="1350" b="1">
                <a:solidFill>
                  <a:srgbClr val="6D3CC7"/>
                </a:solidFill>
                <a:latin typeface="Aptos"/>
                <a:ea typeface="Aptos"/>
                <a:cs typeface="Aptos"/>
              </a:defRPr>
            </a:pPr>
            <a:r>
              <a:rPr sz="1600" b="1" dirty="0">
                <a:solidFill>
                  <a:srgbClr val="6D3CC7"/>
                </a:solidFill>
                <a:latin typeface="Aptos"/>
                <a:ea typeface="Aptos"/>
                <a:cs typeface="Aptos"/>
              </a:rPr>
              <a:t>FFN activation U</a:t>
            </a:r>
          </a:p>
        </p:txBody>
      </p:sp>
      <p:sp>
        <p:nvSpPr>
          <p:cNvPr id="17" name="矩形 16">
            <a:extLst>
              <a:ext uri="{FF2B5EF4-FFF2-40B4-BE49-F238E27FC236}">
                <a16:creationId xmlns:a16="http://schemas.microsoft.com/office/drawing/2014/main" id="{48331C1D-BECF-4056-90A2-69730C189192}"/>
              </a:ext>
            </a:extLst>
          </p:cNvPr>
          <p:cNvSpPr>
            <a:spLocks noGrp="1"/>
          </p:cNvSpPr>
          <p:nvPr/>
        </p:nvSpPr>
        <p:spPr>
          <a:xfrm>
            <a:off x="8316767" y="3038475"/>
            <a:ext cx="3145559" cy="666750"/>
          </a:xfrm>
          <a:prstGeom prst="rect">
            <a:avLst/>
          </a:prstGeom>
          <a:noFill/>
          <a:ln w="0">
            <a:noFill/>
            <a:prstDash val="solid"/>
          </a:ln>
        </p:spPr>
        <p:txBody>
          <a:bodyPr lIns="0" tIns="0" rIns="0" bIns="0" anchor="t">
            <a:noAutofit/>
          </a:bodyPr>
          <a:lstStyle/>
          <a:p>
            <a:pPr algn="l">
              <a:buNone/>
              <a:defRPr sz="1275" b="0">
                <a:solidFill>
                  <a:srgbClr val="111827"/>
                </a:solidFill>
                <a:latin typeface="Aptos"/>
                <a:ea typeface="Aptos"/>
                <a:cs typeface="Aptos"/>
              </a:defRPr>
            </a:pPr>
            <a:r>
              <a:rPr sz="1400" b="0" dirty="0">
                <a:solidFill>
                  <a:srgbClr val="111827"/>
                </a:solidFill>
                <a:latin typeface="Aptos"/>
                <a:ea typeface="Aptos"/>
                <a:cs typeface="Aptos"/>
              </a:rPr>
              <a:t>Expansion and nonlinear activation create a wider candidate space from which fixed concept slots can be projected.</a:t>
            </a:r>
          </a:p>
        </p:txBody>
      </p:sp>
      <p:sp>
        <p:nvSpPr>
          <p:cNvPr id="18" name="矩形 17">
            <a:extLst>
              <a:ext uri="{FF2B5EF4-FFF2-40B4-BE49-F238E27FC236}">
                <a16:creationId xmlns:a16="http://schemas.microsoft.com/office/drawing/2014/main" id="{59424F50-29DA-40C4-95D6-333C08700912}"/>
              </a:ext>
            </a:extLst>
          </p:cNvPr>
          <p:cNvSpPr>
            <a:spLocks noGrp="1"/>
          </p:cNvSpPr>
          <p:nvPr/>
        </p:nvSpPr>
        <p:spPr>
          <a:xfrm>
            <a:off x="6629400" y="3901063"/>
            <a:ext cx="4591050" cy="429059"/>
          </a:xfrm>
          <a:prstGeom prst="rect">
            <a:avLst/>
          </a:prstGeom>
          <a:solidFill>
            <a:srgbClr val="6D3CC7"/>
          </a:solidFill>
          <a:ln w="0">
            <a:solidFill>
              <a:srgbClr val="6D3CC7"/>
            </a:solidFill>
            <a:prstDash val="solid"/>
          </a:ln>
        </p:spPr>
        <p:txBody>
          <a:bodyPr/>
          <a:lstStyle/>
          <a:p>
            <a:endParaRPr/>
          </a:p>
        </p:txBody>
      </p:sp>
      <p:sp>
        <p:nvSpPr>
          <p:cNvPr id="19" name="矩形 18">
            <a:extLst>
              <a:ext uri="{FF2B5EF4-FFF2-40B4-BE49-F238E27FC236}">
                <a16:creationId xmlns:a16="http://schemas.microsoft.com/office/drawing/2014/main" id="{B53F55E2-4601-41AD-81A8-C3E7188D8972}"/>
              </a:ext>
            </a:extLst>
          </p:cNvPr>
          <p:cNvSpPr>
            <a:spLocks noGrp="1"/>
          </p:cNvSpPr>
          <p:nvPr/>
        </p:nvSpPr>
        <p:spPr>
          <a:xfrm>
            <a:off x="6724650" y="3924300"/>
            <a:ext cx="4400550" cy="209550"/>
          </a:xfrm>
          <a:prstGeom prst="rect">
            <a:avLst/>
          </a:prstGeom>
          <a:noFill/>
          <a:ln w="0">
            <a:noFill/>
            <a:prstDash val="solid"/>
          </a:ln>
        </p:spPr>
        <p:txBody>
          <a:bodyPr lIns="0" tIns="0" rIns="0" bIns="0" anchor="t">
            <a:noAutofit/>
          </a:bodyPr>
          <a:lstStyle/>
          <a:p>
            <a:pPr algn="ctr">
              <a:buNone/>
              <a:defRPr sz="1275" b="1">
                <a:solidFill>
                  <a:srgbClr val="FFFFFF"/>
                </a:solidFill>
                <a:latin typeface="Aptos"/>
                <a:ea typeface="Aptos"/>
                <a:cs typeface="Aptos"/>
              </a:defRPr>
            </a:pPr>
            <a:r>
              <a:rPr sz="1400" b="1" dirty="0">
                <a:solidFill>
                  <a:srgbClr val="FFFFFF"/>
                </a:solidFill>
                <a:latin typeface="Aptos"/>
                <a:ea typeface="Aptos"/>
                <a:cs typeface="Aptos"/>
              </a:rPr>
              <a:t>Implication: concept slots should be projected from full U before down-projection</a:t>
            </a:r>
          </a:p>
        </p:txBody>
      </p:sp>
      <p:sp>
        <p:nvSpPr>
          <p:cNvPr id="20" name="直接连接符 19">
            <a:extLst>
              <a:ext uri="{FF2B5EF4-FFF2-40B4-BE49-F238E27FC236}">
                <a16:creationId xmlns:a16="http://schemas.microsoft.com/office/drawing/2014/main" id="{B6E604EE-99FC-4FB8-9849-3D0A2B0FBDEE}"/>
              </a:ext>
            </a:extLst>
          </p:cNvPr>
          <p:cNvSpPr>
            <a:spLocks noGrp="1"/>
          </p:cNvSpPr>
          <p:nvPr/>
        </p:nvSpPr>
        <p:spPr>
          <a:xfrm>
            <a:off x="3086100" y="4629150"/>
            <a:ext cx="0" cy="304800"/>
          </a:xfrm>
          <a:prstGeom prst="line">
            <a:avLst/>
          </a:prstGeom>
          <a:noFill/>
          <a:ln w="28575">
            <a:solidFill>
              <a:srgbClr val="0F766E"/>
            </a:solidFill>
            <a:prstDash val="solid"/>
          </a:ln>
        </p:spPr>
        <p:txBody>
          <a:bodyPr/>
          <a:lstStyle/>
          <a:p>
            <a:endParaRPr/>
          </a:p>
        </p:txBody>
      </p:sp>
      <p:sp>
        <p:nvSpPr>
          <p:cNvPr id="21" name="直接连接符 20">
            <a:extLst>
              <a:ext uri="{FF2B5EF4-FFF2-40B4-BE49-F238E27FC236}">
                <a16:creationId xmlns:a16="http://schemas.microsoft.com/office/drawing/2014/main" id="{5A1242CC-B3FB-4320-8311-0A850AE5BC47}"/>
              </a:ext>
            </a:extLst>
          </p:cNvPr>
          <p:cNvSpPr>
            <a:spLocks noGrp="1"/>
          </p:cNvSpPr>
          <p:nvPr/>
        </p:nvSpPr>
        <p:spPr>
          <a:xfrm>
            <a:off x="8953500" y="4629150"/>
            <a:ext cx="0" cy="304800"/>
          </a:xfrm>
          <a:prstGeom prst="line">
            <a:avLst/>
          </a:prstGeom>
          <a:noFill/>
          <a:ln w="28575">
            <a:solidFill>
              <a:srgbClr val="6D3CC7"/>
            </a:solidFill>
            <a:prstDash val="solid"/>
          </a:ln>
        </p:spPr>
        <p:txBody>
          <a:bodyPr/>
          <a:lstStyle/>
          <a:p>
            <a:endParaRPr/>
          </a:p>
        </p:txBody>
      </p:sp>
      <p:sp>
        <p:nvSpPr>
          <p:cNvPr id="22" name="矩形 21">
            <a:extLst>
              <a:ext uri="{FF2B5EF4-FFF2-40B4-BE49-F238E27FC236}">
                <a16:creationId xmlns:a16="http://schemas.microsoft.com/office/drawing/2014/main" id="{EC30C226-A8B3-4B6E-B8C7-CBA144BF1F8C}"/>
              </a:ext>
            </a:extLst>
          </p:cNvPr>
          <p:cNvSpPr>
            <a:spLocks noGrp="1"/>
          </p:cNvSpPr>
          <p:nvPr/>
        </p:nvSpPr>
        <p:spPr>
          <a:xfrm>
            <a:off x="2857500" y="4591050"/>
            <a:ext cx="457200" cy="361950"/>
          </a:xfrm>
          <a:prstGeom prst="rect">
            <a:avLst/>
          </a:prstGeom>
          <a:noFill/>
          <a:ln w="0">
            <a:noFill/>
            <a:prstDash val="solid"/>
          </a:ln>
        </p:spPr>
        <p:txBody>
          <a:bodyPr lIns="0" tIns="0" rIns="0" bIns="0" anchor="t">
            <a:normAutofit/>
          </a:bodyPr>
          <a:lstStyle/>
          <a:p>
            <a:pPr algn="ctr">
              <a:buNone/>
              <a:defRPr sz="2025" b="1">
                <a:solidFill>
                  <a:srgbClr val="0F766E"/>
                </a:solidFill>
                <a:latin typeface="Aptos"/>
                <a:ea typeface="Aptos"/>
                <a:cs typeface="Aptos"/>
              </a:defRPr>
            </a:pPr>
            <a:r>
              <a:rPr sz="2025" b="1">
                <a:solidFill>
                  <a:srgbClr val="0F766E"/>
                </a:solidFill>
                <a:latin typeface="Aptos"/>
                <a:ea typeface="Aptos"/>
                <a:cs typeface="Aptos"/>
              </a:rPr>
              <a:t>↓</a:t>
            </a:r>
          </a:p>
        </p:txBody>
      </p:sp>
      <p:sp>
        <p:nvSpPr>
          <p:cNvPr id="23" name="矩形 22">
            <a:extLst>
              <a:ext uri="{FF2B5EF4-FFF2-40B4-BE49-F238E27FC236}">
                <a16:creationId xmlns:a16="http://schemas.microsoft.com/office/drawing/2014/main" id="{D48495F6-8F64-434E-84A0-2AB82C93B4F5}"/>
              </a:ext>
            </a:extLst>
          </p:cNvPr>
          <p:cNvSpPr>
            <a:spLocks noGrp="1"/>
          </p:cNvSpPr>
          <p:nvPr/>
        </p:nvSpPr>
        <p:spPr>
          <a:xfrm>
            <a:off x="8724900" y="4591050"/>
            <a:ext cx="457200" cy="361950"/>
          </a:xfrm>
          <a:prstGeom prst="rect">
            <a:avLst/>
          </a:prstGeom>
          <a:noFill/>
          <a:ln w="0">
            <a:noFill/>
            <a:prstDash val="solid"/>
          </a:ln>
        </p:spPr>
        <p:txBody>
          <a:bodyPr lIns="0" tIns="0" rIns="0" bIns="0" anchor="t">
            <a:normAutofit/>
          </a:bodyPr>
          <a:lstStyle/>
          <a:p>
            <a:pPr algn="ctr">
              <a:buNone/>
              <a:defRPr sz="2025" b="1">
                <a:solidFill>
                  <a:srgbClr val="6D3CC7"/>
                </a:solidFill>
                <a:latin typeface="Aptos"/>
                <a:ea typeface="Aptos"/>
                <a:cs typeface="Aptos"/>
              </a:defRPr>
            </a:pPr>
            <a:r>
              <a:rPr sz="2025" b="1">
                <a:solidFill>
                  <a:srgbClr val="6D3CC7"/>
                </a:solidFill>
                <a:latin typeface="Aptos"/>
                <a:ea typeface="Aptos"/>
                <a:cs typeface="Aptos"/>
              </a:rPr>
              <a:t>↓</a:t>
            </a:r>
          </a:p>
        </p:txBody>
      </p:sp>
      <p:sp>
        <p:nvSpPr>
          <p:cNvPr id="24" name="矩形 23">
            <a:extLst>
              <a:ext uri="{FF2B5EF4-FFF2-40B4-BE49-F238E27FC236}">
                <a16:creationId xmlns:a16="http://schemas.microsoft.com/office/drawing/2014/main" id="{038C3EEB-5417-47F9-B141-A0CC42630E5F}"/>
              </a:ext>
            </a:extLst>
          </p:cNvPr>
          <p:cNvSpPr>
            <a:spLocks noGrp="1"/>
          </p:cNvSpPr>
          <p:nvPr/>
        </p:nvSpPr>
        <p:spPr>
          <a:xfrm>
            <a:off x="609600" y="5029199"/>
            <a:ext cx="10934700" cy="1044140"/>
          </a:xfrm>
          <a:prstGeom prst="rect">
            <a:avLst/>
          </a:prstGeom>
          <a:solidFill>
            <a:srgbClr val="111A2E"/>
          </a:solidFill>
          <a:ln w="0">
            <a:solidFill>
              <a:srgbClr val="111A2E"/>
            </a:solidFill>
            <a:prstDash val="solid"/>
          </a:ln>
        </p:spPr>
        <p:txBody>
          <a:bodyPr/>
          <a:lstStyle/>
          <a:p>
            <a:endParaRPr/>
          </a:p>
        </p:txBody>
      </p:sp>
      <p:sp>
        <p:nvSpPr>
          <p:cNvPr id="25" name="矩形 24">
            <a:extLst>
              <a:ext uri="{FF2B5EF4-FFF2-40B4-BE49-F238E27FC236}">
                <a16:creationId xmlns:a16="http://schemas.microsoft.com/office/drawing/2014/main" id="{31094BA4-8E81-40AD-8499-AE8E9ABDE442}"/>
              </a:ext>
            </a:extLst>
          </p:cNvPr>
          <p:cNvSpPr>
            <a:spLocks noGrp="1"/>
          </p:cNvSpPr>
          <p:nvPr/>
        </p:nvSpPr>
        <p:spPr>
          <a:xfrm>
            <a:off x="838198" y="5200649"/>
            <a:ext cx="6883402" cy="552450"/>
          </a:xfrm>
          <a:prstGeom prst="rect">
            <a:avLst/>
          </a:prstGeom>
          <a:noFill/>
          <a:ln w="0">
            <a:noFill/>
            <a:prstDash val="solid"/>
          </a:ln>
        </p:spPr>
        <p:txBody>
          <a:bodyPr lIns="0" tIns="0" rIns="0" bIns="0" anchor="t">
            <a:normAutofit fontScale="97230"/>
          </a:bodyPr>
          <a:lstStyle/>
          <a:p>
            <a:pPr algn="l">
              <a:buNone/>
              <a:defRPr sz="1125" b="1">
                <a:solidFill>
                  <a:srgbClr val="6EA8FE"/>
                </a:solidFill>
                <a:latin typeface="Aptos"/>
                <a:ea typeface="Aptos"/>
                <a:cs typeface="Aptos"/>
              </a:defRPr>
            </a:pPr>
            <a:r>
              <a:rPr sz="1600" b="1" dirty="0">
                <a:solidFill>
                  <a:srgbClr val="6EA8FE"/>
                </a:solidFill>
                <a:latin typeface="Aptos"/>
                <a:ea typeface="Aptos"/>
                <a:cs typeface="Aptos"/>
              </a:rPr>
              <a:t>Together, the two conditions imply the experimental structure</a:t>
            </a:r>
          </a:p>
        </p:txBody>
      </p:sp>
      <p:sp>
        <p:nvSpPr>
          <p:cNvPr id="26" name="矩形 25">
            <a:extLst>
              <a:ext uri="{FF2B5EF4-FFF2-40B4-BE49-F238E27FC236}">
                <a16:creationId xmlns:a16="http://schemas.microsoft.com/office/drawing/2014/main" id="{05CE6F78-57BB-4E1A-AD74-53D9254A4406}"/>
              </a:ext>
            </a:extLst>
          </p:cNvPr>
          <p:cNvSpPr>
            <a:spLocks noGrp="1"/>
          </p:cNvSpPr>
          <p:nvPr/>
        </p:nvSpPr>
        <p:spPr>
          <a:xfrm>
            <a:off x="838198" y="5520889"/>
            <a:ext cx="10477500" cy="765609"/>
          </a:xfrm>
          <a:prstGeom prst="rect">
            <a:avLst/>
          </a:prstGeom>
          <a:noFill/>
          <a:ln w="0">
            <a:noFill/>
            <a:prstDash val="solid"/>
          </a:ln>
        </p:spPr>
        <p:txBody>
          <a:bodyPr lIns="0" tIns="0" rIns="0" bIns="0" anchor="t">
            <a:normAutofit fontScale="93845"/>
          </a:bodyPr>
          <a:lstStyle/>
          <a:p>
            <a:pPr algn="ctr">
              <a:buNone/>
              <a:defRPr sz="1575" b="1">
                <a:solidFill>
                  <a:srgbClr val="FFFFFF"/>
                </a:solidFill>
                <a:latin typeface="Aptos"/>
                <a:ea typeface="Aptos"/>
                <a:cs typeface="Aptos"/>
              </a:defRPr>
            </a:pPr>
            <a:r>
              <a:rPr sz="1600" b="1" dirty="0">
                <a:solidFill>
                  <a:srgbClr val="FFFFFF"/>
                </a:solidFill>
                <a:latin typeface="Aptos"/>
                <a:ea typeface="Aptos"/>
                <a:cs typeface="Aptos"/>
              </a:rPr>
              <a:t>Project fixed-identity concept slots from the full FFN activation U, then apply controlled cross-token Attention before down-projection.</a:t>
            </a:r>
          </a:p>
        </p:txBody>
      </p:sp>
    </p:spTree>
    <p:extLst>
      <p:ext uri="{BB962C8B-B14F-4D97-AF65-F5344CB8AC3E}">
        <p14:creationId xmlns:p14="http://schemas.microsoft.com/office/powerpoint/2010/main" val="5254493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70B22605-F53C-4EC7-9A5B-1C6052046A99}"/>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4: objective and theoretical basis</a:t>
            </a:r>
          </a:p>
        </p:txBody>
      </p:sp>
      <p:sp>
        <p:nvSpPr>
          <p:cNvPr id="2" name="矩形 1">
            <a:extLst>
              <a:ext uri="{FF2B5EF4-FFF2-40B4-BE49-F238E27FC236}">
                <a16:creationId xmlns:a16="http://schemas.microsoft.com/office/drawing/2014/main" id="{C9954619-4B7A-45B6-A1AD-8C5D73C90EED}"/>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Higher-level concepts need both fixed identities and context</a:t>
            </a:r>
          </a:p>
        </p:txBody>
      </p:sp>
      <p:sp>
        <p:nvSpPr>
          <p:cNvPr id="3" name="直接连接符 2">
            <a:extLst>
              <a:ext uri="{FF2B5EF4-FFF2-40B4-BE49-F238E27FC236}">
                <a16:creationId xmlns:a16="http://schemas.microsoft.com/office/drawing/2014/main" id="{C04F9AD4-4EE7-467F-B2A0-0C5C11DB6859}"/>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141F0C4E-E129-4220-B9C3-D872FAB6A9AC}"/>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24</a:t>
            </a:r>
          </a:p>
        </p:txBody>
      </p:sp>
      <p:sp>
        <p:nvSpPr>
          <p:cNvPr id="5" name="矩形 4">
            <a:extLst>
              <a:ext uri="{FF2B5EF4-FFF2-40B4-BE49-F238E27FC236}">
                <a16:creationId xmlns:a16="http://schemas.microsoft.com/office/drawing/2014/main" id="{08CB8BC2-43C3-45CA-B5B5-05FDFDE2BE9D}"/>
              </a:ext>
            </a:extLst>
          </p:cNvPr>
          <p:cNvSpPr>
            <a:spLocks noGrp="1"/>
          </p:cNvSpPr>
          <p:nvPr/>
        </p:nvSpPr>
        <p:spPr>
          <a:xfrm>
            <a:off x="552450" y="1581150"/>
            <a:ext cx="3333750" cy="1314450"/>
          </a:xfrm>
          <a:prstGeom prst="rect">
            <a:avLst/>
          </a:prstGeom>
          <a:solidFill>
            <a:srgbClr val="FFFFFF"/>
          </a:solidFill>
          <a:ln w="9525">
            <a:solidFill>
              <a:srgbClr val="D7DEE8"/>
            </a:solidFill>
            <a:prstDash val="solid"/>
          </a:ln>
        </p:spPr>
        <p:txBody>
          <a:bodyPr/>
          <a:lstStyle/>
          <a:p>
            <a:endParaRPr/>
          </a:p>
        </p:txBody>
      </p:sp>
      <p:sp>
        <p:nvSpPr>
          <p:cNvPr id="6" name="矩形 5">
            <a:extLst>
              <a:ext uri="{FF2B5EF4-FFF2-40B4-BE49-F238E27FC236}">
                <a16:creationId xmlns:a16="http://schemas.microsoft.com/office/drawing/2014/main" id="{7E78F32B-1C33-4AB1-B863-CF58D0A6B4D1}"/>
              </a:ext>
            </a:extLst>
          </p:cNvPr>
          <p:cNvSpPr>
            <a:spLocks noGrp="1"/>
          </p:cNvSpPr>
          <p:nvPr/>
        </p:nvSpPr>
        <p:spPr>
          <a:xfrm>
            <a:off x="742950" y="1790700"/>
            <a:ext cx="438150" cy="266700"/>
          </a:xfrm>
          <a:prstGeom prst="rect">
            <a:avLst/>
          </a:prstGeom>
          <a:solidFill>
            <a:srgbClr val="EAF1FF"/>
          </a:solidFill>
          <a:ln w="0">
            <a:solidFill>
              <a:srgbClr val="EAF1FF"/>
            </a:solidFill>
            <a:prstDash val="solid"/>
          </a:ln>
        </p:spPr>
        <p:txBody>
          <a:bodyPr/>
          <a:lstStyle/>
          <a:p>
            <a:endParaRPr/>
          </a:p>
        </p:txBody>
      </p:sp>
      <p:sp>
        <p:nvSpPr>
          <p:cNvPr id="7" name="矩形 6">
            <a:extLst>
              <a:ext uri="{FF2B5EF4-FFF2-40B4-BE49-F238E27FC236}">
                <a16:creationId xmlns:a16="http://schemas.microsoft.com/office/drawing/2014/main" id="{92E61F86-D5E6-4B55-8B8D-817ACDBD7BF8}"/>
              </a:ext>
            </a:extLst>
          </p:cNvPr>
          <p:cNvSpPr>
            <a:spLocks noGrp="1"/>
          </p:cNvSpPr>
          <p:nvPr/>
        </p:nvSpPr>
        <p:spPr>
          <a:xfrm>
            <a:off x="742950" y="1819275"/>
            <a:ext cx="438150" cy="190500"/>
          </a:xfrm>
          <a:prstGeom prst="rect">
            <a:avLst/>
          </a:prstGeom>
          <a:noFill/>
          <a:ln w="0">
            <a:noFill/>
            <a:prstDash val="solid"/>
          </a:ln>
        </p:spPr>
        <p:txBody>
          <a:bodyPr lIns="0" tIns="0" rIns="0" bIns="0" anchor="ctr">
            <a:normAutofit/>
          </a:bodyPr>
          <a:lstStyle/>
          <a:p>
            <a:pPr algn="ctr">
              <a:buNone/>
              <a:defRPr sz="975" b="1">
                <a:solidFill>
                  <a:srgbClr val="2457D6"/>
                </a:solidFill>
                <a:latin typeface="Aptos"/>
                <a:ea typeface="Aptos"/>
                <a:cs typeface="Aptos"/>
              </a:defRPr>
            </a:pPr>
            <a:r>
              <a:rPr sz="1050" b="1">
                <a:solidFill>
                  <a:srgbClr val="2457D6"/>
                </a:solidFill>
                <a:latin typeface="Aptos"/>
                <a:ea typeface="Aptos"/>
                <a:cs typeface="Aptos"/>
              </a:rPr>
              <a:t>01</a:t>
            </a:r>
          </a:p>
        </p:txBody>
      </p:sp>
      <p:sp>
        <p:nvSpPr>
          <p:cNvPr id="8" name="矩形 7">
            <a:extLst>
              <a:ext uri="{FF2B5EF4-FFF2-40B4-BE49-F238E27FC236}">
                <a16:creationId xmlns:a16="http://schemas.microsoft.com/office/drawing/2014/main" id="{CFC9DBEE-DDB4-4633-9B0A-1F1CE2BF4EF4}"/>
              </a:ext>
            </a:extLst>
          </p:cNvPr>
          <p:cNvSpPr>
            <a:spLocks noGrp="1"/>
          </p:cNvSpPr>
          <p:nvPr/>
        </p:nvSpPr>
        <p:spPr>
          <a:xfrm>
            <a:off x="1333500" y="1790700"/>
            <a:ext cx="2266950" cy="266700"/>
          </a:xfrm>
          <a:prstGeom prst="rect">
            <a:avLst/>
          </a:prstGeom>
          <a:noFill/>
          <a:ln w="0">
            <a:noFill/>
            <a:prstDash val="solid"/>
          </a:ln>
        </p:spPr>
        <p:txBody>
          <a:bodyPr lIns="0" tIns="0" rIns="0" bIns="0" anchor="t">
            <a:normAutofit/>
          </a:bodyPr>
          <a:lstStyle/>
          <a:p>
            <a:pPr algn="l">
              <a:buNone/>
              <a:defRPr sz="1500" b="1">
                <a:solidFill>
                  <a:srgbClr val="111827"/>
                </a:solidFill>
                <a:latin typeface="Aptos"/>
                <a:ea typeface="Aptos"/>
                <a:cs typeface="Aptos"/>
              </a:defRPr>
            </a:pPr>
            <a:r>
              <a:rPr sz="1600" b="1" dirty="0" err="1">
                <a:solidFill>
                  <a:srgbClr val="111827"/>
                </a:solidFill>
                <a:latin typeface="Aptos"/>
                <a:ea typeface="Aptos"/>
                <a:cs typeface="Aptos"/>
              </a:rPr>
              <a:t>Contextualised</a:t>
            </a:r>
            <a:r>
              <a:rPr sz="1600" b="1" dirty="0">
                <a:solidFill>
                  <a:srgbClr val="111827"/>
                </a:solidFill>
                <a:latin typeface="Aptos"/>
                <a:ea typeface="Aptos"/>
                <a:cs typeface="Aptos"/>
              </a:rPr>
              <a:t> residual</a:t>
            </a:r>
          </a:p>
        </p:txBody>
      </p:sp>
      <p:sp>
        <p:nvSpPr>
          <p:cNvPr id="9" name="矩形 8">
            <a:extLst>
              <a:ext uri="{FF2B5EF4-FFF2-40B4-BE49-F238E27FC236}">
                <a16:creationId xmlns:a16="http://schemas.microsoft.com/office/drawing/2014/main" id="{65C33A9E-940C-4CB1-A5EC-4563A9B869BC}"/>
              </a:ext>
            </a:extLst>
          </p:cNvPr>
          <p:cNvSpPr>
            <a:spLocks noGrp="1"/>
          </p:cNvSpPr>
          <p:nvPr/>
        </p:nvSpPr>
        <p:spPr>
          <a:xfrm>
            <a:off x="781050" y="2362200"/>
            <a:ext cx="2876550" cy="323850"/>
          </a:xfrm>
          <a:prstGeom prst="rect">
            <a:avLst/>
          </a:prstGeom>
          <a:noFill/>
          <a:ln w="0">
            <a:noFill/>
            <a:prstDash val="solid"/>
          </a:ln>
        </p:spPr>
        <p:txBody>
          <a:bodyPr lIns="0" tIns="0" rIns="0" bIns="0" anchor="t">
            <a:noAutofit/>
          </a:bodyPr>
          <a:lstStyle/>
          <a:p>
            <a:pPr algn="ctr">
              <a:buNone/>
              <a:defRPr sz="1200" b="0">
                <a:solidFill>
                  <a:srgbClr val="5B6472"/>
                </a:solidFill>
                <a:latin typeface="Aptos"/>
                <a:ea typeface="Aptos"/>
                <a:cs typeface="Aptos"/>
              </a:defRPr>
            </a:pPr>
            <a:r>
              <a:rPr sz="1400" b="0" dirty="0">
                <a:solidFill>
                  <a:srgbClr val="5B6472"/>
                </a:solidFill>
                <a:latin typeface="Aptos"/>
                <a:ea typeface="Aptos"/>
                <a:cs typeface="Aptos"/>
              </a:rPr>
              <a:t>Attention has already aggregated token context</a:t>
            </a:r>
          </a:p>
        </p:txBody>
      </p:sp>
      <p:sp>
        <p:nvSpPr>
          <p:cNvPr id="10" name="矩形 9">
            <a:extLst>
              <a:ext uri="{FF2B5EF4-FFF2-40B4-BE49-F238E27FC236}">
                <a16:creationId xmlns:a16="http://schemas.microsoft.com/office/drawing/2014/main" id="{D26EEC05-6FC6-484A-A9FE-3E1F78E23472}"/>
              </a:ext>
            </a:extLst>
          </p:cNvPr>
          <p:cNvSpPr>
            <a:spLocks noGrp="1"/>
          </p:cNvSpPr>
          <p:nvPr/>
        </p:nvSpPr>
        <p:spPr>
          <a:xfrm>
            <a:off x="3962400" y="2038350"/>
            <a:ext cx="323850" cy="381000"/>
          </a:xfrm>
          <a:prstGeom prst="rect">
            <a:avLst/>
          </a:prstGeom>
          <a:noFill/>
          <a:ln w="0">
            <a:noFill/>
            <a:prstDash val="solid"/>
          </a:ln>
        </p:spPr>
        <p:txBody>
          <a:bodyPr lIns="0" tIns="0" rIns="0" bIns="0" anchor="t">
            <a:normAutofit/>
          </a:bodyPr>
          <a:lstStyle/>
          <a:p>
            <a:pPr algn="ctr">
              <a:buNone/>
              <a:defRPr sz="2100" b="1">
                <a:solidFill>
                  <a:srgbClr val="8B95A5"/>
                </a:solidFill>
                <a:latin typeface="Aptos"/>
                <a:ea typeface="Aptos"/>
                <a:cs typeface="Aptos"/>
              </a:defRPr>
            </a:pPr>
            <a:r>
              <a:rPr sz="2100" b="1">
                <a:solidFill>
                  <a:srgbClr val="8B95A5"/>
                </a:solidFill>
                <a:latin typeface="Aptos"/>
                <a:ea typeface="Aptos"/>
                <a:cs typeface="Aptos"/>
              </a:rPr>
              <a:t>→</a:t>
            </a:r>
          </a:p>
        </p:txBody>
      </p:sp>
      <p:sp>
        <p:nvSpPr>
          <p:cNvPr id="11" name="矩形 10">
            <a:extLst>
              <a:ext uri="{FF2B5EF4-FFF2-40B4-BE49-F238E27FC236}">
                <a16:creationId xmlns:a16="http://schemas.microsoft.com/office/drawing/2014/main" id="{3A9FD2E0-735D-4FAF-AF83-B08E3D05F23C}"/>
              </a:ext>
            </a:extLst>
          </p:cNvPr>
          <p:cNvSpPr>
            <a:spLocks noGrp="1"/>
          </p:cNvSpPr>
          <p:nvPr/>
        </p:nvSpPr>
        <p:spPr>
          <a:xfrm>
            <a:off x="4343400" y="1581150"/>
            <a:ext cx="3333750" cy="1314450"/>
          </a:xfrm>
          <a:prstGeom prst="rect">
            <a:avLst/>
          </a:prstGeom>
          <a:solidFill>
            <a:srgbClr val="FFFFFF"/>
          </a:solidFill>
          <a:ln w="9525">
            <a:solidFill>
              <a:srgbClr val="D7DEE8"/>
            </a:solidFill>
            <a:prstDash val="solid"/>
          </a:ln>
        </p:spPr>
        <p:txBody>
          <a:bodyPr/>
          <a:lstStyle/>
          <a:p>
            <a:endParaRPr/>
          </a:p>
        </p:txBody>
      </p:sp>
      <p:sp>
        <p:nvSpPr>
          <p:cNvPr id="12" name="矩形 11">
            <a:extLst>
              <a:ext uri="{FF2B5EF4-FFF2-40B4-BE49-F238E27FC236}">
                <a16:creationId xmlns:a16="http://schemas.microsoft.com/office/drawing/2014/main" id="{EC0853C3-B88E-4F81-B71F-AD9738A4C544}"/>
              </a:ext>
            </a:extLst>
          </p:cNvPr>
          <p:cNvSpPr>
            <a:spLocks noGrp="1"/>
          </p:cNvSpPr>
          <p:nvPr/>
        </p:nvSpPr>
        <p:spPr>
          <a:xfrm>
            <a:off x="4533900" y="1790700"/>
            <a:ext cx="438150" cy="266700"/>
          </a:xfrm>
          <a:prstGeom prst="rect">
            <a:avLst/>
          </a:prstGeom>
          <a:solidFill>
            <a:srgbClr val="E7F7F3"/>
          </a:solidFill>
          <a:ln w="0">
            <a:solidFill>
              <a:srgbClr val="E7F7F3"/>
            </a:solidFill>
            <a:prstDash val="solid"/>
          </a:ln>
        </p:spPr>
        <p:txBody>
          <a:bodyPr/>
          <a:lstStyle/>
          <a:p>
            <a:endParaRPr/>
          </a:p>
        </p:txBody>
      </p:sp>
      <p:sp>
        <p:nvSpPr>
          <p:cNvPr id="13" name="矩形 12">
            <a:extLst>
              <a:ext uri="{FF2B5EF4-FFF2-40B4-BE49-F238E27FC236}">
                <a16:creationId xmlns:a16="http://schemas.microsoft.com/office/drawing/2014/main" id="{03C88CD3-2ACC-4524-A3A9-0CE6AA056A45}"/>
              </a:ext>
            </a:extLst>
          </p:cNvPr>
          <p:cNvSpPr>
            <a:spLocks noGrp="1"/>
          </p:cNvSpPr>
          <p:nvPr/>
        </p:nvSpPr>
        <p:spPr>
          <a:xfrm>
            <a:off x="4533900" y="1819275"/>
            <a:ext cx="438150" cy="190500"/>
          </a:xfrm>
          <a:prstGeom prst="rect">
            <a:avLst/>
          </a:prstGeom>
          <a:noFill/>
          <a:ln w="0">
            <a:noFill/>
            <a:prstDash val="solid"/>
          </a:ln>
        </p:spPr>
        <p:txBody>
          <a:bodyPr lIns="0" tIns="0" rIns="0" bIns="0" anchor="ctr">
            <a:normAutofit/>
          </a:bodyPr>
          <a:lstStyle/>
          <a:p>
            <a:pPr algn="ctr">
              <a:buNone/>
              <a:defRPr sz="975" b="1">
                <a:solidFill>
                  <a:srgbClr val="0F766E"/>
                </a:solidFill>
                <a:latin typeface="Aptos"/>
                <a:ea typeface="Aptos"/>
                <a:cs typeface="Aptos"/>
              </a:defRPr>
            </a:pPr>
            <a:r>
              <a:rPr sz="1050" b="1">
                <a:solidFill>
                  <a:srgbClr val="0F766E"/>
                </a:solidFill>
                <a:latin typeface="Aptos"/>
                <a:ea typeface="Aptos"/>
                <a:cs typeface="Aptos"/>
              </a:rPr>
              <a:t>02</a:t>
            </a:r>
          </a:p>
        </p:txBody>
      </p:sp>
      <p:sp>
        <p:nvSpPr>
          <p:cNvPr id="14" name="矩形 13">
            <a:extLst>
              <a:ext uri="{FF2B5EF4-FFF2-40B4-BE49-F238E27FC236}">
                <a16:creationId xmlns:a16="http://schemas.microsoft.com/office/drawing/2014/main" id="{0747B500-E586-4F82-A2C6-9BFB4280EB96}"/>
              </a:ext>
            </a:extLst>
          </p:cNvPr>
          <p:cNvSpPr>
            <a:spLocks noGrp="1"/>
          </p:cNvSpPr>
          <p:nvPr/>
        </p:nvSpPr>
        <p:spPr>
          <a:xfrm>
            <a:off x="5124450" y="1790700"/>
            <a:ext cx="2266950" cy="266700"/>
          </a:xfrm>
          <a:prstGeom prst="rect">
            <a:avLst/>
          </a:prstGeom>
          <a:noFill/>
          <a:ln w="0">
            <a:noFill/>
            <a:prstDash val="solid"/>
          </a:ln>
        </p:spPr>
        <p:txBody>
          <a:bodyPr lIns="0" tIns="0" rIns="0" bIns="0" anchor="t">
            <a:normAutofit/>
          </a:bodyPr>
          <a:lstStyle/>
          <a:p>
            <a:pPr algn="l">
              <a:buNone/>
              <a:defRPr sz="1500" b="1">
                <a:solidFill>
                  <a:srgbClr val="111827"/>
                </a:solidFill>
                <a:latin typeface="Aptos"/>
                <a:ea typeface="Aptos"/>
                <a:cs typeface="Aptos"/>
              </a:defRPr>
            </a:pPr>
            <a:r>
              <a:rPr sz="1600" b="1" dirty="0">
                <a:solidFill>
                  <a:srgbClr val="111827"/>
                </a:solidFill>
                <a:latin typeface="Aptos"/>
                <a:ea typeface="Aptos"/>
                <a:cs typeface="Aptos"/>
              </a:rPr>
              <a:t>FFN activation U</a:t>
            </a:r>
          </a:p>
        </p:txBody>
      </p:sp>
      <p:sp>
        <p:nvSpPr>
          <p:cNvPr id="15" name="矩形 14">
            <a:extLst>
              <a:ext uri="{FF2B5EF4-FFF2-40B4-BE49-F238E27FC236}">
                <a16:creationId xmlns:a16="http://schemas.microsoft.com/office/drawing/2014/main" id="{460DF2FB-9938-4F62-B0FF-CD4CF8CF3774}"/>
              </a:ext>
            </a:extLst>
          </p:cNvPr>
          <p:cNvSpPr>
            <a:spLocks noGrp="1"/>
          </p:cNvSpPr>
          <p:nvPr/>
        </p:nvSpPr>
        <p:spPr>
          <a:xfrm>
            <a:off x="7753350" y="2038350"/>
            <a:ext cx="323850" cy="381000"/>
          </a:xfrm>
          <a:prstGeom prst="rect">
            <a:avLst/>
          </a:prstGeom>
          <a:noFill/>
          <a:ln w="0">
            <a:noFill/>
            <a:prstDash val="solid"/>
          </a:ln>
        </p:spPr>
        <p:txBody>
          <a:bodyPr lIns="0" tIns="0" rIns="0" bIns="0" anchor="t">
            <a:normAutofit/>
          </a:bodyPr>
          <a:lstStyle/>
          <a:p>
            <a:pPr algn="ctr">
              <a:buNone/>
              <a:defRPr sz="2100" b="1">
                <a:solidFill>
                  <a:srgbClr val="8B95A5"/>
                </a:solidFill>
                <a:latin typeface="Aptos"/>
                <a:ea typeface="Aptos"/>
                <a:cs typeface="Aptos"/>
              </a:defRPr>
            </a:pPr>
            <a:r>
              <a:rPr sz="2100" b="1">
                <a:solidFill>
                  <a:srgbClr val="8B95A5"/>
                </a:solidFill>
                <a:latin typeface="Aptos"/>
                <a:ea typeface="Aptos"/>
                <a:cs typeface="Aptos"/>
              </a:rPr>
              <a:t>→</a:t>
            </a:r>
          </a:p>
        </p:txBody>
      </p:sp>
      <p:sp>
        <p:nvSpPr>
          <p:cNvPr id="16" name="矩形 15">
            <a:extLst>
              <a:ext uri="{FF2B5EF4-FFF2-40B4-BE49-F238E27FC236}">
                <a16:creationId xmlns:a16="http://schemas.microsoft.com/office/drawing/2014/main" id="{793A005C-268E-4A17-9E89-AFDD30CA0055}"/>
              </a:ext>
            </a:extLst>
          </p:cNvPr>
          <p:cNvSpPr>
            <a:spLocks noGrp="1"/>
          </p:cNvSpPr>
          <p:nvPr/>
        </p:nvSpPr>
        <p:spPr>
          <a:xfrm>
            <a:off x="8134350" y="1581150"/>
            <a:ext cx="3333750" cy="1314450"/>
          </a:xfrm>
          <a:prstGeom prst="rect">
            <a:avLst/>
          </a:prstGeom>
          <a:solidFill>
            <a:srgbClr val="FFFFFF"/>
          </a:solidFill>
          <a:ln w="9525">
            <a:solidFill>
              <a:srgbClr val="D7DEE8"/>
            </a:solidFill>
            <a:prstDash val="solid"/>
          </a:ln>
        </p:spPr>
        <p:txBody>
          <a:bodyPr/>
          <a:lstStyle/>
          <a:p>
            <a:endParaRPr/>
          </a:p>
        </p:txBody>
      </p:sp>
      <p:sp>
        <p:nvSpPr>
          <p:cNvPr id="17" name="矩形 16">
            <a:extLst>
              <a:ext uri="{FF2B5EF4-FFF2-40B4-BE49-F238E27FC236}">
                <a16:creationId xmlns:a16="http://schemas.microsoft.com/office/drawing/2014/main" id="{DBEFDDD2-536E-4161-BFEA-BB3482AD3A20}"/>
              </a:ext>
            </a:extLst>
          </p:cNvPr>
          <p:cNvSpPr>
            <a:spLocks noGrp="1"/>
          </p:cNvSpPr>
          <p:nvPr/>
        </p:nvSpPr>
        <p:spPr>
          <a:xfrm>
            <a:off x="8324850" y="1790700"/>
            <a:ext cx="438150" cy="266700"/>
          </a:xfrm>
          <a:prstGeom prst="rect">
            <a:avLst/>
          </a:prstGeom>
          <a:solidFill>
            <a:srgbClr val="F1ECFF"/>
          </a:solidFill>
          <a:ln w="0">
            <a:solidFill>
              <a:srgbClr val="F1ECFF"/>
            </a:solidFill>
            <a:prstDash val="solid"/>
          </a:ln>
        </p:spPr>
        <p:txBody>
          <a:bodyPr/>
          <a:lstStyle/>
          <a:p>
            <a:endParaRPr/>
          </a:p>
        </p:txBody>
      </p:sp>
      <p:sp>
        <p:nvSpPr>
          <p:cNvPr id="18" name="矩形 17">
            <a:extLst>
              <a:ext uri="{FF2B5EF4-FFF2-40B4-BE49-F238E27FC236}">
                <a16:creationId xmlns:a16="http://schemas.microsoft.com/office/drawing/2014/main" id="{6491C73E-40A0-446B-9B58-AB756DD21AFA}"/>
              </a:ext>
            </a:extLst>
          </p:cNvPr>
          <p:cNvSpPr>
            <a:spLocks noGrp="1"/>
          </p:cNvSpPr>
          <p:nvPr/>
        </p:nvSpPr>
        <p:spPr>
          <a:xfrm>
            <a:off x="8324850" y="1819275"/>
            <a:ext cx="438150" cy="190500"/>
          </a:xfrm>
          <a:prstGeom prst="rect">
            <a:avLst/>
          </a:prstGeom>
          <a:noFill/>
          <a:ln w="0">
            <a:noFill/>
            <a:prstDash val="solid"/>
          </a:ln>
        </p:spPr>
        <p:txBody>
          <a:bodyPr lIns="0" tIns="0" rIns="0" bIns="0" anchor="ctr">
            <a:normAutofit/>
          </a:bodyPr>
          <a:lstStyle/>
          <a:p>
            <a:pPr algn="ctr">
              <a:buNone/>
              <a:defRPr sz="975" b="1">
                <a:solidFill>
                  <a:srgbClr val="6D3CC7"/>
                </a:solidFill>
                <a:latin typeface="Aptos"/>
                <a:ea typeface="Aptos"/>
                <a:cs typeface="Aptos"/>
              </a:defRPr>
            </a:pPr>
            <a:r>
              <a:rPr sz="1050" b="1">
                <a:solidFill>
                  <a:srgbClr val="6D3CC7"/>
                </a:solidFill>
                <a:latin typeface="Aptos"/>
                <a:ea typeface="Aptos"/>
                <a:cs typeface="Aptos"/>
              </a:rPr>
              <a:t>03</a:t>
            </a:r>
          </a:p>
        </p:txBody>
      </p:sp>
      <p:sp>
        <p:nvSpPr>
          <p:cNvPr id="19" name="矩形 18">
            <a:extLst>
              <a:ext uri="{FF2B5EF4-FFF2-40B4-BE49-F238E27FC236}">
                <a16:creationId xmlns:a16="http://schemas.microsoft.com/office/drawing/2014/main" id="{072F8E98-E259-4679-9CFE-FA9E463C46CA}"/>
              </a:ext>
            </a:extLst>
          </p:cNvPr>
          <p:cNvSpPr>
            <a:spLocks noGrp="1"/>
          </p:cNvSpPr>
          <p:nvPr/>
        </p:nvSpPr>
        <p:spPr>
          <a:xfrm>
            <a:off x="8915400" y="1790700"/>
            <a:ext cx="2266950" cy="266700"/>
          </a:xfrm>
          <a:prstGeom prst="rect">
            <a:avLst/>
          </a:prstGeom>
          <a:noFill/>
          <a:ln w="0">
            <a:noFill/>
            <a:prstDash val="solid"/>
          </a:ln>
        </p:spPr>
        <p:txBody>
          <a:bodyPr lIns="0" tIns="0" rIns="0" bIns="0" anchor="t">
            <a:normAutofit/>
          </a:bodyPr>
          <a:lstStyle/>
          <a:p>
            <a:pPr algn="l">
              <a:buNone/>
              <a:defRPr sz="1500" b="1">
                <a:solidFill>
                  <a:srgbClr val="111827"/>
                </a:solidFill>
                <a:latin typeface="Aptos"/>
                <a:ea typeface="Aptos"/>
                <a:cs typeface="Aptos"/>
              </a:defRPr>
            </a:pPr>
            <a:r>
              <a:rPr sz="1600" b="1" dirty="0">
                <a:solidFill>
                  <a:srgbClr val="111827"/>
                </a:solidFill>
                <a:latin typeface="Aptos"/>
                <a:ea typeface="Aptos"/>
                <a:cs typeface="Aptos"/>
              </a:rPr>
              <a:t>Fixed concept slots</a:t>
            </a:r>
          </a:p>
        </p:txBody>
      </p:sp>
      <p:pic>
        <p:nvPicPr>
          <p:cNvPr id="52" name="图形 48"/>
          <p:cNvPicPr>
            <a:picLocks noChangeAspect="1"/>
          </p:cNvPicPr>
          <p:nvPr/>
        </p:nvPicPr>
        <p:blipFill>
          <a:blip>
            <a:extLst>
              <a:ext uri="{96DAC541-7B7A-43D3-8B79-37D633B846F1}">
                <asvg:svgBlip xmlns:asvg="http://schemas.microsoft.com/office/drawing/2016/SVG/main" r:embed="rId3"/>
              </a:ext>
            </a:extLst>
          </a:blip>
          <a:stretch/>
        </p:blipFill>
        <p:spPr>
          <a:xfrm>
            <a:off x="4533900" y="2247900"/>
            <a:ext cx="2952750" cy="552450"/>
          </a:xfrm>
          <a:prstGeom prst="rect">
            <a:avLst/>
          </a:prstGeom>
        </p:spPr>
      </p:pic>
      <p:pic>
        <p:nvPicPr>
          <p:cNvPr id="53" name="图形 49"/>
          <p:cNvPicPr>
            <a:picLocks noChangeAspect="1"/>
          </p:cNvPicPr>
          <p:nvPr/>
        </p:nvPicPr>
        <p:blipFill>
          <a:blip>
            <a:extLst>
              <a:ext uri="{96DAC541-7B7A-43D3-8B79-37D633B846F1}">
                <asvg:svgBlip xmlns:asvg="http://schemas.microsoft.com/office/drawing/2016/SVG/main" r:embed="rId4"/>
              </a:ext>
            </a:extLst>
          </a:blip>
          <a:stretch/>
        </p:blipFill>
        <p:spPr>
          <a:xfrm>
            <a:off x="8286750" y="2266950"/>
            <a:ext cx="3086100" cy="514350"/>
          </a:xfrm>
          <a:prstGeom prst="rect">
            <a:avLst/>
          </a:prstGeom>
        </p:spPr>
      </p:pic>
      <p:sp>
        <p:nvSpPr>
          <p:cNvPr id="22" name="矩形 21">
            <a:extLst>
              <a:ext uri="{FF2B5EF4-FFF2-40B4-BE49-F238E27FC236}">
                <a16:creationId xmlns:a16="http://schemas.microsoft.com/office/drawing/2014/main" id="{9A3940C6-4429-4803-8DED-39203BC6FFC4}"/>
              </a:ext>
            </a:extLst>
          </p:cNvPr>
          <p:cNvSpPr>
            <a:spLocks noGrp="1"/>
          </p:cNvSpPr>
          <p:nvPr/>
        </p:nvSpPr>
        <p:spPr>
          <a:xfrm>
            <a:off x="552450" y="3333750"/>
            <a:ext cx="5257800" cy="1638300"/>
          </a:xfrm>
          <a:prstGeom prst="rect">
            <a:avLst/>
          </a:prstGeom>
          <a:solidFill>
            <a:srgbClr val="E7F7F3"/>
          </a:solidFill>
          <a:ln w="9525">
            <a:solidFill>
              <a:srgbClr val="0F766E"/>
            </a:solidFill>
            <a:prstDash val="solid"/>
          </a:ln>
        </p:spPr>
        <p:txBody>
          <a:bodyPr/>
          <a:lstStyle/>
          <a:p>
            <a:endParaRPr/>
          </a:p>
        </p:txBody>
      </p:sp>
      <p:sp>
        <p:nvSpPr>
          <p:cNvPr id="23" name="矩形 22">
            <a:extLst>
              <a:ext uri="{FF2B5EF4-FFF2-40B4-BE49-F238E27FC236}">
                <a16:creationId xmlns:a16="http://schemas.microsoft.com/office/drawing/2014/main" id="{D0A8B024-6365-4B66-A0D4-DD8E4FB4FA26}"/>
              </a:ext>
            </a:extLst>
          </p:cNvPr>
          <p:cNvSpPr>
            <a:spLocks noGrp="1"/>
          </p:cNvSpPr>
          <p:nvPr/>
        </p:nvSpPr>
        <p:spPr>
          <a:xfrm>
            <a:off x="781050" y="3543300"/>
            <a:ext cx="1257300" cy="228600"/>
          </a:xfrm>
          <a:prstGeom prst="rect">
            <a:avLst/>
          </a:prstGeom>
          <a:noFill/>
          <a:ln w="0">
            <a:noFill/>
            <a:prstDash val="solid"/>
          </a:ln>
        </p:spPr>
        <p:txBody>
          <a:bodyPr lIns="0" tIns="0" rIns="0" bIns="0" anchor="t">
            <a:noAutofit/>
          </a:bodyPr>
          <a:lstStyle/>
          <a:p>
            <a:pPr algn="l">
              <a:buNone/>
              <a:defRPr sz="1125" b="1">
                <a:solidFill>
                  <a:srgbClr val="0F766E"/>
                </a:solidFill>
                <a:latin typeface="Aptos"/>
                <a:ea typeface="Aptos"/>
                <a:cs typeface="Aptos"/>
              </a:defRPr>
            </a:pPr>
            <a:r>
              <a:rPr sz="1600" b="1" dirty="0">
                <a:solidFill>
                  <a:srgbClr val="0F766E"/>
                </a:solidFill>
                <a:latin typeface="Aptos"/>
                <a:ea typeface="Aptos"/>
                <a:cs typeface="Aptos"/>
              </a:rPr>
              <a:t>COUNTRY</a:t>
            </a:r>
          </a:p>
        </p:txBody>
      </p:sp>
      <p:sp>
        <p:nvSpPr>
          <p:cNvPr id="24" name="矩形 23">
            <a:extLst>
              <a:ext uri="{FF2B5EF4-FFF2-40B4-BE49-F238E27FC236}">
                <a16:creationId xmlns:a16="http://schemas.microsoft.com/office/drawing/2014/main" id="{E118C082-C402-4591-BD33-5C501BAE8805}"/>
              </a:ext>
            </a:extLst>
          </p:cNvPr>
          <p:cNvSpPr>
            <a:spLocks noGrp="1"/>
          </p:cNvSpPr>
          <p:nvPr/>
        </p:nvSpPr>
        <p:spPr>
          <a:xfrm>
            <a:off x="781050" y="3962400"/>
            <a:ext cx="4572000" cy="72390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400" b="1" dirty="0">
                <a:solidFill>
                  <a:srgbClr val="111827"/>
                </a:solidFill>
                <a:latin typeface="Aptos"/>
                <a:ea typeface="Aptos"/>
                <a:cs typeface="Aptos"/>
              </a:rPr>
              <a:t>‘France’ is not a fixed attribute of every token. Location, relation, and modifying context determine which entity belongs to France.</a:t>
            </a:r>
          </a:p>
        </p:txBody>
      </p:sp>
      <p:sp>
        <p:nvSpPr>
          <p:cNvPr id="25" name="矩形 24">
            <a:extLst>
              <a:ext uri="{FF2B5EF4-FFF2-40B4-BE49-F238E27FC236}">
                <a16:creationId xmlns:a16="http://schemas.microsoft.com/office/drawing/2014/main" id="{21E2C763-11CE-46D7-B2AB-088AD7164BAA}"/>
              </a:ext>
            </a:extLst>
          </p:cNvPr>
          <p:cNvSpPr>
            <a:spLocks noGrp="1"/>
          </p:cNvSpPr>
          <p:nvPr/>
        </p:nvSpPr>
        <p:spPr>
          <a:xfrm>
            <a:off x="6076950" y="3333750"/>
            <a:ext cx="5562600" cy="1638300"/>
          </a:xfrm>
          <a:prstGeom prst="rect">
            <a:avLst/>
          </a:prstGeom>
          <a:solidFill>
            <a:srgbClr val="F1ECFF"/>
          </a:solidFill>
          <a:ln w="9525">
            <a:solidFill>
              <a:srgbClr val="6D3CC7"/>
            </a:solidFill>
            <a:prstDash val="solid"/>
          </a:ln>
        </p:spPr>
        <p:txBody>
          <a:bodyPr/>
          <a:lstStyle/>
          <a:p>
            <a:endParaRPr/>
          </a:p>
        </p:txBody>
      </p:sp>
      <p:sp>
        <p:nvSpPr>
          <p:cNvPr id="26" name="矩形 25">
            <a:extLst>
              <a:ext uri="{FF2B5EF4-FFF2-40B4-BE49-F238E27FC236}">
                <a16:creationId xmlns:a16="http://schemas.microsoft.com/office/drawing/2014/main" id="{BADF3FFF-4900-4FF6-B279-BCF4202DF41D}"/>
              </a:ext>
            </a:extLst>
          </p:cNvPr>
          <p:cNvSpPr>
            <a:spLocks noGrp="1"/>
          </p:cNvSpPr>
          <p:nvPr/>
        </p:nvSpPr>
        <p:spPr>
          <a:xfrm>
            <a:off x="6305550" y="3543300"/>
            <a:ext cx="1257300" cy="228600"/>
          </a:xfrm>
          <a:prstGeom prst="rect">
            <a:avLst/>
          </a:prstGeom>
          <a:noFill/>
          <a:ln w="0">
            <a:noFill/>
            <a:prstDash val="solid"/>
          </a:ln>
        </p:spPr>
        <p:txBody>
          <a:bodyPr lIns="0" tIns="0" rIns="0" bIns="0" anchor="t">
            <a:noAutofit/>
          </a:bodyPr>
          <a:lstStyle/>
          <a:p>
            <a:pPr algn="l">
              <a:buNone/>
              <a:defRPr sz="1125" b="1">
                <a:solidFill>
                  <a:srgbClr val="6D3CC7"/>
                </a:solidFill>
                <a:latin typeface="Aptos"/>
                <a:ea typeface="Aptos"/>
                <a:cs typeface="Aptos"/>
              </a:defRPr>
            </a:pPr>
            <a:r>
              <a:rPr sz="1600" b="1" dirty="0">
                <a:solidFill>
                  <a:srgbClr val="6D3CC7"/>
                </a:solidFill>
                <a:latin typeface="Aptos"/>
                <a:ea typeface="Aptos"/>
                <a:cs typeface="Aptos"/>
              </a:rPr>
              <a:t>COLOR</a:t>
            </a:r>
          </a:p>
        </p:txBody>
      </p:sp>
      <p:sp>
        <p:nvSpPr>
          <p:cNvPr id="27" name="矩形 26">
            <a:extLst>
              <a:ext uri="{FF2B5EF4-FFF2-40B4-BE49-F238E27FC236}">
                <a16:creationId xmlns:a16="http://schemas.microsoft.com/office/drawing/2014/main" id="{2E32AF62-9A9E-4E2C-B219-F17C0A7B6D0D}"/>
              </a:ext>
            </a:extLst>
          </p:cNvPr>
          <p:cNvSpPr>
            <a:spLocks noGrp="1"/>
          </p:cNvSpPr>
          <p:nvPr/>
        </p:nvSpPr>
        <p:spPr>
          <a:xfrm>
            <a:off x="6305550" y="3962400"/>
            <a:ext cx="4857750" cy="72390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400" b="1" dirty="0">
                <a:solidFill>
                  <a:srgbClr val="111827"/>
                </a:solidFill>
                <a:latin typeface="Aptos"/>
                <a:ea typeface="Aptos"/>
                <a:cs typeface="Aptos"/>
              </a:rPr>
              <a:t>‘Red’ becomes COLOR = Red for the task only after it is bound to the correct entity.</a:t>
            </a:r>
          </a:p>
        </p:txBody>
      </p:sp>
      <p:sp>
        <p:nvSpPr>
          <p:cNvPr id="28" name="矩形 27">
            <a:extLst>
              <a:ext uri="{FF2B5EF4-FFF2-40B4-BE49-F238E27FC236}">
                <a16:creationId xmlns:a16="http://schemas.microsoft.com/office/drawing/2014/main" id="{E820D436-D2B6-4EC8-9F2C-34F848683196}"/>
              </a:ext>
            </a:extLst>
          </p:cNvPr>
          <p:cNvSpPr>
            <a:spLocks noGrp="1"/>
          </p:cNvSpPr>
          <p:nvPr/>
        </p:nvSpPr>
        <p:spPr>
          <a:xfrm>
            <a:off x="552450" y="5333999"/>
            <a:ext cx="11087100" cy="743527"/>
          </a:xfrm>
          <a:prstGeom prst="rect">
            <a:avLst/>
          </a:prstGeom>
          <a:solidFill>
            <a:srgbClr val="111A2E"/>
          </a:solidFill>
          <a:ln w="0">
            <a:solidFill>
              <a:srgbClr val="111A2E"/>
            </a:solidFill>
            <a:prstDash val="solid"/>
          </a:ln>
        </p:spPr>
        <p:txBody>
          <a:bodyPr/>
          <a:lstStyle/>
          <a:p>
            <a:endParaRPr/>
          </a:p>
        </p:txBody>
      </p:sp>
      <p:sp>
        <p:nvSpPr>
          <p:cNvPr id="29" name="矩形 28">
            <a:extLst>
              <a:ext uri="{FF2B5EF4-FFF2-40B4-BE49-F238E27FC236}">
                <a16:creationId xmlns:a16="http://schemas.microsoft.com/office/drawing/2014/main" id="{0583919F-3816-4342-9A7B-C6420DCF6FB2}"/>
              </a:ext>
            </a:extLst>
          </p:cNvPr>
          <p:cNvSpPr>
            <a:spLocks noGrp="1"/>
          </p:cNvSpPr>
          <p:nvPr/>
        </p:nvSpPr>
        <p:spPr>
          <a:xfrm>
            <a:off x="781050" y="5505450"/>
            <a:ext cx="10572750" cy="342900"/>
          </a:xfrm>
          <a:prstGeom prst="rect">
            <a:avLst/>
          </a:prstGeom>
          <a:noFill/>
          <a:ln w="0">
            <a:noFill/>
            <a:prstDash val="solid"/>
          </a:ln>
        </p:spPr>
        <p:txBody>
          <a:bodyPr lIns="0" tIns="0" rIns="0" bIns="0" anchor="t">
            <a:noAutofit/>
          </a:bodyPr>
          <a:lstStyle/>
          <a:p>
            <a:pPr algn="ctr">
              <a:buNone/>
              <a:defRPr sz="1425" b="1">
                <a:solidFill>
                  <a:srgbClr val="FFFFFF"/>
                </a:solidFill>
                <a:latin typeface="Aptos"/>
                <a:ea typeface="Aptos"/>
                <a:cs typeface="Aptos"/>
              </a:defRPr>
            </a:pPr>
            <a:r>
              <a:rPr sz="1600" b="1" dirty="0">
                <a:solidFill>
                  <a:srgbClr val="FFFFFF"/>
                </a:solidFill>
                <a:latin typeface="Aptos"/>
                <a:ea typeface="Aptos"/>
                <a:cs typeface="Aptos"/>
              </a:rPr>
              <a:t>Objective: project fixed-identity concept slots from the full FFN activation and test whether cross-token communication before down-projection provides an independent benefit.</a:t>
            </a:r>
          </a:p>
        </p:txBody>
      </p:sp>
    </p:spTree>
    <p:extLst>
      <p:ext uri="{BB962C8B-B14F-4D97-AF65-F5344CB8AC3E}">
        <p14:creationId xmlns:p14="http://schemas.microsoft.com/office/powerpoint/2010/main" val="21105485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CC9757F9-9B2B-4C3E-9A4D-1490E2FE828D}"/>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4: method and fair controls</a:t>
            </a:r>
          </a:p>
        </p:txBody>
      </p:sp>
      <p:sp>
        <p:nvSpPr>
          <p:cNvPr id="2" name="矩形 1">
            <a:extLst>
              <a:ext uri="{FF2B5EF4-FFF2-40B4-BE49-F238E27FC236}">
                <a16:creationId xmlns:a16="http://schemas.microsoft.com/office/drawing/2014/main" id="{F8D13637-E928-4FD6-8087-2328D4E8E856}"/>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90104" lnSpcReduction="20000"/>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Projector and Bus V2 differ primarily in whether they use cross-token communication</a:t>
            </a:r>
          </a:p>
        </p:txBody>
      </p:sp>
      <p:sp>
        <p:nvSpPr>
          <p:cNvPr id="3" name="直接连接符 2">
            <a:extLst>
              <a:ext uri="{FF2B5EF4-FFF2-40B4-BE49-F238E27FC236}">
                <a16:creationId xmlns:a16="http://schemas.microsoft.com/office/drawing/2014/main" id="{FA3974B6-21C6-4BB7-BED3-8F0817E725FC}"/>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6E29EE29-2B27-442D-A96F-EDD70B2CFBD2}"/>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25</a:t>
            </a:r>
          </a:p>
        </p:txBody>
      </p:sp>
      <p:sp>
        <p:nvSpPr>
          <p:cNvPr id="5" name="矩形 4">
            <a:extLst>
              <a:ext uri="{FF2B5EF4-FFF2-40B4-BE49-F238E27FC236}">
                <a16:creationId xmlns:a16="http://schemas.microsoft.com/office/drawing/2014/main" id="{C2F7300E-F522-45F3-BD54-FD88E43869D4}"/>
              </a:ext>
            </a:extLst>
          </p:cNvPr>
          <p:cNvSpPr>
            <a:spLocks noGrp="1"/>
          </p:cNvSpPr>
          <p:nvPr/>
        </p:nvSpPr>
        <p:spPr>
          <a:xfrm>
            <a:off x="533400" y="1466850"/>
            <a:ext cx="11087100" cy="3390900"/>
          </a:xfrm>
          <a:prstGeom prst="rect">
            <a:avLst/>
          </a:prstGeom>
          <a:solidFill>
            <a:srgbClr val="F1F5F9"/>
          </a:solidFill>
          <a:ln w="0">
            <a:solidFill>
              <a:srgbClr val="F1F5F9"/>
            </a:solidFill>
            <a:prstDash val="solid"/>
          </a:ln>
        </p:spPr>
        <p:txBody>
          <a:bodyPr/>
          <a:lstStyle/>
          <a:p>
            <a:endParaRPr/>
          </a:p>
        </p:txBody>
      </p:sp>
      <p:pic>
        <p:nvPicPr>
          <p:cNvPr id="23" name="图片 20"/>
          <p:cNvPicPr>
            <a:picLocks noChangeAspect="1"/>
          </p:cNvPicPr>
          <p:nvPr/>
        </p:nvPicPr>
        <p:blipFill>
          <a:blip r:embed="rId3"/>
          <a:stretch/>
        </p:blipFill>
        <p:spPr>
          <a:xfrm>
            <a:off x="2816976" y="1619250"/>
            <a:ext cx="6481847" cy="3086100"/>
          </a:xfrm>
          <a:prstGeom prst="rect">
            <a:avLst/>
          </a:prstGeom>
        </p:spPr>
      </p:pic>
      <p:sp>
        <p:nvSpPr>
          <p:cNvPr id="7" name="矩形 6">
            <a:extLst>
              <a:ext uri="{FF2B5EF4-FFF2-40B4-BE49-F238E27FC236}">
                <a16:creationId xmlns:a16="http://schemas.microsoft.com/office/drawing/2014/main" id="{8B998B4C-D925-4B5E-90EC-52986E8B0695}"/>
              </a:ext>
            </a:extLst>
          </p:cNvPr>
          <p:cNvSpPr>
            <a:spLocks noGrp="1"/>
          </p:cNvSpPr>
          <p:nvPr/>
        </p:nvSpPr>
        <p:spPr>
          <a:xfrm>
            <a:off x="723900" y="5095875"/>
            <a:ext cx="2095500" cy="228600"/>
          </a:xfrm>
          <a:prstGeom prst="rect">
            <a:avLst/>
          </a:prstGeom>
          <a:noFill/>
          <a:ln w="0">
            <a:noFill/>
            <a:prstDash val="solid"/>
          </a:ln>
        </p:spPr>
        <p:txBody>
          <a:bodyPr lIns="0" tIns="0" rIns="0" bIns="0" anchor="t">
            <a:noAutofit/>
          </a:bodyPr>
          <a:lstStyle/>
          <a:p>
            <a:pPr algn="l">
              <a:buNone/>
              <a:defRPr sz="1200" b="1">
                <a:solidFill>
                  <a:srgbClr val="111827"/>
                </a:solidFill>
                <a:latin typeface="Aptos"/>
                <a:ea typeface="Aptos"/>
                <a:cs typeface="Aptos"/>
              </a:defRPr>
            </a:pPr>
            <a:r>
              <a:rPr sz="1600" b="1" dirty="0">
                <a:solidFill>
                  <a:srgbClr val="111827"/>
                </a:solidFill>
                <a:latin typeface="Aptos"/>
                <a:ea typeface="Aptos"/>
                <a:cs typeface="Aptos"/>
              </a:rPr>
              <a:t>Standard</a:t>
            </a:r>
          </a:p>
        </p:txBody>
      </p:sp>
      <p:sp>
        <p:nvSpPr>
          <p:cNvPr id="8" name="矩形 7">
            <a:extLst>
              <a:ext uri="{FF2B5EF4-FFF2-40B4-BE49-F238E27FC236}">
                <a16:creationId xmlns:a16="http://schemas.microsoft.com/office/drawing/2014/main" id="{292CC362-B8AF-4285-8BBE-32C2D9E8B1DB}"/>
              </a:ext>
            </a:extLst>
          </p:cNvPr>
          <p:cNvSpPr>
            <a:spLocks noGrp="1"/>
          </p:cNvSpPr>
          <p:nvPr/>
        </p:nvSpPr>
        <p:spPr>
          <a:xfrm>
            <a:off x="2952750" y="5095875"/>
            <a:ext cx="4762500" cy="247650"/>
          </a:xfrm>
          <a:prstGeom prst="rect">
            <a:avLst/>
          </a:prstGeom>
          <a:noFill/>
          <a:ln w="0">
            <a:noFill/>
            <a:prstDash val="solid"/>
          </a:ln>
        </p:spPr>
        <p:txBody>
          <a:bodyPr lIns="0" tIns="0" rIns="0" bIns="0" anchor="t">
            <a:norm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Standard Transformer without an explicit concept interface</a:t>
            </a:r>
          </a:p>
        </p:txBody>
      </p:sp>
      <p:sp>
        <p:nvSpPr>
          <p:cNvPr id="9" name="矩形 8">
            <a:extLst>
              <a:ext uri="{FF2B5EF4-FFF2-40B4-BE49-F238E27FC236}">
                <a16:creationId xmlns:a16="http://schemas.microsoft.com/office/drawing/2014/main" id="{5BA34B21-4859-42C0-B227-4A3E7252F111}"/>
              </a:ext>
            </a:extLst>
          </p:cNvPr>
          <p:cNvSpPr>
            <a:spLocks noGrp="1"/>
          </p:cNvSpPr>
          <p:nvPr/>
        </p:nvSpPr>
        <p:spPr>
          <a:xfrm>
            <a:off x="8020050" y="5095875"/>
            <a:ext cx="3219450" cy="247650"/>
          </a:xfrm>
          <a:prstGeom prst="rect">
            <a:avLst/>
          </a:prstGeom>
          <a:noFill/>
          <a:ln w="0">
            <a:noFill/>
            <a:prstDash val="solid"/>
          </a:ln>
        </p:spPr>
        <p:txBody>
          <a:bodyPr lIns="0" tIns="0" rIns="0" bIns="0" anchor="t">
            <a:norm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Task baseline</a:t>
            </a:r>
          </a:p>
        </p:txBody>
      </p:sp>
      <p:sp>
        <p:nvSpPr>
          <p:cNvPr id="10" name="矩形 9">
            <a:extLst>
              <a:ext uri="{FF2B5EF4-FFF2-40B4-BE49-F238E27FC236}">
                <a16:creationId xmlns:a16="http://schemas.microsoft.com/office/drawing/2014/main" id="{9EFD360A-3FF3-4E29-B96A-1B592BEA368E}"/>
              </a:ext>
            </a:extLst>
          </p:cNvPr>
          <p:cNvSpPr>
            <a:spLocks noGrp="1"/>
          </p:cNvSpPr>
          <p:nvPr/>
        </p:nvSpPr>
        <p:spPr>
          <a:xfrm>
            <a:off x="723900" y="5495925"/>
            <a:ext cx="2095500" cy="228600"/>
          </a:xfrm>
          <a:prstGeom prst="rect">
            <a:avLst/>
          </a:prstGeom>
          <a:noFill/>
          <a:ln w="0">
            <a:noFill/>
            <a:prstDash val="solid"/>
          </a:ln>
        </p:spPr>
        <p:txBody>
          <a:bodyPr lIns="0" tIns="0" rIns="0" bIns="0" anchor="t">
            <a:noAutofit/>
          </a:bodyPr>
          <a:lstStyle/>
          <a:p>
            <a:pPr algn="l">
              <a:buNone/>
              <a:defRPr sz="1200" b="1">
                <a:solidFill>
                  <a:srgbClr val="111827"/>
                </a:solidFill>
                <a:latin typeface="Aptos"/>
                <a:ea typeface="Aptos"/>
                <a:cs typeface="Aptos"/>
              </a:defRPr>
            </a:pPr>
            <a:r>
              <a:rPr sz="1600" b="1" dirty="0">
                <a:solidFill>
                  <a:srgbClr val="111827"/>
                </a:solidFill>
                <a:latin typeface="Aptos"/>
                <a:ea typeface="Aptos"/>
                <a:cs typeface="Aptos"/>
              </a:rPr>
              <a:t>Concept Projector</a:t>
            </a:r>
          </a:p>
        </p:txBody>
      </p:sp>
      <p:sp>
        <p:nvSpPr>
          <p:cNvPr id="11" name="矩形 10">
            <a:extLst>
              <a:ext uri="{FF2B5EF4-FFF2-40B4-BE49-F238E27FC236}">
                <a16:creationId xmlns:a16="http://schemas.microsoft.com/office/drawing/2014/main" id="{C8E8580E-51D7-4D62-A9A7-9F4A45E81FEC}"/>
              </a:ext>
            </a:extLst>
          </p:cNvPr>
          <p:cNvSpPr>
            <a:spLocks noGrp="1"/>
          </p:cNvSpPr>
          <p:nvPr/>
        </p:nvSpPr>
        <p:spPr>
          <a:xfrm>
            <a:off x="2952750" y="5495925"/>
            <a:ext cx="4762500" cy="24765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Project COUNTRY/COLOR from full U and process only the current token</a:t>
            </a:r>
          </a:p>
        </p:txBody>
      </p:sp>
      <p:sp>
        <p:nvSpPr>
          <p:cNvPr id="12" name="矩形 11">
            <a:extLst>
              <a:ext uri="{FF2B5EF4-FFF2-40B4-BE49-F238E27FC236}">
                <a16:creationId xmlns:a16="http://schemas.microsoft.com/office/drawing/2014/main" id="{B8231AEC-D5EF-4CE0-B46C-7A8F5066CC1C}"/>
              </a:ext>
            </a:extLst>
          </p:cNvPr>
          <p:cNvSpPr>
            <a:spLocks noGrp="1"/>
          </p:cNvSpPr>
          <p:nvPr/>
        </p:nvSpPr>
        <p:spPr>
          <a:xfrm>
            <a:off x="8020050" y="5495925"/>
            <a:ext cx="3219450" cy="247650"/>
          </a:xfrm>
          <a:prstGeom prst="rect">
            <a:avLst/>
          </a:prstGeom>
          <a:noFill/>
          <a:ln w="0">
            <a:noFill/>
            <a:prstDash val="solid"/>
          </a:ln>
        </p:spPr>
        <p:txBody>
          <a:bodyPr lIns="0" tIns="0" rIns="0" bIns="0" anchor="t">
            <a:normAutofit/>
          </a:bodyPr>
          <a:lstStyle/>
          <a:p>
            <a:pPr algn="l">
              <a:buNone/>
              <a:defRPr sz="1125" b="1">
                <a:solidFill>
                  <a:srgbClr val="0F766E"/>
                </a:solidFill>
                <a:latin typeface="Aptos"/>
                <a:ea typeface="Aptos"/>
                <a:cs typeface="Aptos"/>
              </a:defRPr>
            </a:pPr>
            <a:r>
              <a:rPr sz="1400" b="1" dirty="0">
                <a:solidFill>
                  <a:srgbClr val="0F766E"/>
                </a:solidFill>
                <a:latin typeface="Aptos"/>
                <a:ea typeface="Aptos"/>
                <a:cs typeface="Aptos"/>
              </a:rPr>
              <a:t>Minimal strong baseline</a:t>
            </a:r>
          </a:p>
        </p:txBody>
      </p:sp>
      <p:sp>
        <p:nvSpPr>
          <p:cNvPr id="13" name="矩形 12">
            <a:extLst>
              <a:ext uri="{FF2B5EF4-FFF2-40B4-BE49-F238E27FC236}">
                <a16:creationId xmlns:a16="http://schemas.microsoft.com/office/drawing/2014/main" id="{FEE6EAE0-FFA1-448B-8EFD-5336F92186FD}"/>
              </a:ext>
            </a:extLst>
          </p:cNvPr>
          <p:cNvSpPr>
            <a:spLocks noGrp="1"/>
          </p:cNvSpPr>
          <p:nvPr/>
        </p:nvSpPr>
        <p:spPr>
          <a:xfrm>
            <a:off x="723900" y="6019800"/>
            <a:ext cx="2095500" cy="228600"/>
          </a:xfrm>
          <a:prstGeom prst="rect">
            <a:avLst/>
          </a:prstGeom>
          <a:noFill/>
          <a:ln w="0">
            <a:noFill/>
            <a:prstDash val="solid"/>
          </a:ln>
        </p:spPr>
        <p:txBody>
          <a:bodyPr lIns="0" tIns="0" rIns="0" bIns="0" anchor="t">
            <a:noAutofit/>
          </a:bodyPr>
          <a:lstStyle/>
          <a:p>
            <a:pPr algn="l">
              <a:buNone/>
              <a:defRPr sz="1200" b="1">
                <a:solidFill>
                  <a:srgbClr val="6D3CC7"/>
                </a:solidFill>
                <a:latin typeface="Aptos"/>
                <a:ea typeface="Aptos"/>
                <a:cs typeface="Aptos"/>
              </a:defRPr>
            </a:pPr>
            <a:r>
              <a:rPr sz="1600" b="1" dirty="0">
                <a:solidFill>
                  <a:srgbClr val="6D3CC7"/>
                </a:solidFill>
                <a:latin typeface="Aptos"/>
                <a:ea typeface="Aptos"/>
                <a:cs typeface="Aptos"/>
              </a:rPr>
              <a:t>Concept Bus V2</a:t>
            </a:r>
          </a:p>
        </p:txBody>
      </p:sp>
      <p:sp>
        <p:nvSpPr>
          <p:cNvPr id="14" name="矩形 13">
            <a:extLst>
              <a:ext uri="{FF2B5EF4-FFF2-40B4-BE49-F238E27FC236}">
                <a16:creationId xmlns:a16="http://schemas.microsoft.com/office/drawing/2014/main" id="{0668164F-A677-46C8-A5E3-209D2F0D7F5B}"/>
              </a:ext>
            </a:extLst>
          </p:cNvPr>
          <p:cNvSpPr>
            <a:spLocks noGrp="1"/>
          </p:cNvSpPr>
          <p:nvPr/>
        </p:nvSpPr>
        <p:spPr>
          <a:xfrm>
            <a:off x="2952750" y="6019800"/>
            <a:ext cx="4762500" cy="247650"/>
          </a:xfrm>
          <a:prstGeom prst="rect">
            <a:avLst/>
          </a:prstGeom>
          <a:noFill/>
          <a:ln w="0">
            <a:noFill/>
            <a:prstDash val="solid"/>
          </a:ln>
        </p:spPr>
        <p:txBody>
          <a:bodyPr lIns="0" tIns="0" rIns="0" bIns="0" anchor="t">
            <a:norm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Use the same projection, then add per-slot causal Attention</a:t>
            </a:r>
          </a:p>
        </p:txBody>
      </p:sp>
      <p:sp>
        <p:nvSpPr>
          <p:cNvPr id="15" name="矩形 14">
            <a:extLst>
              <a:ext uri="{FF2B5EF4-FFF2-40B4-BE49-F238E27FC236}">
                <a16:creationId xmlns:a16="http://schemas.microsoft.com/office/drawing/2014/main" id="{97F499FF-06F2-4EE6-BD2C-E894C7595AD8}"/>
              </a:ext>
            </a:extLst>
          </p:cNvPr>
          <p:cNvSpPr>
            <a:spLocks noGrp="1"/>
          </p:cNvSpPr>
          <p:nvPr/>
        </p:nvSpPr>
        <p:spPr>
          <a:xfrm>
            <a:off x="8020050" y="6038850"/>
            <a:ext cx="3219450" cy="24765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Added variable: cross-token communication</a:t>
            </a:r>
          </a:p>
        </p:txBody>
      </p:sp>
    </p:spTree>
    <p:extLst>
      <p:ext uri="{BB962C8B-B14F-4D97-AF65-F5344CB8AC3E}">
        <p14:creationId xmlns:p14="http://schemas.microsoft.com/office/powerpoint/2010/main" val="8767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3" name="矩形 32">
            <a:extLst>
              <a:ext uri="{FF2B5EF4-FFF2-40B4-BE49-F238E27FC236}">
                <a16:creationId xmlns:a16="http://schemas.microsoft.com/office/drawing/2014/main" id="{AD9D52AC-13A7-4D78-8559-25CA04B386A2}"/>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4: design and evaluation</a:t>
            </a:r>
          </a:p>
        </p:txBody>
      </p:sp>
      <p:sp>
        <p:nvSpPr>
          <p:cNvPr id="2" name="矩形 1">
            <a:extLst>
              <a:ext uri="{FF2B5EF4-FFF2-40B4-BE49-F238E27FC236}">
                <a16:creationId xmlns:a16="http://schemas.microsoft.com/office/drawing/2014/main" id="{6CDAA4D5-3B47-498C-BBDF-BDFCA1E99273}"/>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84607" lnSpcReduction="20000"/>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Readability, necessity, interchangeability, locality, and low cost must hold together</a:t>
            </a:r>
          </a:p>
        </p:txBody>
      </p:sp>
      <p:sp>
        <p:nvSpPr>
          <p:cNvPr id="3" name="直接连接符 2">
            <a:extLst>
              <a:ext uri="{FF2B5EF4-FFF2-40B4-BE49-F238E27FC236}">
                <a16:creationId xmlns:a16="http://schemas.microsoft.com/office/drawing/2014/main" id="{3F44A76F-ACD8-4175-8B30-70B39BA13423}"/>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449D3345-73CE-4AE3-BF4C-75192FA0018C}"/>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26</a:t>
            </a:r>
          </a:p>
        </p:txBody>
      </p:sp>
      <p:sp>
        <p:nvSpPr>
          <p:cNvPr id="5" name="矩形 4">
            <a:extLst>
              <a:ext uri="{FF2B5EF4-FFF2-40B4-BE49-F238E27FC236}">
                <a16:creationId xmlns:a16="http://schemas.microsoft.com/office/drawing/2014/main" id="{032DD90D-58EB-4B9E-A1D4-3E61A6192D0E}"/>
              </a:ext>
            </a:extLst>
          </p:cNvPr>
          <p:cNvSpPr>
            <a:spLocks noGrp="1"/>
          </p:cNvSpPr>
          <p:nvPr/>
        </p:nvSpPr>
        <p:spPr>
          <a:xfrm>
            <a:off x="609600" y="1524000"/>
            <a:ext cx="3810000" cy="285750"/>
          </a:xfrm>
          <a:prstGeom prst="rect">
            <a:avLst/>
          </a:prstGeom>
          <a:noFill/>
          <a:ln w="0">
            <a:noFill/>
            <a:prstDash val="solid"/>
          </a:ln>
        </p:spPr>
        <p:txBody>
          <a:bodyPr lIns="0" tIns="0" rIns="0" bIns="0" anchor="t">
            <a:normAutofit/>
          </a:bodyPr>
          <a:lstStyle/>
          <a:p>
            <a:pPr algn="l">
              <a:buNone/>
              <a:defRPr sz="1725" b="1">
                <a:solidFill>
                  <a:srgbClr val="2457D6"/>
                </a:solidFill>
                <a:latin typeface="Aptos"/>
                <a:ea typeface="Aptos"/>
                <a:cs typeface="Aptos"/>
              </a:defRPr>
            </a:pPr>
            <a:r>
              <a:rPr sz="1725" b="1" dirty="0">
                <a:solidFill>
                  <a:srgbClr val="2457D6"/>
                </a:solidFill>
                <a:latin typeface="Aptos"/>
                <a:ea typeface="Aptos"/>
                <a:cs typeface="Aptos"/>
              </a:rPr>
              <a:t>Experimental setup</a:t>
            </a:r>
          </a:p>
        </p:txBody>
      </p:sp>
      <p:sp>
        <p:nvSpPr>
          <p:cNvPr id="6" name="矩形 5">
            <a:extLst>
              <a:ext uri="{FF2B5EF4-FFF2-40B4-BE49-F238E27FC236}">
                <a16:creationId xmlns:a16="http://schemas.microsoft.com/office/drawing/2014/main" id="{A592EEA2-2AF3-4B21-B3E0-C347575D0376}"/>
              </a:ext>
            </a:extLst>
          </p:cNvPr>
          <p:cNvSpPr>
            <a:spLocks noGrp="1"/>
          </p:cNvSpPr>
          <p:nvPr/>
        </p:nvSpPr>
        <p:spPr>
          <a:xfrm>
            <a:off x="609600" y="2038350"/>
            <a:ext cx="66675" cy="495300"/>
          </a:xfrm>
          <a:prstGeom prst="rect">
            <a:avLst/>
          </a:prstGeom>
          <a:solidFill>
            <a:srgbClr val="2457D6"/>
          </a:solidFill>
          <a:ln w="0">
            <a:solidFill>
              <a:srgbClr val="2457D6"/>
            </a:solidFill>
            <a:prstDash val="solid"/>
          </a:ln>
        </p:spPr>
        <p:txBody>
          <a:bodyPr/>
          <a:lstStyle/>
          <a:p>
            <a:endParaRPr/>
          </a:p>
        </p:txBody>
      </p:sp>
      <p:sp>
        <p:nvSpPr>
          <p:cNvPr id="7" name="矩形 6">
            <a:extLst>
              <a:ext uri="{FF2B5EF4-FFF2-40B4-BE49-F238E27FC236}">
                <a16:creationId xmlns:a16="http://schemas.microsoft.com/office/drawing/2014/main" id="{CE29AA63-6040-4059-ABC4-0841BE9A7750}"/>
              </a:ext>
            </a:extLst>
          </p:cNvPr>
          <p:cNvSpPr>
            <a:spLocks noGrp="1"/>
          </p:cNvSpPr>
          <p:nvPr/>
        </p:nvSpPr>
        <p:spPr>
          <a:xfrm>
            <a:off x="819150" y="1981200"/>
            <a:ext cx="114300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Data</a:t>
            </a:r>
          </a:p>
        </p:txBody>
      </p:sp>
      <p:sp>
        <p:nvSpPr>
          <p:cNvPr id="8" name="矩形 7">
            <a:extLst>
              <a:ext uri="{FF2B5EF4-FFF2-40B4-BE49-F238E27FC236}">
                <a16:creationId xmlns:a16="http://schemas.microsoft.com/office/drawing/2014/main" id="{57EFBC97-0D7F-4813-B160-89B42E94BD1C}"/>
              </a:ext>
            </a:extLst>
          </p:cNvPr>
          <p:cNvSpPr>
            <a:spLocks noGrp="1"/>
          </p:cNvSpPr>
          <p:nvPr/>
        </p:nvSpPr>
        <p:spPr>
          <a:xfrm>
            <a:off x="2095500" y="1981200"/>
            <a:ext cx="3733800" cy="533400"/>
          </a:xfrm>
          <a:prstGeom prst="rect">
            <a:avLst/>
          </a:prstGeom>
          <a:noFill/>
          <a:ln w="0">
            <a:noFill/>
            <a:prstDash val="solid"/>
          </a:ln>
        </p:spPr>
        <p:txBody>
          <a:bodyPr lIns="0" tIns="0" rIns="0" bIns="0" anchor="t">
            <a:norm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Controlled COUNTRY × COLOR combinations and evidence relations</a:t>
            </a:r>
          </a:p>
        </p:txBody>
      </p:sp>
      <p:sp>
        <p:nvSpPr>
          <p:cNvPr id="9" name="矩形 8">
            <a:extLst>
              <a:ext uri="{FF2B5EF4-FFF2-40B4-BE49-F238E27FC236}">
                <a16:creationId xmlns:a16="http://schemas.microsoft.com/office/drawing/2014/main" id="{E90C962B-12E1-4539-8DC3-4C45B2EAF385}"/>
              </a:ext>
            </a:extLst>
          </p:cNvPr>
          <p:cNvSpPr>
            <a:spLocks noGrp="1"/>
          </p:cNvSpPr>
          <p:nvPr/>
        </p:nvSpPr>
        <p:spPr>
          <a:xfrm>
            <a:off x="609600" y="2781300"/>
            <a:ext cx="66675" cy="495300"/>
          </a:xfrm>
          <a:prstGeom prst="rect">
            <a:avLst/>
          </a:prstGeom>
          <a:solidFill>
            <a:srgbClr val="2457D6"/>
          </a:solidFill>
          <a:ln w="0">
            <a:solidFill>
              <a:srgbClr val="2457D6"/>
            </a:solidFill>
            <a:prstDash val="solid"/>
          </a:ln>
        </p:spPr>
        <p:txBody>
          <a:bodyPr/>
          <a:lstStyle/>
          <a:p>
            <a:endParaRPr/>
          </a:p>
        </p:txBody>
      </p:sp>
      <p:sp>
        <p:nvSpPr>
          <p:cNvPr id="10" name="矩形 9">
            <a:extLst>
              <a:ext uri="{FF2B5EF4-FFF2-40B4-BE49-F238E27FC236}">
                <a16:creationId xmlns:a16="http://schemas.microsoft.com/office/drawing/2014/main" id="{F8CAF87E-3B23-4C39-BA68-45A9BAD9182A}"/>
              </a:ext>
            </a:extLst>
          </p:cNvPr>
          <p:cNvSpPr>
            <a:spLocks noGrp="1"/>
          </p:cNvSpPr>
          <p:nvPr/>
        </p:nvSpPr>
        <p:spPr>
          <a:xfrm>
            <a:off x="819150" y="2724150"/>
            <a:ext cx="114300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Model</a:t>
            </a:r>
          </a:p>
        </p:txBody>
      </p:sp>
      <p:sp>
        <p:nvSpPr>
          <p:cNvPr id="11" name="矩形 10">
            <a:extLst>
              <a:ext uri="{FF2B5EF4-FFF2-40B4-BE49-F238E27FC236}">
                <a16:creationId xmlns:a16="http://schemas.microsoft.com/office/drawing/2014/main" id="{92036275-6E55-4415-AC45-FA1437B90433}"/>
              </a:ext>
            </a:extLst>
          </p:cNvPr>
          <p:cNvSpPr>
            <a:spLocks noGrp="1"/>
          </p:cNvSpPr>
          <p:nvPr/>
        </p:nvSpPr>
        <p:spPr>
          <a:xfrm>
            <a:off x="2095500" y="2724150"/>
            <a:ext cx="3733800" cy="533400"/>
          </a:xfrm>
          <a:prstGeom prst="rect">
            <a:avLst/>
          </a:prstGeom>
          <a:noFill/>
          <a:ln w="0">
            <a:noFill/>
            <a:prstDash val="solid"/>
          </a:ln>
        </p:spPr>
        <p:txBody>
          <a:bodyPr lIns="0" tIns="0" rIns="0" bIns="0" anchor="t">
            <a:norm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Standard, Projector, and Bus V2; seeds 11/22/33</a:t>
            </a:r>
          </a:p>
        </p:txBody>
      </p:sp>
      <p:sp>
        <p:nvSpPr>
          <p:cNvPr id="12" name="矩形 11">
            <a:extLst>
              <a:ext uri="{FF2B5EF4-FFF2-40B4-BE49-F238E27FC236}">
                <a16:creationId xmlns:a16="http://schemas.microsoft.com/office/drawing/2014/main" id="{DAB3B302-7E28-44FD-9BAD-5FEA9AA02307}"/>
              </a:ext>
            </a:extLst>
          </p:cNvPr>
          <p:cNvSpPr>
            <a:spLocks noGrp="1"/>
          </p:cNvSpPr>
          <p:nvPr/>
        </p:nvSpPr>
        <p:spPr>
          <a:xfrm>
            <a:off x="609600" y="3524250"/>
            <a:ext cx="66675" cy="495300"/>
          </a:xfrm>
          <a:prstGeom prst="rect">
            <a:avLst/>
          </a:prstGeom>
          <a:solidFill>
            <a:srgbClr val="2457D6"/>
          </a:solidFill>
          <a:ln w="0">
            <a:solidFill>
              <a:srgbClr val="2457D6"/>
            </a:solidFill>
            <a:prstDash val="solid"/>
          </a:ln>
        </p:spPr>
        <p:txBody>
          <a:bodyPr/>
          <a:lstStyle/>
          <a:p>
            <a:endParaRPr/>
          </a:p>
        </p:txBody>
      </p:sp>
      <p:sp>
        <p:nvSpPr>
          <p:cNvPr id="13" name="矩形 12">
            <a:extLst>
              <a:ext uri="{FF2B5EF4-FFF2-40B4-BE49-F238E27FC236}">
                <a16:creationId xmlns:a16="http://schemas.microsoft.com/office/drawing/2014/main" id="{2C937940-7666-4274-8143-F973967C9C8C}"/>
              </a:ext>
            </a:extLst>
          </p:cNvPr>
          <p:cNvSpPr>
            <a:spLocks noGrp="1"/>
          </p:cNvSpPr>
          <p:nvPr/>
        </p:nvSpPr>
        <p:spPr>
          <a:xfrm>
            <a:off x="819150" y="3467100"/>
            <a:ext cx="114300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Fairness</a:t>
            </a:r>
          </a:p>
        </p:txBody>
      </p:sp>
      <p:sp>
        <p:nvSpPr>
          <p:cNvPr id="14" name="矩形 13">
            <a:extLst>
              <a:ext uri="{FF2B5EF4-FFF2-40B4-BE49-F238E27FC236}">
                <a16:creationId xmlns:a16="http://schemas.microsoft.com/office/drawing/2014/main" id="{D5635F41-2DAB-4C5B-831F-0C04CC4CF8BB}"/>
              </a:ext>
            </a:extLst>
          </p:cNvPr>
          <p:cNvSpPr>
            <a:spLocks noGrp="1"/>
          </p:cNvSpPr>
          <p:nvPr/>
        </p:nvSpPr>
        <p:spPr>
          <a:xfrm>
            <a:off x="2095500" y="3467100"/>
            <a:ext cx="3733800" cy="533400"/>
          </a:xfrm>
          <a:prstGeom prst="rect">
            <a:avLst/>
          </a:prstGeom>
          <a:noFill/>
          <a:ln w="0">
            <a:noFill/>
            <a:prstDash val="solid"/>
          </a:ln>
        </p:spPr>
        <p:txBody>
          <a:bodyPr lIns="0" tIns="0" rIns="0" bIns="0" anchor="t">
            <a:norm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Projector and V2 match in parameters, projections, and objectives</a:t>
            </a:r>
          </a:p>
        </p:txBody>
      </p:sp>
      <p:sp>
        <p:nvSpPr>
          <p:cNvPr id="15" name="矩形 14">
            <a:extLst>
              <a:ext uri="{FF2B5EF4-FFF2-40B4-BE49-F238E27FC236}">
                <a16:creationId xmlns:a16="http://schemas.microsoft.com/office/drawing/2014/main" id="{B63595E6-A2B0-4A78-AE46-4EF9F4CE7B35}"/>
              </a:ext>
            </a:extLst>
          </p:cNvPr>
          <p:cNvSpPr>
            <a:spLocks noGrp="1"/>
          </p:cNvSpPr>
          <p:nvPr/>
        </p:nvSpPr>
        <p:spPr>
          <a:xfrm>
            <a:off x="609600" y="4267200"/>
            <a:ext cx="66675" cy="495300"/>
          </a:xfrm>
          <a:prstGeom prst="rect">
            <a:avLst/>
          </a:prstGeom>
          <a:solidFill>
            <a:srgbClr val="2457D6"/>
          </a:solidFill>
          <a:ln w="0">
            <a:solidFill>
              <a:srgbClr val="2457D6"/>
            </a:solidFill>
            <a:prstDash val="solid"/>
          </a:ln>
        </p:spPr>
        <p:txBody>
          <a:bodyPr/>
          <a:lstStyle/>
          <a:p>
            <a:endParaRPr/>
          </a:p>
        </p:txBody>
      </p:sp>
      <p:sp>
        <p:nvSpPr>
          <p:cNvPr id="16" name="矩形 15">
            <a:extLst>
              <a:ext uri="{FF2B5EF4-FFF2-40B4-BE49-F238E27FC236}">
                <a16:creationId xmlns:a16="http://schemas.microsoft.com/office/drawing/2014/main" id="{E90C12D5-17B8-473A-8759-3231EE5D7645}"/>
              </a:ext>
            </a:extLst>
          </p:cNvPr>
          <p:cNvSpPr>
            <a:spLocks noGrp="1"/>
          </p:cNvSpPr>
          <p:nvPr/>
        </p:nvSpPr>
        <p:spPr>
          <a:xfrm>
            <a:off x="819150" y="4210050"/>
            <a:ext cx="114300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Statistics</a:t>
            </a:r>
          </a:p>
        </p:txBody>
      </p:sp>
      <p:sp>
        <p:nvSpPr>
          <p:cNvPr id="17" name="矩形 16">
            <a:extLst>
              <a:ext uri="{FF2B5EF4-FFF2-40B4-BE49-F238E27FC236}">
                <a16:creationId xmlns:a16="http://schemas.microsoft.com/office/drawing/2014/main" id="{58EA9A14-1C6A-4EB2-832C-4E95FD04C4B3}"/>
              </a:ext>
            </a:extLst>
          </p:cNvPr>
          <p:cNvSpPr>
            <a:spLocks noGrp="1"/>
          </p:cNvSpPr>
          <p:nvPr/>
        </p:nvSpPr>
        <p:spPr>
          <a:xfrm>
            <a:off x="2095500" y="4210050"/>
            <a:ext cx="3733800" cy="533400"/>
          </a:xfrm>
          <a:prstGeom prst="rect">
            <a:avLst/>
          </a:prstGeom>
          <a:noFill/>
          <a:ln w="0">
            <a:noFill/>
            <a:prstDash val="solid"/>
          </a:ln>
        </p:spPr>
        <p:txBody>
          <a:bodyPr lIns="0" tIns="0" rIns="0" bIns="0" anchor="t">
            <a:norm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Paired exact </a:t>
            </a:r>
            <a:r>
              <a:rPr sz="1400" b="0" dirty="0" err="1">
                <a:solidFill>
                  <a:srgbClr val="5B6472"/>
                </a:solidFill>
                <a:latin typeface="Aptos"/>
                <a:ea typeface="Aptos"/>
                <a:cs typeface="Aptos"/>
              </a:rPr>
              <a:t>randomisation</a:t>
            </a:r>
            <a:r>
              <a:rPr sz="1400" b="0" dirty="0">
                <a:solidFill>
                  <a:srgbClr val="5B6472"/>
                </a:solidFill>
                <a:latin typeface="Aptos"/>
                <a:ea typeface="Aptos"/>
                <a:cs typeface="Aptos"/>
              </a:rPr>
              <a:t> test with Holm correction</a:t>
            </a:r>
          </a:p>
        </p:txBody>
      </p:sp>
      <p:sp>
        <p:nvSpPr>
          <p:cNvPr id="18" name="矩形 17">
            <a:extLst>
              <a:ext uri="{FF2B5EF4-FFF2-40B4-BE49-F238E27FC236}">
                <a16:creationId xmlns:a16="http://schemas.microsoft.com/office/drawing/2014/main" id="{D4588F4B-800A-4565-B6D8-EB4E5DA787BB}"/>
              </a:ext>
            </a:extLst>
          </p:cNvPr>
          <p:cNvSpPr>
            <a:spLocks noGrp="1"/>
          </p:cNvSpPr>
          <p:nvPr/>
        </p:nvSpPr>
        <p:spPr>
          <a:xfrm>
            <a:off x="6419850" y="1524000"/>
            <a:ext cx="3810000" cy="285750"/>
          </a:xfrm>
          <a:prstGeom prst="rect">
            <a:avLst/>
          </a:prstGeom>
          <a:noFill/>
          <a:ln w="0">
            <a:noFill/>
            <a:prstDash val="solid"/>
          </a:ln>
        </p:spPr>
        <p:txBody>
          <a:bodyPr lIns="0" tIns="0" rIns="0" bIns="0" anchor="t">
            <a:normAutofit/>
          </a:bodyPr>
          <a:lstStyle/>
          <a:p>
            <a:pPr algn="l">
              <a:buNone/>
              <a:defRPr sz="1725" b="1">
                <a:solidFill>
                  <a:srgbClr val="6D3CC7"/>
                </a:solidFill>
                <a:latin typeface="Aptos"/>
                <a:ea typeface="Aptos"/>
                <a:cs typeface="Aptos"/>
              </a:defRPr>
            </a:pPr>
            <a:r>
              <a:rPr sz="1725" b="1" dirty="0">
                <a:solidFill>
                  <a:srgbClr val="6D3CC7"/>
                </a:solidFill>
                <a:latin typeface="Aptos"/>
                <a:ea typeface="Aptos"/>
                <a:cs typeface="Aptos"/>
              </a:rPr>
              <a:t>Success criteria</a:t>
            </a:r>
          </a:p>
        </p:txBody>
      </p:sp>
      <p:sp>
        <p:nvSpPr>
          <p:cNvPr id="19" name="矩形 18">
            <a:extLst>
              <a:ext uri="{FF2B5EF4-FFF2-40B4-BE49-F238E27FC236}">
                <a16:creationId xmlns:a16="http://schemas.microsoft.com/office/drawing/2014/main" id="{B091DA63-1359-4A91-924A-F016A4E18F1A}"/>
              </a:ext>
            </a:extLst>
          </p:cNvPr>
          <p:cNvSpPr>
            <a:spLocks noGrp="1"/>
          </p:cNvSpPr>
          <p:nvPr/>
        </p:nvSpPr>
        <p:spPr>
          <a:xfrm>
            <a:off x="6419850" y="2038350"/>
            <a:ext cx="66675" cy="495300"/>
          </a:xfrm>
          <a:prstGeom prst="rect">
            <a:avLst/>
          </a:prstGeom>
          <a:solidFill>
            <a:srgbClr val="6D3CC7"/>
          </a:solidFill>
          <a:ln w="0">
            <a:solidFill>
              <a:srgbClr val="6D3CC7"/>
            </a:solidFill>
            <a:prstDash val="solid"/>
          </a:ln>
        </p:spPr>
        <p:txBody>
          <a:bodyPr/>
          <a:lstStyle/>
          <a:p>
            <a:endParaRPr/>
          </a:p>
        </p:txBody>
      </p:sp>
      <p:sp>
        <p:nvSpPr>
          <p:cNvPr id="20" name="矩形 19">
            <a:extLst>
              <a:ext uri="{FF2B5EF4-FFF2-40B4-BE49-F238E27FC236}">
                <a16:creationId xmlns:a16="http://schemas.microsoft.com/office/drawing/2014/main" id="{8F1E5793-19E5-48F9-A978-4CF5E58E33F5}"/>
              </a:ext>
            </a:extLst>
          </p:cNvPr>
          <p:cNvSpPr>
            <a:spLocks noGrp="1"/>
          </p:cNvSpPr>
          <p:nvPr/>
        </p:nvSpPr>
        <p:spPr>
          <a:xfrm>
            <a:off x="6629400" y="1981200"/>
            <a:ext cx="114300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Task</a:t>
            </a:r>
          </a:p>
        </p:txBody>
      </p:sp>
      <p:sp>
        <p:nvSpPr>
          <p:cNvPr id="21" name="矩形 20">
            <a:extLst>
              <a:ext uri="{FF2B5EF4-FFF2-40B4-BE49-F238E27FC236}">
                <a16:creationId xmlns:a16="http://schemas.microsoft.com/office/drawing/2014/main" id="{50DF2565-5FD4-4D40-AC58-9EB245CBCDE7}"/>
              </a:ext>
            </a:extLst>
          </p:cNvPr>
          <p:cNvSpPr>
            <a:spLocks noGrp="1"/>
          </p:cNvSpPr>
          <p:nvPr/>
        </p:nvSpPr>
        <p:spPr>
          <a:xfrm>
            <a:off x="7905750" y="1981200"/>
            <a:ext cx="3562350" cy="533400"/>
          </a:xfrm>
          <a:prstGeom prst="rect">
            <a:avLst/>
          </a:prstGeom>
          <a:noFill/>
          <a:ln w="0">
            <a:noFill/>
            <a:prstDash val="solid"/>
          </a:ln>
        </p:spPr>
        <p:txBody>
          <a:bodyPr lIns="0" tIns="0" rIns="0" bIns="0" anchor="t">
            <a:norm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No degradation in Exact, COUNTRY, or COLOR</a:t>
            </a:r>
          </a:p>
        </p:txBody>
      </p:sp>
      <p:sp>
        <p:nvSpPr>
          <p:cNvPr id="22" name="矩形 21">
            <a:extLst>
              <a:ext uri="{FF2B5EF4-FFF2-40B4-BE49-F238E27FC236}">
                <a16:creationId xmlns:a16="http://schemas.microsoft.com/office/drawing/2014/main" id="{3361D30B-626C-4D79-BD9D-9D483C50246B}"/>
              </a:ext>
            </a:extLst>
          </p:cNvPr>
          <p:cNvSpPr>
            <a:spLocks noGrp="1"/>
          </p:cNvSpPr>
          <p:nvPr/>
        </p:nvSpPr>
        <p:spPr>
          <a:xfrm>
            <a:off x="6419850" y="2781300"/>
            <a:ext cx="66675" cy="495300"/>
          </a:xfrm>
          <a:prstGeom prst="rect">
            <a:avLst/>
          </a:prstGeom>
          <a:solidFill>
            <a:srgbClr val="6D3CC7"/>
          </a:solidFill>
          <a:ln w="0">
            <a:solidFill>
              <a:srgbClr val="6D3CC7"/>
            </a:solidFill>
            <a:prstDash val="solid"/>
          </a:ln>
        </p:spPr>
        <p:txBody>
          <a:bodyPr/>
          <a:lstStyle/>
          <a:p>
            <a:endParaRPr/>
          </a:p>
        </p:txBody>
      </p:sp>
      <p:sp>
        <p:nvSpPr>
          <p:cNvPr id="23" name="矩形 22">
            <a:extLst>
              <a:ext uri="{FF2B5EF4-FFF2-40B4-BE49-F238E27FC236}">
                <a16:creationId xmlns:a16="http://schemas.microsoft.com/office/drawing/2014/main" id="{787EE937-C71D-4302-97F3-870E43D70B9F}"/>
              </a:ext>
            </a:extLst>
          </p:cNvPr>
          <p:cNvSpPr>
            <a:spLocks noGrp="1"/>
          </p:cNvSpPr>
          <p:nvPr/>
        </p:nvSpPr>
        <p:spPr>
          <a:xfrm>
            <a:off x="6629400" y="2724150"/>
            <a:ext cx="114300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Readable</a:t>
            </a:r>
          </a:p>
        </p:txBody>
      </p:sp>
      <p:sp>
        <p:nvSpPr>
          <p:cNvPr id="24" name="矩形 23">
            <a:extLst>
              <a:ext uri="{FF2B5EF4-FFF2-40B4-BE49-F238E27FC236}">
                <a16:creationId xmlns:a16="http://schemas.microsoft.com/office/drawing/2014/main" id="{35AA7088-D17C-4A6E-9E28-6C38F8663E5B}"/>
              </a:ext>
            </a:extLst>
          </p:cNvPr>
          <p:cNvSpPr>
            <a:spLocks noGrp="1"/>
          </p:cNvSpPr>
          <p:nvPr/>
        </p:nvSpPr>
        <p:spPr>
          <a:xfrm>
            <a:off x="7905750" y="2724150"/>
            <a:ext cx="3562350" cy="533400"/>
          </a:xfrm>
          <a:prstGeom prst="rect">
            <a:avLst/>
          </a:prstGeom>
          <a:noFill/>
          <a:ln w="0">
            <a:noFill/>
            <a:prstDash val="solid"/>
          </a:ln>
        </p:spPr>
        <p:txBody>
          <a:bodyPr lIns="0" tIns="0" rIns="0" bIns="0" anchor="t">
            <a:norm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Concept Macro-F1 and fixed identity</a:t>
            </a:r>
          </a:p>
        </p:txBody>
      </p:sp>
      <p:sp>
        <p:nvSpPr>
          <p:cNvPr id="25" name="矩形 24">
            <a:extLst>
              <a:ext uri="{FF2B5EF4-FFF2-40B4-BE49-F238E27FC236}">
                <a16:creationId xmlns:a16="http://schemas.microsoft.com/office/drawing/2014/main" id="{EA404722-F3EE-4FF2-9790-FC4542924A7E}"/>
              </a:ext>
            </a:extLst>
          </p:cNvPr>
          <p:cNvSpPr>
            <a:spLocks noGrp="1"/>
          </p:cNvSpPr>
          <p:nvPr/>
        </p:nvSpPr>
        <p:spPr>
          <a:xfrm>
            <a:off x="6419850" y="3524250"/>
            <a:ext cx="66675" cy="495300"/>
          </a:xfrm>
          <a:prstGeom prst="rect">
            <a:avLst/>
          </a:prstGeom>
          <a:solidFill>
            <a:srgbClr val="6D3CC7"/>
          </a:solidFill>
          <a:ln w="0">
            <a:solidFill>
              <a:srgbClr val="6D3CC7"/>
            </a:solidFill>
            <a:prstDash val="solid"/>
          </a:ln>
        </p:spPr>
        <p:txBody>
          <a:bodyPr/>
          <a:lstStyle/>
          <a:p>
            <a:endParaRPr/>
          </a:p>
        </p:txBody>
      </p:sp>
      <p:sp>
        <p:nvSpPr>
          <p:cNvPr id="26" name="矩形 25">
            <a:extLst>
              <a:ext uri="{FF2B5EF4-FFF2-40B4-BE49-F238E27FC236}">
                <a16:creationId xmlns:a16="http://schemas.microsoft.com/office/drawing/2014/main" id="{1B9ACC8E-C16E-432A-81D1-58AD2DBC1CDE}"/>
              </a:ext>
            </a:extLst>
          </p:cNvPr>
          <p:cNvSpPr>
            <a:spLocks noGrp="1"/>
          </p:cNvSpPr>
          <p:nvPr/>
        </p:nvSpPr>
        <p:spPr>
          <a:xfrm>
            <a:off x="6629400" y="3467100"/>
            <a:ext cx="114300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Causality</a:t>
            </a:r>
          </a:p>
        </p:txBody>
      </p:sp>
      <p:sp>
        <p:nvSpPr>
          <p:cNvPr id="27" name="矩形 26">
            <a:extLst>
              <a:ext uri="{FF2B5EF4-FFF2-40B4-BE49-F238E27FC236}">
                <a16:creationId xmlns:a16="http://schemas.microsoft.com/office/drawing/2014/main" id="{4401EC0E-5F7C-4495-92E7-0D5B768A0EAF}"/>
              </a:ext>
            </a:extLst>
          </p:cNvPr>
          <p:cNvSpPr>
            <a:spLocks noGrp="1"/>
          </p:cNvSpPr>
          <p:nvPr/>
        </p:nvSpPr>
        <p:spPr>
          <a:xfrm>
            <a:off x="7905750" y="3467100"/>
            <a:ext cx="3562350" cy="533400"/>
          </a:xfrm>
          <a:prstGeom prst="rect">
            <a:avLst/>
          </a:prstGeom>
          <a:noFill/>
          <a:ln w="0">
            <a:noFill/>
            <a:prstDash val="solid"/>
          </a:ln>
        </p:spPr>
        <p:txBody>
          <a:bodyPr lIns="0" tIns="0" rIns="0" bIns="0" anchor="t">
            <a:norm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Zeroing demonstrates necessity; swaps succeed with low side effects</a:t>
            </a:r>
          </a:p>
        </p:txBody>
      </p:sp>
      <p:sp>
        <p:nvSpPr>
          <p:cNvPr id="28" name="矩形 27">
            <a:extLst>
              <a:ext uri="{FF2B5EF4-FFF2-40B4-BE49-F238E27FC236}">
                <a16:creationId xmlns:a16="http://schemas.microsoft.com/office/drawing/2014/main" id="{ACFC07A0-C8D1-4FA6-936E-611A9BEE2936}"/>
              </a:ext>
            </a:extLst>
          </p:cNvPr>
          <p:cNvSpPr>
            <a:spLocks noGrp="1"/>
          </p:cNvSpPr>
          <p:nvPr/>
        </p:nvSpPr>
        <p:spPr>
          <a:xfrm>
            <a:off x="6419850" y="4267200"/>
            <a:ext cx="66675" cy="495300"/>
          </a:xfrm>
          <a:prstGeom prst="rect">
            <a:avLst/>
          </a:prstGeom>
          <a:solidFill>
            <a:srgbClr val="6D3CC7"/>
          </a:solidFill>
          <a:ln w="0">
            <a:solidFill>
              <a:srgbClr val="6D3CC7"/>
            </a:solidFill>
            <a:prstDash val="solid"/>
          </a:ln>
        </p:spPr>
        <p:txBody>
          <a:bodyPr/>
          <a:lstStyle/>
          <a:p>
            <a:endParaRPr/>
          </a:p>
        </p:txBody>
      </p:sp>
      <p:sp>
        <p:nvSpPr>
          <p:cNvPr id="29" name="矩形 28">
            <a:extLst>
              <a:ext uri="{FF2B5EF4-FFF2-40B4-BE49-F238E27FC236}">
                <a16:creationId xmlns:a16="http://schemas.microsoft.com/office/drawing/2014/main" id="{BD1AD223-4CF6-4090-A5AC-34EA62B8C085}"/>
              </a:ext>
            </a:extLst>
          </p:cNvPr>
          <p:cNvSpPr>
            <a:spLocks noGrp="1"/>
          </p:cNvSpPr>
          <p:nvPr/>
        </p:nvSpPr>
        <p:spPr>
          <a:xfrm>
            <a:off x="6629400" y="4210050"/>
            <a:ext cx="1143000" cy="285750"/>
          </a:xfrm>
          <a:prstGeom prst="rect">
            <a:avLst/>
          </a:prstGeom>
          <a:noFill/>
          <a:ln w="0">
            <a:noFill/>
            <a:prstDash val="solid"/>
          </a:ln>
        </p:spPr>
        <p:txBody>
          <a:bodyPr lIns="0" tIns="0" rIns="0" bIns="0" anchor="t">
            <a:normAutofit/>
          </a:bodyPr>
          <a:lstStyle/>
          <a:p>
            <a:pPr algn="l">
              <a:buNone/>
              <a:defRPr sz="1425" b="1">
                <a:solidFill>
                  <a:srgbClr val="111827"/>
                </a:solidFill>
                <a:latin typeface="Aptos"/>
                <a:ea typeface="Aptos"/>
                <a:cs typeface="Aptos"/>
              </a:defRPr>
            </a:pPr>
            <a:r>
              <a:rPr sz="1600" b="1" dirty="0">
                <a:solidFill>
                  <a:srgbClr val="111827"/>
                </a:solidFill>
                <a:latin typeface="Aptos"/>
                <a:ea typeface="Aptos"/>
                <a:cs typeface="Aptos"/>
              </a:rPr>
              <a:t>Cost</a:t>
            </a:r>
          </a:p>
        </p:txBody>
      </p:sp>
      <p:sp>
        <p:nvSpPr>
          <p:cNvPr id="30" name="矩形 29">
            <a:extLst>
              <a:ext uri="{FF2B5EF4-FFF2-40B4-BE49-F238E27FC236}">
                <a16:creationId xmlns:a16="http://schemas.microsoft.com/office/drawing/2014/main" id="{8A3BC46E-B9F1-4A52-850E-8E1DC10C5029}"/>
              </a:ext>
            </a:extLst>
          </p:cNvPr>
          <p:cNvSpPr>
            <a:spLocks noGrp="1"/>
          </p:cNvSpPr>
          <p:nvPr/>
        </p:nvSpPr>
        <p:spPr>
          <a:xfrm>
            <a:off x="7905750" y="4210050"/>
            <a:ext cx="3562350" cy="533400"/>
          </a:xfrm>
          <a:prstGeom prst="rect">
            <a:avLst/>
          </a:prstGeom>
          <a:noFill/>
          <a:ln w="0">
            <a:noFill/>
            <a:prstDash val="solid"/>
          </a:ln>
        </p:spPr>
        <p:txBody>
          <a:bodyPr lIns="0" tIns="0" rIns="0" bIns="0" anchor="t">
            <a:normAutofit/>
          </a:bodyPr>
          <a:lstStyle/>
          <a:p>
            <a:pPr algn="l">
              <a:buNone/>
              <a:defRPr sz="1275" b="0">
                <a:solidFill>
                  <a:srgbClr val="5B6472"/>
                </a:solidFill>
                <a:latin typeface="Aptos"/>
                <a:ea typeface="Aptos"/>
                <a:cs typeface="Aptos"/>
              </a:defRPr>
            </a:pPr>
            <a:r>
              <a:rPr sz="1400" b="0" dirty="0">
                <a:solidFill>
                  <a:srgbClr val="5B6472"/>
                </a:solidFill>
                <a:latin typeface="Aptos"/>
                <a:ea typeface="Aptos"/>
                <a:cs typeface="Aptos"/>
              </a:rPr>
              <a:t>Acceptable parameters, MACs, runtime, throughput, and memory</a:t>
            </a:r>
          </a:p>
        </p:txBody>
      </p:sp>
      <p:sp>
        <p:nvSpPr>
          <p:cNvPr id="31" name="矩形 30">
            <a:extLst>
              <a:ext uri="{FF2B5EF4-FFF2-40B4-BE49-F238E27FC236}">
                <a16:creationId xmlns:a16="http://schemas.microsoft.com/office/drawing/2014/main" id="{9B36FC0D-3B8C-40BA-8C65-8205B09259C9}"/>
              </a:ext>
            </a:extLst>
          </p:cNvPr>
          <p:cNvSpPr>
            <a:spLocks noGrp="1"/>
          </p:cNvSpPr>
          <p:nvPr/>
        </p:nvSpPr>
        <p:spPr>
          <a:xfrm>
            <a:off x="609600" y="5429249"/>
            <a:ext cx="10858500" cy="761995"/>
          </a:xfrm>
          <a:prstGeom prst="rect">
            <a:avLst/>
          </a:prstGeom>
          <a:solidFill>
            <a:srgbClr val="111A2E"/>
          </a:solidFill>
          <a:ln w="0">
            <a:solidFill>
              <a:srgbClr val="111A2E"/>
            </a:solidFill>
            <a:prstDash val="solid"/>
          </a:ln>
        </p:spPr>
        <p:txBody>
          <a:bodyPr/>
          <a:lstStyle/>
          <a:p>
            <a:endParaRPr/>
          </a:p>
        </p:txBody>
      </p:sp>
      <p:sp>
        <p:nvSpPr>
          <p:cNvPr id="32" name="矩形 31">
            <a:extLst>
              <a:ext uri="{FF2B5EF4-FFF2-40B4-BE49-F238E27FC236}">
                <a16:creationId xmlns:a16="http://schemas.microsoft.com/office/drawing/2014/main" id="{B0B6B656-8E79-4C37-9EF7-289DA2D24FE4}"/>
              </a:ext>
            </a:extLst>
          </p:cNvPr>
          <p:cNvSpPr>
            <a:spLocks noGrp="1"/>
          </p:cNvSpPr>
          <p:nvPr/>
        </p:nvSpPr>
        <p:spPr>
          <a:xfrm>
            <a:off x="838200" y="5591175"/>
            <a:ext cx="10401300" cy="285750"/>
          </a:xfrm>
          <a:prstGeom prst="rect">
            <a:avLst/>
          </a:prstGeom>
          <a:noFill/>
          <a:ln w="0">
            <a:noFill/>
            <a:prstDash val="solid"/>
          </a:ln>
        </p:spPr>
        <p:txBody>
          <a:bodyPr lIns="0" tIns="0" rIns="0" bIns="0" anchor="t">
            <a:noAutofit/>
          </a:bodyPr>
          <a:lstStyle/>
          <a:p>
            <a:pPr algn="ctr">
              <a:buNone/>
              <a:defRPr sz="1350" b="1">
                <a:solidFill>
                  <a:srgbClr val="FFFFFF"/>
                </a:solidFill>
                <a:latin typeface="Aptos"/>
                <a:ea typeface="Aptos"/>
                <a:cs typeface="Aptos"/>
              </a:defRPr>
            </a:pPr>
            <a:r>
              <a:rPr sz="1600" b="1" dirty="0">
                <a:solidFill>
                  <a:srgbClr val="FFFFFF"/>
                </a:solidFill>
                <a:latin typeface="Aptos"/>
                <a:ea typeface="Aptos"/>
                <a:cs typeface="Aptos"/>
              </a:rPr>
              <a:t>A second Attention mechanism provides a net benefit only if it improves task performance, concept quality, and causal locality relative to Projector.</a:t>
            </a:r>
          </a:p>
        </p:txBody>
      </p:sp>
    </p:spTree>
    <p:extLst>
      <p:ext uri="{BB962C8B-B14F-4D97-AF65-F5344CB8AC3E}">
        <p14:creationId xmlns:p14="http://schemas.microsoft.com/office/powerpoint/2010/main" val="1594068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矩形 58">
            <a:extLst>
              <a:ext uri="{FF2B5EF4-FFF2-40B4-BE49-F238E27FC236}">
                <a16:creationId xmlns:a16="http://schemas.microsoft.com/office/drawing/2014/main" id="{2F3B31E9-CB4F-45F8-A38C-194CA8A5C20F}"/>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4: task and concept results</a:t>
            </a:r>
          </a:p>
        </p:txBody>
      </p:sp>
      <p:sp>
        <p:nvSpPr>
          <p:cNvPr id="2" name="矩形 1">
            <a:extLst>
              <a:ext uri="{FF2B5EF4-FFF2-40B4-BE49-F238E27FC236}">
                <a16:creationId xmlns:a16="http://schemas.microsoft.com/office/drawing/2014/main" id="{440EB14A-B364-459E-A2D1-B127E0759AE7}"/>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90349"/>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The simple Projector outperforms Bus V2 with a second Attention mechanism</a:t>
            </a:r>
          </a:p>
        </p:txBody>
      </p:sp>
      <p:sp>
        <p:nvSpPr>
          <p:cNvPr id="3" name="直接连接符 2">
            <a:extLst>
              <a:ext uri="{FF2B5EF4-FFF2-40B4-BE49-F238E27FC236}">
                <a16:creationId xmlns:a16="http://schemas.microsoft.com/office/drawing/2014/main" id="{4A17DA20-5C47-46C1-AAE0-63E696D05839}"/>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AFB511FC-5FC1-4741-94A0-441917BB0A96}"/>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27</a:t>
            </a:r>
          </a:p>
        </p:txBody>
      </p:sp>
      <p:sp>
        <p:nvSpPr>
          <p:cNvPr id="5" name="矩形 4">
            <a:extLst>
              <a:ext uri="{FF2B5EF4-FFF2-40B4-BE49-F238E27FC236}">
                <a16:creationId xmlns:a16="http://schemas.microsoft.com/office/drawing/2014/main" id="{6385C285-0B0D-48B5-88D6-4A789CCBC3D9}"/>
              </a:ext>
            </a:extLst>
          </p:cNvPr>
          <p:cNvSpPr>
            <a:spLocks noGrp="1"/>
          </p:cNvSpPr>
          <p:nvPr/>
        </p:nvSpPr>
        <p:spPr>
          <a:xfrm>
            <a:off x="533400" y="1485900"/>
            <a:ext cx="7353300" cy="4191000"/>
          </a:xfrm>
          <a:prstGeom prst="rect">
            <a:avLst/>
          </a:prstGeom>
          <a:solidFill>
            <a:srgbClr val="F1F5F9"/>
          </a:solidFill>
          <a:ln w="0">
            <a:solidFill>
              <a:srgbClr val="F1F5F9"/>
            </a:solidFill>
            <a:prstDash val="solid"/>
          </a:ln>
        </p:spPr>
        <p:txBody>
          <a:bodyPr/>
          <a:lstStyle/>
          <a:p>
            <a:endParaRPr/>
          </a:p>
        </p:txBody>
      </p:sp>
      <p:sp>
        <p:nvSpPr>
          <p:cNvPr id="6" name="矩形 5">
            <a:extLst>
              <a:ext uri="{FF2B5EF4-FFF2-40B4-BE49-F238E27FC236}">
                <a16:creationId xmlns:a16="http://schemas.microsoft.com/office/drawing/2014/main" id="{86473C91-42A6-4630-A857-17DE6782DCFF}"/>
              </a:ext>
            </a:extLst>
          </p:cNvPr>
          <p:cNvSpPr>
            <a:spLocks noGrp="1"/>
          </p:cNvSpPr>
          <p:nvPr/>
        </p:nvSpPr>
        <p:spPr>
          <a:xfrm>
            <a:off x="781050" y="1676400"/>
            <a:ext cx="4286250" cy="228600"/>
          </a:xfrm>
          <a:prstGeom prst="rect">
            <a:avLst/>
          </a:prstGeom>
          <a:noFill/>
          <a:ln w="0">
            <a:noFill/>
            <a:prstDash val="solid"/>
          </a:ln>
        </p:spPr>
        <p:txBody>
          <a:bodyPr lIns="0" tIns="0" rIns="0" bIns="0" anchor="t">
            <a:noAutofit/>
          </a:bodyPr>
          <a:lstStyle/>
          <a:p>
            <a:pPr algn="l">
              <a:buNone/>
              <a:defRPr sz="1275" b="1">
                <a:solidFill>
                  <a:srgbClr val="111827"/>
                </a:solidFill>
                <a:latin typeface="Aptos"/>
                <a:ea typeface="Aptos"/>
                <a:cs typeface="Aptos"/>
              </a:defRPr>
            </a:pPr>
            <a:r>
              <a:rPr sz="1600" b="1" dirty="0">
                <a:solidFill>
                  <a:srgbClr val="111827"/>
                </a:solidFill>
                <a:latin typeface="Aptos"/>
                <a:ea typeface="Aptos"/>
                <a:cs typeface="Aptos"/>
              </a:rPr>
              <a:t>Mean accuracy across three model seeds (%)</a:t>
            </a:r>
          </a:p>
        </p:txBody>
      </p:sp>
      <p:sp>
        <p:nvSpPr>
          <p:cNvPr id="7" name="直接连接符 6">
            <a:extLst>
              <a:ext uri="{FF2B5EF4-FFF2-40B4-BE49-F238E27FC236}">
                <a16:creationId xmlns:a16="http://schemas.microsoft.com/office/drawing/2014/main" id="{654D4026-A74E-4A2C-85BD-6440D32605E4}"/>
              </a:ext>
            </a:extLst>
          </p:cNvPr>
          <p:cNvSpPr>
            <a:spLocks noGrp="1"/>
          </p:cNvSpPr>
          <p:nvPr/>
        </p:nvSpPr>
        <p:spPr>
          <a:xfrm>
            <a:off x="1219200" y="4848225"/>
            <a:ext cx="6267450" cy="0"/>
          </a:xfrm>
          <a:prstGeom prst="line">
            <a:avLst/>
          </a:prstGeom>
          <a:noFill/>
          <a:ln w="11430">
            <a:solidFill>
              <a:srgbClr val="8B95A5"/>
            </a:solidFill>
            <a:prstDash val="solid"/>
          </a:ln>
        </p:spPr>
        <p:txBody>
          <a:bodyPr/>
          <a:lstStyle/>
          <a:p>
            <a:endParaRPr/>
          </a:p>
        </p:txBody>
      </p:sp>
      <p:sp>
        <p:nvSpPr>
          <p:cNvPr id="8" name="矩形 7">
            <a:extLst>
              <a:ext uri="{FF2B5EF4-FFF2-40B4-BE49-F238E27FC236}">
                <a16:creationId xmlns:a16="http://schemas.microsoft.com/office/drawing/2014/main" id="{57EDB1A5-BAE1-479E-B313-9ABD920847B5}"/>
              </a:ext>
            </a:extLst>
          </p:cNvPr>
          <p:cNvSpPr>
            <a:spLocks noGrp="1"/>
          </p:cNvSpPr>
          <p:nvPr/>
        </p:nvSpPr>
        <p:spPr>
          <a:xfrm>
            <a:off x="704850" y="4772025"/>
            <a:ext cx="41910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0</a:t>
            </a:r>
          </a:p>
        </p:txBody>
      </p:sp>
      <p:sp>
        <p:nvSpPr>
          <p:cNvPr id="9" name="直接连接符 8">
            <a:extLst>
              <a:ext uri="{FF2B5EF4-FFF2-40B4-BE49-F238E27FC236}">
                <a16:creationId xmlns:a16="http://schemas.microsoft.com/office/drawing/2014/main" id="{D3003070-DAE3-449B-A3DF-7CF809B6D663}"/>
              </a:ext>
            </a:extLst>
          </p:cNvPr>
          <p:cNvSpPr>
            <a:spLocks noGrp="1"/>
          </p:cNvSpPr>
          <p:nvPr/>
        </p:nvSpPr>
        <p:spPr>
          <a:xfrm>
            <a:off x="1219200" y="4295775"/>
            <a:ext cx="6267450" cy="0"/>
          </a:xfrm>
          <a:prstGeom prst="line">
            <a:avLst/>
          </a:prstGeom>
          <a:noFill/>
          <a:ln w="6668">
            <a:solidFill>
              <a:srgbClr val="D7DEE8"/>
            </a:solidFill>
            <a:prstDash val="solid"/>
          </a:ln>
        </p:spPr>
        <p:txBody>
          <a:bodyPr/>
          <a:lstStyle/>
          <a:p>
            <a:endParaRPr/>
          </a:p>
        </p:txBody>
      </p:sp>
      <p:sp>
        <p:nvSpPr>
          <p:cNvPr id="10" name="矩形 9">
            <a:extLst>
              <a:ext uri="{FF2B5EF4-FFF2-40B4-BE49-F238E27FC236}">
                <a16:creationId xmlns:a16="http://schemas.microsoft.com/office/drawing/2014/main" id="{DEE8E135-F635-4A8E-AC51-A14E16EF9A80}"/>
              </a:ext>
            </a:extLst>
          </p:cNvPr>
          <p:cNvSpPr>
            <a:spLocks noGrp="1"/>
          </p:cNvSpPr>
          <p:nvPr/>
        </p:nvSpPr>
        <p:spPr>
          <a:xfrm>
            <a:off x="704850" y="4219575"/>
            <a:ext cx="41910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20</a:t>
            </a:r>
          </a:p>
        </p:txBody>
      </p:sp>
      <p:sp>
        <p:nvSpPr>
          <p:cNvPr id="11" name="直接连接符 10">
            <a:extLst>
              <a:ext uri="{FF2B5EF4-FFF2-40B4-BE49-F238E27FC236}">
                <a16:creationId xmlns:a16="http://schemas.microsoft.com/office/drawing/2014/main" id="{EF99ABB4-6F47-4CA3-ADCD-AC166DE945D8}"/>
              </a:ext>
            </a:extLst>
          </p:cNvPr>
          <p:cNvSpPr>
            <a:spLocks noGrp="1"/>
          </p:cNvSpPr>
          <p:nvPr/>
        </p:nvSpPr>
        <p:spPr>
          <a:xfrm>
            <a:off x="1219200" y="3743325"/>
            <a:ext cx="6267450" cy="0"/>
          </a:xfrm>
          <a:prstGeom prst="line">
            <a:avLst/>
          </a:prstGeom>
          <a:noFill/>
          <a:ln w="6668">
            <a:solidFill>
              <a:srgbClr val="D7DEE8"/>
            </a:solidFill>
            <a:prstDash val="solid"/>
          </a:ln>
        </p:spPr>
        <p:txBody>
          <a:bodyPr/>
          <a:lstStyle/>
          <a:p>
            <a:endParaRPr/>
          </a:p>
        </p:txBody>
      </p:sp>
      <p:sp>
        <p:nvSpPr>
          <p:cNvPr id="12" name="矩形 11">
            <a:extLst>
              <a:ext uri="{FF2B5EF4-FFF2-40B4-BE49-F238E27FC236}">
                <a16:creationId xmlns:a16="http://schemas.microsoft.com/office/drawing/2014/main" id="{425609A2-C6C7-44DC-ACE3-D72F008D2761}"/>
              </a:ext>
            </a:extLst>
          </p:cNvPr>
          <p:cNvSpPr>
            <a:spLocks noGrp="1"/>
          </p:cNvSpPr>
          <p:nvPr/>
        </p:nvSpPr>
        <p:spPr>
          <a:xfrm>
            <a:off x="704850" y="3667125"/>
            <a:ext cx="41910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40</a:t>
            </a:r>
          </a:p>
        </p:txBody>
      </p:sp>
      <p:sp>
        <p:nvSpPr>
          <p:cNvPr id="13" name="直接连接符 12">
            <a:extLst>
              <a:ext uri="{FF2B5EF4-FFF2-40B4-BE49-F238E27FC236}">
                <a16:creationId xmlns:a16="http://schemas.microsoft.com/office/drawing/2014/main" id="{5553925A-8CA8-40C3-84EE-F9CB00F8FF27}"/>
              </a:ext>
            </a:extLst>
          </p:cNvPr>
          <p:cNvSpPr>
            <a:spLocks noGrp="1"/>
          </p:cNvSpPr>
          <p:nvPr/>
        </p:nvSpPr>
        <p:spPr>
          <a:xfrm>
            <a:off x="1219200" y="3190875"/>
            <a:ext cx="6267450" cy="0"/>
          </a:xfrm>
          <a:prstGeom prst="line">
            <a:avLst/>
          </a:prstGeom>
          <a:noFill/>
          <a:ln w="6668">
            <a:solidFill>
              <a:srgbClr val="D7DEE8"/>
            </a:solidFill>
            <a:prstDash val="solid"/>
          </a:ln>
        </p:spPr>
        <p:txBody>
          <a:bodyPr/>
          <a:lstStyle/>
          <a:p>
            <a:endParaRPr/>
          </a:p>
        </p:txBody>
      </p:sp>
      <p:sp>
        <p:nvSpPr>
          <p:cNvPr id="14" name="矩形 13">
            <a:extLst>
              <a:ext uri="{FF2B5EF4-FFF2-40B4-BE49-F238E27FC236}">
                <a16:creationId xmlns:a16="http://schemas.microsoft.com/office/drawing/2014/main" id="{200954E1-DC81-4CC8-9B09-7C2755C91E21}"/>
              </a:ext>
            </a:extLst>
          </p:cNvPr>
          <p:cNvSpPr>
            <a:spLocks noGrp="1"/>
          </p:cNvSpPr>
          <p:nvPr/>
        </p:nvSpPr>
        <p:spPr>
          <a:xfrm>
            <a:off x="704850" y="3114675"/>
            <a:ext cx="41910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60</a:t>
            </a:r>
          </a:p>
        </p:txBody>
      </p:sp>
      <p:sp>
        <p:nvSpPr>
          <p:cNvPr id="15" name="直接连接符 14">
            <a:extLst>
              <a:ext uri="{FF2B5EF4-FFF2-40B4-BE49-F238E27FC236}">
                <a16:creationId xmlns:a16="http://schemas.microsoft.com/office/drawing/2014/main" id="{DCD3180B-BAD3-4FD4-94D2-F9DE2A63EA58}"/>
              </a:ext>
            </a:extLst>
          </p:cNvPr>
          <p:cNvSpPr>
            <a:spLocks noGrp="1"/>
          </p:cNvSpPr>
          <p:nvPr/>
        </p:nvSpPr>
        <p:spPr>
          <a:xfrm>
            <a:off x="1219200" y="2638425"/>
            <a:ext cx="6267450" cy="0"/>
          </a:xfrm>
          <a:prstGeom prst="line">
            <a:avLst/>
          </a:prstGeom>
          <a:noFill/>
          <a:ln w="6668">
            <a:solidFill>
              <a:srgbClr val="D7DEE8"/>
            </a:solidFill>
            <a:prstDash val="solid"/>
          </a:ln>
        </p:spPr>
        <p:txBody>
          <a:bodyPr/>
          <a:lstStyle/>
          <a:p>
            <a:endParaRPr/>
          </a:p>
        </p:txBody>
      </p:sp>
      <p:sp>
        <p:nvSpPr>
          <p:cNvPr id="16" name="矩形 15">
            <a:extLst>
              <a:ext uri="{FF2B5EF4-FFF2-40B4-BE49-F238E27FC236}">
                <a16:creationId xmlns:a16="http://schemas.microsoft.com/office/drawing/2014/main" id="{9DB259F9-E31B-4FE3-95B2-FBC9467867B0}"/>
              </a:ext>
            </a:extLst>
          </p:cNvPr>
          <p:cNvSpPr>
            <a:spLocks noGrp="1"/>
          </p:cNvSpPr>
          <p:nvPr/>
        </p:nvSpPr>
        <p:spPr>
          <a:xfrm>
            <a:off x="704850" y="2562225"/>
            <a:ext cx="41910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80</a:t>
            </a:r>
          </a:p>
        </p:txBody>
      </p:sp>
      <p:sp>
        <p:nvSpPr>
          <p:cNvPr id="17" name="直接连接符 16">
            <a:extLst>
              <a:ext uri="{FF2B5EF4-FFF2-40B4-BE49-F238E27FC236}">
                <a16:creationId xmlns:a16="http://schemas.microsoft.com/office/drawing/2014/main" id="{C4F0C08A-A518-4935-A77A-09B2E504F92D}"/>
              </a:ext>
            </a:extLst>
          </p:cNvPr>
          <p:cNvSpPr>
            <a:spLocks noGrp="1"/>
          </p:cNvSpPr>
          <p:nvPr/>
        </p:nvSpPr>
        <p:spPr>
          <a:xfrm>
            <a:off x="1219200" y="2085975"/>
            <a:ext cx="6267450" cy="0"/>
          </a:xfrm>
          <a:prstGeom prst="line">
            <a:avLst/>
          </a:prstGeom>
          <a:noFill/>
          <a:ln w="6668">
            <a:solidFill>
              <a:srgbClr val="D7DEE8"/>
            </a:solidFill>
            <a:prstDash val="solid"/>
          </a:ln>
        </p:spPr>
        <p:txBody>
          <a:bodyPr/>
          <a:lstStyle/>
          <a:p>
            <a:endParaRPr/>
          </a:p>
        </p:txBody>
      </p:sp>
      <p:sp>
        <p:nvSpPr>
          <p:cNvPr id="18" name="矩形 17">
            <a:extLst>
              <a:ext uri="{FF2B5EF4-FFF2-40B4-BE49-F238E27FC236}">
                <a16:creationId xmlns:a16="http://schemas.microsoft.com/office/drawing/2014/main" id="{D6A7F883-8216-45D4-B896-6CD39D74A377}"/>
              </a:ext>
            </a:extLst>
          </p:cNvPr>
          <p:cNvSpPr>
            <a:spLocks noGrp="1"/>
          </p:cNvSpPr>
          <p:nvPr/>
        </p:nvSpPr>
        <p:spPr>
          <a:xfrm>
            <a:off x="704850" y="2009775"/>
            <a:ext cx="41910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100</a:t>
            </a:r>
          </a:p>
        </p:txBody>
      </p:sp>
      <p:sp>
        <p:nvSpPr>
          <p:cNvPr id="19" name="矩形 18">
            <a:extLst>
              <a:ext uri="{FF2B5EF4-FFF2-40B4-BE49-F238E27FC236}">
                <a16:creationId xmlns:a16="http://schemas.microsoft.com/office/drawing/2014/main" id="{65690E44-8AC5-4BC9-9E7D-9F65A8D7F8CD}"/>
              </a:ext>
            </a:extLst>
          </p:cNvPr>
          <p:cNvSpPr>
            <a:spLocks noGrp="1"/>
          </p:cNvSpPr>
          <p:nvPr/>
        </p:nvSpPr>
        <p:spPr>
          <a:xfrm>
            <a:off x="1587500" y="2955393"/>
            <a:ext cx="412750" cy="1892832"/>
          </a:xfrm>
          <a:prstGeom prst="rect">
            <a:avLst/>
          </a:prstGeom>
          <a:solidFill>
            <a:srgbClr val="2457D6"/>
          </a:solidFill>
          <a:ln w="0">
            <a:solidFill>
              <a:srgbClr val="2457D6"/>
            </a:solidFill>
            <a:prstDash val="solid"/>
          </a:ln>
        </p:spPr>
        <p:txBody>
          <a:bodyPr/>
          <a:lstStyle/>
          <a:p>
            <a:endParaRPr/>
          </a:p>
        </p:txBody>
      </p:sp>
      <p:sp>
        <p:nvSpPr>
          <p:cNvPr id="20" name="矩形 19">
            <a:extLst>
              <a:ext uri="{FF2B5EF4-FFF2-40B4-BE49-F238E27FC236}">
                <a16:creationId xmlns:a16="http://schemas.microsoft.com/office/drawing/2014/main" id="{DD9F5834-3F41-411C-B7A2-AC891A4EDA09}"/>
              </a:ext>
            </a:extLst>
          </p:cNvPr>
          <p:cNvSpPr>
            <a:spLocks noGrp="1"/>
          </p:cNvSpPr>
          <p:nvPr/>
        </p:nvSpPr>
        <p:spPr>
          <a:xfrm>
            <a:off x="1435100" y="2764893"/>
            <a:ext cx="717550" cy="161925"/>
          </a:xfrm>
          <a:prstGeom prst="rect">
            <a:avLst/>
          </a:prstGeom>
          <a:noFill/>
          <a:ln w="0">
            <a:noFill/>
            <a:prstDash val="solid"/>
          </a:ln>
        </p:spPr>
        <p:txBody>
          <a:bodyPr lIns="0" tIns="0" rIns="0" bIns="0" anchor="t">
            <a:normAutofit/>
          </a:bodyPr>
          <a:lstStyle/>
          <a:p>
            <a:pPr algn="ctr">
              <a:buNone/>
              <a:defRPr sz="788" b="1">
                <a:solidFill>
                  <a:srgbClr val="111827"/>
                </a:solidFill>
                <a:latin typeface="Aptos"/>
                <a:ea typeface="Aptos"/>
                <a:cs typeface="Aptos"/>
              </a:defRPr>
            </a:pPr>
            <a:r>
              <a:rPr sz="788" b="1">
                <a:solidFill>
                  <a:srgbClr val="111827"/>
                </a:solidFill>
                <a:latin typeface="Aptos"/>
                <a:ea typeface="Aptos"/>
                <a:cs typeface="Aptos"/>
              </a:rPr>
              <a:t>68.5</a:t>
            </a:r>
          </a:p>
        </p:txBody>
      </p:sp>
      <p:sp>
        <p:nvSpPr>
          <p:cNvPr id="21" name="矩形 20">
            <a:extLst>
              <a:ext uri="{FF2B5EF4-FFF2-40B4-BE49-F238E27FC236}">
                <a16:creationId xmlns:a16="http://schemas.microsoft.com/office/drawing/2014/main" id="{CBB54023-7C30-4A71-AFDF-E9E322620968}"/>
              </a:ext>
            </a:extLst>
          </p:cNvPr>
          <p:cNvSpPr>
            <a:spLocks noGrp="1"/>
          </p:cNvSpPr>
          <p:nvPr/>
        </p:nvSpPr>
        <p:spPr>
          <a:xfrm>
            <a:off x="2057400" y="2633232"/>
            <a:ext cx="412750" cy="2214993"/>
          </a:xfrm>
          <a:prstGeom prst="rect">
            <a:avLst/>
          </a:prstGeom>
          <a:solidFill>
            <a:srgbClr val="0F766E"/>
          </a:solidFill>
          <a:ln w="0">
            <a:solidFill>
              <a:srgbClr val="0F766E"/>
            </a:solidFill>
            <a:prstDash val="solid"/>
          </a:ln>
        </p:spPr>
        <p:txBody>
          <a:bodyPr/>
          <a:lstStyle/>
          <a:p>
            <a:endParaRPr/>
          </a:p>
        </p:txBody>
      </p:sp>
      <p:sp>
        <p:nvSpPr>
          <p:cNvPr id="22" name="矩形 21">
            <a:extLst>
              <a:ext uri="{FF2B5EF4-FFF2-40B4-BE49-F238E27FC236}">
                <a16:creationId xmlns:a16="http://schemas.microsoft.com/office/drawing/2014/main" id="{A1B5FA7F-526F-4E47-B5AF-4FB0F1225D17}"/>
              </a:ext>
            </a:extLst>
          </p:cNvPr>
          <p:cNvSpPr>
            <a:spLocks noGrp="1"/>
          </p:cNvSpPr>
          <p:nvPr/>
        </p:nvSpPr>
        <p:spPr>
          <a:xfrm>
            <a:off x="1905000" y="2442732"/>
            <a:ext cx="717550" cy="161925"/>
          </a:xfrm>
          <a:prstGeom prst="rect">
            <a:avLst/>
          </a:prstGeom>
          <a:noFill/>
          <a:ln w="0">
            <a:noFill/>
            <a:prstDash val="solid"/>
          </a:ln>
        </p:spPr>
        <p:txBody>
          <a:bodyPr lIns="0" tIns="0" rIns="0" bIns="0" anchor="t">
            <a:normAutofit/>
          </a:bodyPr>
          <a:lstStyle/>
          <a:p>
            <a:pPr algn="ctr">
              <a:buNone/>
              <a:defRPr sz="788" b="1">
                <a:solidFill>
                  <a:srgbClr val="111827"/>
                </a:solidFill>
                <a:latin typeface="Aptos"/>
                <a:ea typeface="Aptos"/>
                <a:cs typeface="Aptos"/>
              </a:defRPr>
            </a:pPr>
            <a:r>
              <a:rPr sz="788" b="1">
                <a:solidFill>
                  <a:srgbClr val="111827"/>
                </a:solidFill>
                <a:latin typeface="Aptos"/>
                <a:ea typeface="Aptos"/>
                <a:cs typeface="Aptos"/>
              </a:rPr>
              <a:t>80.2</a:t>
            </a:r>
          </a:p>
        </p:txBody>
      </p:sp>
      <p:sp>
        <p:nvSpPr>
          <p:cNvPr id="23" name="矩形 22">
            <a:extLst>
              <a:ext uri="{FF2B5EF4-FFF2-40B4-BE49-F238E27FC236}">
                <a16:creationId xmlns:a16="http://schemas.microsoft.com/office/drawing/2014/main" id="{1B283B00-D873-496C-8151-BD3F364A0C72}"/>
              </a:ext>
            </a:extLst>
          </p:cNvPr>
          <p:cNvSpPr>
            <a:spLocks noGrp="1"/>
          </p:cNvSpPr>
          <p:nvPr/>
        </p:nvSpPr>
        <p:spPr>
          <a:xfrm>
            <a:off x="2527300" y="2467911"/>
            <a:ext cx="412750" cy="2380314"/>
          </a:xfrm>
          <a:prstGeom prst="rect">
            <a:avLst/>
          </a:prstGeom>
          <a:solidFill>
            <a:srgbClr val="6D3CC7"/>
          </a:solidFill>
          <a:ln w="0">
            <a:solidFill>
              <a:srgbClr val="6D3CC7"/>
            </a:solidFill>
            <a:prstDash val="solid"/>
          </a:ln>
        </p:spPr>
        <p:txBody>
          <a:bodyPr/>
          <a:lstStyle/>
          <a:p>
            <a:endParaRPr/>
          </a:p>
        </p:txBody>
      </p:sp>
      <p:sp>
        <p:nvSpPr>
          <p:cNvPr id="24" name="矩形 23">
            <a:extLst>
              <a:ext uri="{FF2B5EF4-FFF2-40B4-BE49-F238E27FC236}">
                <a16:creationId xmlns:a16="http://schemas.microsoft.com/office/drawing/2014/main" id="{E822BCC5-0638-4A91-84C6-5BD979F7FB53}"/>
              </a:ext>
            </a:extLst>
          </p:cNvPr>
          <p:cNvSpPr>
            <a:spLocks noGrp="1"/>
          </p:cNvSpPr>
          <p:nvPr/>
        </p:nvSpPr>
        <p:spPr>
          <a:xfrm>
            <a:off x="2374900" y="2277411"/>
            <a:ext cx="717550" cy="161925"/>
          </a:xfrm>
          <a:prstGeom prst="rect">
            <a:avLst/>
          </a:prstGeom>
          <a:noFill/>
          <a:ln w="0">
            <a:noFill/>
            <a:prstDash val="solid"/>
          </a:ln>
        </p:spPr>
        <p:txBody>
          <a:bodyPr lIns="0" tIns="0" rIns="0" bIns="0" anchor="t">
            <a:normAutofit/>
          </a:bodyPr>
          <a:lstStyle/>
          <a:p>
            <a:pPr algn="ctr">
              <a:buNone/>
              <a:defRPr sz="788" b="1">
                <a:solidFill>
                  <a:srgbClr val="111827"/>
                </a:solidFill>
                <a:latin typeface="Aptos"/>
                <a:ea typeface="Aptos"/>
                <a:cs typeface="Aptos"/>
              </a:defRPr>
            </a:pPr>
            <a:r>
              <a:rPr sz="788" b="1">
                <a:solidFill>
                  <a:srgbClr val="111827"/>
                </a:solidFill>
                <a:latin typeface="Aptos"/>
                <a:ea typeface="Aptos"/>
                <a:cs typeface="Aptos"/>
              </a:rPr>
              <a:t>86.2</a:t>
            </a:r>
          </a:p>
        </p:txBody>
      </p:sp>
      <p:sp>
        <p:nvSpPr>
          <p:cNvPr id="25" name="矩形 24">
            <a:extLst>
              <a:ext uri="{FF2B5EF4-FFF2-40B4-BE49-F238E27FC236}">
                <a16:creationId xmlns:a16="http://schemas.microsoft.com/office/drawing/2014/main" id="{E835B0A6-E0FE-42B1-82F9-CEE9F1F8C8D0}"/>
              </a:ext>
            </a:extLst>
          </p:cNvPr>
          <p:cNvSpPr>
            <a:spLocks noGrp="1"/>
          </p:cNvSpPr>
          <p:nvPr/>
        </p:nvSpPr>
        <p:spPr>
          <a:xfrm>
            <a:off x="1219200" y="4924425"/>
            <a:ext cx="2089150" cy="228600"/>
          </a:xfrm>
          <a:prstGeom prst="rect">
            <a:avLst/>
          </a:prstGeom>
          <a:noFill/>
          <a:ln w="0">
            <a:noFill/>
            <a:prstDash val="solid"/>
          </a:ln>
        </p:spPr>
        <p:txBody>
          <a:bodyPr lIns="0" tIns="0" rIns="0" bIns="0" anchor="t">
            <a:normAutofit/>
          </a:bodyPr>
          <a:lstStyle/>
          <a:p>
            <a:pPr algn="ctr">
              <a:buNone/>
              <a:defRPr sz="975" b="1">
                <a:solidFill>
                  <a:srgbClr val="5B6472"/>
                </a:solidFill>
                <a:latin typeface="Aptos"/>
                <a:ea typeface="Aptos"/>
                <a:cs typeface="Aptos"/>
              </a:defRPr>
            </a:pPr>
            <a:r>
              <a:rPr sz="975" b="1">
                <a:solidFill>
                  <a:srgbClr val="5B6472"/>
                </a:solidFill>
                <a:latin typeface="Aptos"/>
                <a:ea typeface="Aptos"/>
                <a:cs typeface="Aptos"/>
              </a:rPr>
              <a:t>Standard</a:t>
            </a:r>
          </a:p>
        </p:txBody>
      </p:sp>
      <p:sp>
        <p:nvSpPr>
          <p:cNvPr id="26" name="矩形 25">
            <a:extLst>
              <a:ext uri="{FF2B5EF4-FFF2-40B4-BE49-F238E27FC236}">
                <a16:creationId xmlns:a16="http://schemas.microsoft.com/office/drawing/2014/main" id="{A52DFDFA-A715-4E00-A7E9-71192DA40370}"/>
              </a:ext>
            </a:extLst>
          </p:cNvPr>
          <p:cNvSpPr>
            <a:spLocks noGrp="1"/>
          </p:cNvSpPr>
          <p:nvPr/>
        </p:nvSpPr>
        <p:spPr>
          <a:xfrm>
            <a:off x="3676650" y="2646159"/>
            <a:ext cx="412750" cy="2202066"/>
          </a:xfrm>
          <a:prstGeom prst="rect">
            <a:avLst/>
          </a:prstGeom>
          <a:solidFill>
            <a:srgbClr val="2457D6"/>
          </a:solidFill>
          <a:ln w="0">
            <a:solidFill>
              <a:srgbClr val="2457D6"/>
            </a:solidFill>
            <a:prstDash val="solid"/>
          </a:ln>
        </p:spPr>
        <p:txBody>
          <a:bodyPr/>
          <a:lstStyle/>
          <a:p>
            <a:endParaRPr/>
          </a:p>
        </p:txBody>
      </p:sp>
      <p:sp>
        <p:nvSpPr>
          <p:cNvPr id="27" name="矩形 26">
            <a:extLst>
              <a:ext uri="{FF2B5EF4-FFF2-40B4-BE49-F238E27FC236}">
                <a16:creationId xmlns:a16="http://schemas.microsoft.com/office/drawing/2014/main" id="{FFDE39A6-9E0C-4857-A9F1-70E684B91BE7}"/>
              </a:ext>
            </a:extLst>
          </p:cNvPr>
          <p:cNvSpPr>
            <a:spLocks noGrp="1"/>
          </p:cNvSpPr>
          <p:nvPr/>
        </p:nvSpPr>
        <p:spPr>
          <a:xfrm>
            <a:off x="3524250" y="2455659"/>
            <a:ext cx="717550" cy="161925"/>
          </a:xfrm>
          <a:prstGeom prst="rect">
            <a:avLst/>
          </a:prstGeom>
          <a:noFill/>
          <a:ln w="0">
            <a:noFill/>
            <a:prstDash val="solid"/>
          </a:ln>
        </p:spPr>
        <p:txBody>
          <a:bodyPr lIns="0" tIns="0" rIns="0" bIns="0" anchor="t">
            <a:normAutofit/>
          </a:bodyPr>
          <a:lstStyle/>
          <a:p>
            <a:pPr algn="ctr">
              <a:buNone/>
              <a:defRPr sz="788" b="1">
                <a:solidFill>
                  <a:srgbClr val="111827"/>
                </a:solidFill>
                <a:latin typeface="Aptos"/>
                <a:ea typeface="Aptos"/>
                <a:cs typeface="Aptos"/>
              </a:defRPr>
            </a:pPr>
            <a:r>
              <a:rPr sz="788" b="1">
                <a:solidFill>
                  <a:srgbClr val="111827"/>
                </a:solidFill>
                <a:latin typeface="Aptos"/>
                <a:ea typeface="Aptos"/>
                <a:cs typeface="Aptos"/>
              </a:rPr>
              <a:t>79.7</a:t>
            </a:r>
          </a:p>
        </p:txBody>
      </p:sp>
      <p:sp>
        <p:nvSpPr>
          <p:cNvPr id="28" name="矩形 27">
            <a:extLst>
              <a:ext uri="{FF2B5EF4-FFF2-40B4-BE49-F238E27FC236}">
                <a16:creationId xmlns:a16="http://schemas.microsoft.com/office/drawing/2014/main" id="{346D8D40-64FC-4EA6-9C68-5162961155D3}"/>
              </a:ext>
            </a:extLst>
          </p:cNvPr>
          <p:cNvSpPr>
            <a:spLocks noGrp="1"/>
          </p:cNvSpPr>
          <p:nvPr/>
        </p:nvSpPr>
        <p:spPr>
          <a:xfrm>
            <a:off x="4146550" y="2351759"/>
            <a:ext cx="412750" cy="2496466"/>
          </a:xfrm>
          <a:prstGeom prst="rect">
            <a:avLst/>
          </a:prstGeom>
          <a:solidFill>
            <a:srgbClr val="0F766E"/>
          </a:solidFill>
          <a:ln w="0">
            <a:solidFill>
              <a:srgbClr val="0F766E"/>
            </a:solidFill>
            <a:prstDash val="solid"/>
          </a:ln>
        </p:spPr>
        <p:txBody>
          <a:bodyPr/>
          <a:lstStyle/>
          <a:p>
            <a:endParaRPr/>
          </a:p>
        </p:txBody>
      </p:sp>
      <p:sp>
        <p:nvSpPr>
          <p:cNvPr id="29" name="矩形 28">
            <a:extLst>
              <a:ext uri="{FF2B5EF4-FFF2-40B4-BE49-F238E27FC236}">
                <a16:creationId xmlns:a16="http://schemas.microsoft.com/office/drawing/2014/main" id="{373E0E5D-6858-4F5C-A300-F9DD4F61F2B9}"/>
              </a:ext>
            </a:extLst>
          </p:cNvPr>
          <p:cNvSpPr>
            <a:spLocks noGrp="1"/>
          </p:cNvSpPr>
          <p:nvPr/>
        </p:nvSpPr>
        <p:spPr>
          <a:xfrm>
            <a:off x="3994150" y="2161259"/>
            <a:ext cx="717550" cy="161925"/>
          </a:xfrm>
          <a:prstGeom prst="rect">
            <a:avLst/>
          </a:prstGeom>
          <a:noFill/>
          <a:ln w="0">
            <a:noFill/>
            <a:prstDash val="solid"/>
          </a:ln>
        </p:spPr>
        <p:txBody>
          <a:bodyPr lIns="0" tIns="0" rIns="0" bIns="0" anchor="t">
            <a:normAutofit/>
          </a:bodyPr>
          <a:lstStyle/>
          <a:p>
            <a:pPr algn="ctr">
              <a:buNone/>
              <a:defRPr sz="788" b="1">
                <a:solidFill>
                  <a:srgbClr val="111827"/>
                </a:solidFill>
                <a:latin typeface="Aptos"/>
                <a:ea typeface="Aptos"/>
                <a:cs typeface="Aptos"/>
              </a:defRPr>
            </a:pPr>
            <a:r>
              <a:rPr sz="788" b="1">
                <a:solidFill>
                  <a:srgbClr val="111827"/>
                </a:solidFill>
                <a:latin typeface="Aptos"/>
                <a:ea typeface="Aptos"/>
                <a:cs typeface="Aptos"/>
              </a:rPr>
              <a:t>90.4</a:t>
            </a:r>
          </a:p>
        </p:txBody>
      </p:sp>
      <p:sp>
        <p:nvSpPr>
          <p:cNvPr id="30" name="矩形 29">
            <a:extLst>
              <a:ext uri="{FF2B5EF4-FFF2-40B4-BE49-F238E27FC236}">
                <a16:creationId xmlns:a16="http://schemas.microsoft.com/office/drawing/2014/main" id="{3BD7FF15-DB77-4D87-9927-516A2ACCC685}"/>
              </a:ext>
            </a:extLst>
          </p:cNvPr>
          <p:cNvSpPr>
            <a:spLocks noGrp="1"/>
          </p:cNvSpPr>
          <p:nvPr/>
        </p:nvSpPr>
        <p:spPr>
          <a:xfrm>
            <a:off x="4616450" y="2423163"/>
            <a:ext cx="412750" cy="2425062"/>
          </a:xfrm>
          <a:prstGeom prst="rect">
            <a:avLst/>
          </a:prstGeom>
          <a:solidFill>
            <a:srgbClr val="6D3CC7"/>
          </a:solidFill>
          <a:ln w="0">
            <a:solidFill>
              <a:srgbClr val="6D3CC7"/>
            </a:solidFill>
            <a:prstDash val="solid"/>
          </a:ln>
        </p:spPr>
        <p:txBody>
          <a:bodyPr/>
          <a:lstStyle/>
          <a:p>
            <a:endParaRPr/>
          </a:p>
        </p:txBody>
      </p:sp>
      <p:sp>
        <p:nvSpPr>
          <p:cNvPr id="31" name="矩形 30">
            <a:extLst>
              <a:ext uri="{FF2B5EF4-FFF2-40B4-BE49-F238E27FC236}">
                <a16:creationId xmlns:a16="http://schemas.microsoft.com/office/drawing/2014/main" id="{B4CC9014-35B3-4F35-9896-42C891516E54}"/>
              </a:ext>
            </a:extLst>
          </p:cNvPr>
          <p:cNvSpPr>
            <a:spLocks noGrp="1"/>
          </p:cNvSpPr>
          <p:nvPr/>
        </p:nvSpPr>
        <p:spPr>
          <a:xfrm>
            <a:off x="4464050" y="2232663"/>
            <a:ext cx="717550" cy="161925"/>
          </a:xfrm>
          <a:prstGeom prst="rect">
            <a:avLst/>
          </a:prstGeom>
          <a:noFill/>
          <a:ln w="0">
            <a:noFill/>
            <a:prstDash val="solid"/>
          </a:ln>
        </p:spPr>
        <p:txBody>
          <a:bodyPr lIns="0" tIns="0" rIns="0" bIns="0" anchor="t">
            <a:normAutofit/>
          </a:bodyPr>
          <a:lstStyle/>
          <a:p>
            <a:pPr algn="ctr">
              <a:buNone/>
              <a:defRPr sz="788" b="1">
                <a:solidFill>
                  <a:srgbClr val="111827"/>
                </a:solidFill>
                <a:latin typeface="Aptos"/>
                <a:ea typeface="Aptos"/>
                <a:cs typeface="Aptos"/>
              </a:defRPr>
            </a:pPr>
            <a:r>
              <a:rPr sz="788" b="1">
                <a:solidFill>
                  <a:srgbClr val="111827"/>
                </a:solidFill>
                <a:latin typeface="Aptos"/>
                <a:ea typeface="Aptos"/>
                <a:cs typeface="Aptos"/>
              </a:rPr>
              <a:t>87.8</a:t>
            </a:r>
          </a:p>
        </p:txBody>
      </p:sp>
      <p:sp>
        <p:nvSpPr>
          <p:cNvPr id="32" name="矩形 31">
            <a:extLst>
              <a:ext uri="{FF2B5EF4-FFF2-40B4-BE49-F238E27FC236}">
                <a16:creationId xmlns:a16="http://schemas.microsoft.com/office/drawing/2014/main" id="{E5552A40-CAD2-409E-B4AE-2D74CE5A505E}"/>
              </a:ext>
            </a:extLst>
          </p:cNvPr>
          <p:cNvSpPr>
            <a:spLocks noGrp="1"/>
          </p:cNvSpPr>
          <p:nvPr/>
        </p:nvSpPr>
        <p:spPr>
          <a:xfrm>
            <a:off x="3308350" y="4924425"/>
            <a:ext cx="2089150" cy="228600"/>
          </a:xfrm>
          <a:prstGeom prst="rect">
            <a:avLst/>
          </a:prstGeom>
          <a:noFill/>
          <a:ln w="0">
            <a:noFill/>
            <a:prstDash val="solid"/>
          </a:ln>
        </p:spPr>
        <p:txBody>
          <a:bodyPr lIns="0" tIns="0" rIns="0" bIns="0" anchor="t">
            <a:normAutofit/>
          </a:bodyPr>
          <a:lstStyle/>
          <a:p>
            <a:pPr algn="ctr">
              <a:buNone/>
              <a:defRPr sz="975" b="1">
                <a:solidFill>
                  <a:srgbClr val="5B6472"/>
                </a:solidFill>
                <a:latin typeface="Aptos"/>
                <a:ea typeface="Aptos"/>
                <a:cs typeface="Aptos"/>
              </a:defRPr>
            </a:pPr>
            <a:r>
              <a:rPr sz="975" b="1">
                <a:solidFill>
                  <a:srgbClr val="5B6472"/>
                </a:solidFill>
                <a:latin typeface="Aptos"/>
                <a:ea typeface="Aptos"/>
                <a:cs typeface="Aptos"/>
              </a:rPr>
              <a:t>Projector</a:t>
            </a:r>
          </a:p>
        </p:txBody>
      </p:sp>
      <p:sp>
        <p:nvSpPr>
          <p:cNvPr id="33" name="矩形 32">
            <a:extLst>
              <a:ext uri="{FF2B5EF4-FFF2-40B4-BE49-F238E27FC236}">
                <a16:creationId xmlns:a16="http://schemas.microsoft.com/office/drawing/2014/main" id="{64F1BAB5-401A-42AF-9C77-2E55C20269C4}"/>
              </a:ext>
            </a:extLst>
          </p:cNvPr>
          <p:cNvSpPr>
            <a:spLocks noGrp="1"/>
          </p:cNvSpPr>
          <p:nvPr/>
        </p:nvSpPr>
        <p:spPr>
          <a:xfrm>
            <a:off x="5765800" y="2869819"/>
            <a:ext cx="412750" cy="1978406"/>
          </a:xfrm>
          <a:prstGeom prst="rect">
            <a:avLst/>
          </a:prstGeom>
          <a:solidFill>
            <a:srgbClr val="2457D6"/>
          </a:solidFill>
          <a:ln w="0">
            <a:solidFill>
              <a:srgbClr val="2457D6"/>
            </a:solidFill>
            <a:prstDash val="solid"/>
          </a:ln>
        </p:spPr>
        <p:txBody>
          <a:bodyPr/>
          <a:lstStyle/>
          <a:p>
            <a:endParaRPr/>
          </a:p>
        </p:txBody>
      </p:sp>
      <p:sp>
        <p:nvSpPr>
          <p:cNvPr id="34" name="矩形 33">
            <a:extLst>
              <a:ext uri="{FF2B5EF4-FFF2-40B4-BE49-F238E27FC236}">
                <a16:creationId xmlns:a16="http://schemas.microsoft.com/office/drawing/2014/main" id="{5A01FA0F-21F8-4FB4-AA42-36AD753E389E}"/>
              </a:ext>
            </a:extLst>
          </p:cNvPr>
          <p:cNvSpPr>
            <a:spLocks noGrp="1"/>
          </p:cNvSpPr>
          <p:nvPr/>
        </p:nvSpPr>
        <p:spPr>
          <a:xfrm>
            <a:off x="5613400" y="2679319"/>
            <a:ext cx="717550" cy="161925"/>
          </a:xfrm>
          <a:prstGeom prst="rect">
            <a:avLst/>
          </a:prstGeom>
          <a:noFill/>
          <a:ln w="0">
            <a:noFill/>
            <a:prstDash val="solid"/>
          </a:ln>
        </p:spPr>
        <p:txBody>
          <a:bodyPr lIns="0" tIns="0" rIns="0" bIns="0" anchor="t">
            <a:normAutofit/>
          </a:bodyPr>
          <a:lstStyle/>
          <a:p>
            <a:pPr algn="ctr">
              <a:buNone/>
              <a:defRPr sz="788" b="1">
                <a:solidFill>
                  <a:srgbClr val="111827"/>
                </a:solidFill>
                <a:latin typeface="Aptos"/>
                <a:ea typeface="Aptos"/>
                <a:cs typeface="Aptos"/>
              </a:defRPr>
            </a:pPr>
            <a:r>
              <a:rPr sz="788" b="1">
                <a:solidFill>
                  <a:srgbClr val="111827"/>
                </a:solidFill>
                <a:latin typeface="Aptos"/>
                <a:ea typeface="Aptos"/>
                <a:cs typeface="Aptos"/>
              </a:rPr>
              <a:t>71.6</a:t>
            </a:r>
          </a:p>
        </p:txBody>
      </p:sp>
      <p:sp>
        <p:nvSpPr>
          <p:cNvPr id="35" name="矩形 34">
            <a:extLst>
              <a:ext uri="{FF2B5EF4-FFF2-40B4-BE49-F238E27FC236}">
                <a16:creationId xmlns:a16="http://schemas.microsoft.com/office/drawing/2014/main" id="{7CC05AE3-1F22-4206-8383-097615D22B0D}"/>
              </a:ext>
            </a:extLst>
          </p:cNvPr>
          <p:cNvSpPr>
            <a:spLocks noGrp="1"/>
          </p:cNvSpPr>
          <p:nvPr/>
        </p:nvSpPr>
        <p:spPr>
          <a:xfrm>
            <a:off x="6235700" y="2596853"/>
            <a:ext cx="412750" cy="2251372"/>
          </a:xfrm>
          <a:prstGeom prst="rect">
            <a:avLst/>
          </a:prstGeom>
          <a:solidFill>
            <a:srgbClr val="0F766E"/>
          </a:solidFill>
          <a:ln w="0">
            <a:solidFill>
              <a:srgbClr val="0F766E"/>
            </a:solidFill>
            <a:prstDash val="solid"/>
          </a:ln>
        </p:spPr>
        <p:txBody>
          <a:bodyPr/>
          <a:lstStyle/>
          <a:p>
            <a:endParaRPr/>
          </a:p>
        </p:txBody>
      </p:sp>
      <p:sp>
        <p:nvSpPr>
          <p:cNvPr id="36" name="矩形 35">
            <a:extLst>
              <a:ext uri="{FF2B5EF4-FFF2-40B4-BE49-F238E27FC236}">
                <a16:creationId xmlns:a16="http://schemas.microsoft.com/office/drawing/2014/main" id="{15855466-90F2-4085-90F9-29F4ED046870}"/>
              </a:ext>
            </a:extLst>
          </p:cNvPr>
          <p:cNvSpPr>
            <a:spLocks noGrp="1"/>
          </p:cNvSpPr>
          <p:nvPr/>
        </p:nvSpPr>
        <p:spPr>
          <a:xfrm>
            <a:off x="6083300" y="2406353"/>
            <a:ext cx="717550" cy="161925"/>
          </a:xfrm>
          <a:prstGeom prst="rect">
            <a:avLst/>
          </a:prstGeom>
          <a:noFill/>
          <a:ln w="0">
            <a:noFill/>
            <a:prstDash val="solid"/>
          </a:ln>
        </p:spPr>
        <p:txBody>
          <a:bodyPr lIns="0" tIns="0" rIns="0" bIns="0" anchor="t">
            <a:normAutofit/>
          </a:bodyPr>
          <a:lstStyle/>
          <a:p>
            <a:pPr algn="ctr">
              <a:buNone/>
              <a:defRPr sz="788" b="1">
                <a:solidFill>
                  <a:srgbClr val="111827"/>
                </a:solidFill>
                <a:latin typeface="Aptos"/>
                <a:ea typeface="Aptos"/>
                <a:cs typeface="Aptos"/>
              </a:defRPr>
            </a:pPr>
            <a:r>
              <a:rPr sz="788" b="1">
                <a:solidFill>
                  <a:srgbClr val="111827"/>
                </a:solidFill>
                <a:latin typeface="Aptos"/>
                <a:ea typeface="Aptos"/>
                <a:cs typeface="Aptos"/>
              </a:rPr>
              <a:t>81.5</a:t>
            </a:r>
          </a:p>
        </p:txBody>
      </p:sp>
      <p:sp>
        <p:nvSpPr>
          <p:cNvPr id="37" name="矩形 36">
            <a:extLst>
              <a:ext uri="{FF2B5EF4-FFF2-40B4-BE49-F238E27FC236}">
                <a16:creationId xmlns:a16="http://schemas.microsoft.com/office/drawing/2014/main" id="{00CE7E47-3FF0-48E9-A868-202FFB044F37}"/>
              </a:ext>
            </a:extLst>
          </p:cNvPr>
          <p:cNvSpPr>
            <a:spLocks noGrp="1"/>
          </p:cNvSpPr>
          <p:nvPr/>
        </p:nvSpPr>
        <p:spPr>
          <a:xfrm>
            <a:off x="6705600" y="2413799"/>
            <a:ext cx="412750" cy="2434426"/>
          </a:xfrm>
          <a:prstGeom prst="rect">
            <a:avLst/>
          </a:prstGeom>
          <a:solidFill>
            <a:srgbClr val="6D3CC7"/>
          </a:solidFill>
          <a:ln w="0">
            <a:solidFill>
              <a:srgbClr val="6D3CC7"/>
            </a:solidFill>
            <a:prstDash val="solid"/>
          </a:ln>
        </p:spPr>
        <p:txBody>
          <a:bodyPr/>
          <a:lstStyle/>
          <a:p>
            <a:endParaRPr/>
          </a:p>
        </p:txBody>
      </p:sp>
      <p:sp>
        <p:nvSpPr>
          <p:cNvPr id="38" name="矩形 37">
            <a:extLst>
              <a:ext uri="{FF2B5EF4-FFF2-40B4-BE49-F238E27FC236}">
                <a16:creationId xmlns:a16="http://schemas.microsoft.com/office/drawing/2014/main" id="{44A3C34F-DD4B-4B72-A749-CDB66DE15FCC}"/>
              </a:ext>
            </a:extLst>
          </p:cNvPr>
          <p:cNvSpPr>
            <a:spLocks noGrp="1"/>
          </p:cNvSpPr>
          <p:nvPr/>
        </p:nvSpPr>
        <p:spPr>
          <a:xfrm>
            <a:off x="6553200" y="2223299"/>
            <a:ext cx="717550" cy="161925"/>
          </a:xfrm>
          <a:prstGeom prst="rect">
            <a:avLst/>
          </a:prstGeom>
          <a:noFill/>
          <a:ln w="0">
            <a:noFill/>
            <a:prstDash val="solid"/>
          </a:ln>
        </p:spPr>
        <p:txBody>
          <a:bodyPr lIns="0" tIns="0" rIns="0" bIns="0" anchor="t">
            <a:normAutofit/>
          </a:bodyPr>
          <a:lstStyle/>
          <a:p>
            <a:pPr algn="ctr">
              <a:buNone/>
              <a:defRPr sz="788" b="1">
                <a:solidFill>
                  <a:srgbClr val="111827"/>
                </a:solidFill>
                <a:latin typeface="Aptos"/>
                <a:ea typeface="Aptos"/>
                <a:cs typeface="Aptos"/>
              </a:defRPr>
            </a:pPr>
            <a:r>
              <a:rPr sz="788" b="1">
                <a:solidFill>
                  <a:srgbClr val="111827"/>
                </a:solidFill>
                <a:latin typeface="Aptos"/>
                <a:ea typeface="Aptos"/>
                <a:cs typeface="Aptos"/>
              </a:rPr>
              <a:t>88.1</a:t>
            </a:r>
          </a:p>
        </p:txBody>
      </p:sp>
      <p:sp>
        <p:nvSpPr>
          <p:cNvPr id="39" name="矩形 38">
            <a:extLst>
              <a:ext uri="{FF2B5EF4-FFF2-40B4-BE49-F238E27FC236}">
                <a16:creationId xmlns:a16="http://schemas.microsoft.com/office/drawing/2014/main" id="{D6B0EF36-AED2-4F88-8DEA-DAE601E9EE37}"/>
              </a:ext>
            </a:extLst>
          </p:cNvPr>
          <p:cNvSpPr>
            <a:spLocks noGrp="1"/>
          </p:cNvSpPr>
          <p:nvPr/>
        </p:nvSpPr>
        <p:spPr>
          <a:xfrm>
            <a:off x="5397500" y="4924425"/>
            <a:ext cx="2089150" cy="228600"/>
          </a:xfrm>
          <a:prstGeom prst="rect">
            <a:avLst/>
          </a:prstGeom>
          <a:noFill/>
          <a:ln w="0">
            <a:noFill/>
            <a:prstDash val="solid"/>
          </a:ln>
        </p:spPr>
        <p:txBody>
          <a:bodyPr lIns="0" tIns="0" rIns="0" bIns="0" anchor="t">
            <a:normAutofit/>
          </a:bodyPr>
          <a:lstStyle/>
          <a:p>
            <a:pPr algn="ctr">
              <a:buNone/>
              <a:defRPr sz="975" b="1">
                <a:solidFill>
                  <a:srgbClr val="5B6472"/>
                </a:solidFill>
                <a:latin typeface="Aptos"/>
                <a:ea typeface="Aptos"/>
                <a:cs typeface="Aptos"/>
              </a:defRPr>
            </a:pPr>
            <a:r>
              <a:rPr sz="975" b="1">
                <a:solidFill>
                  <a:srgbClr val="5B6472"/>
                </a:solidFill>
                <a:latin typeface="Aptos"/>
                <a:ea typeface="Aptos"/>
                <a:cs typeface="Aptos"/>
              </a:rPr>
              <a:t>Bus V2</a:t>
            </a:r>
          </a:p>
        </p:txBody>
      </p:sp>
      <p:sp>
        <p:nvSpPr>
          <p:cNvPr id="40" name="矩形 39">
            <a:extLst>
              <a:ext uri="{FF2B5EF4-FFF2-40B4-BE49-F238E27FC236}">
                <a16:creationId xmlns:a16="http://schemas.microsoft.com/office/drawing/2014/main" id="{F34EBADE-E178-4F9D-AC7D-12C7F13FBB43}"/>
              </a:ext>
            </a:extLst>
          </p:cNvPr>
          <p:cNvSpPr>
            <a:spLocks noGrp="1"/>
          </p:cNvSpPr>
          <p:nvPr/>
        </p:nvSpPr>
        <p:spPr>
          <a:xfrm>
            <a:off x="1314450" y="5181600"/>
            <a:ext cx="114300" cy="114300"/>
          </a:xfrm>
          <a:prstGeom prst="rect">
            <a:avLst/>
          </a:prstGeom>
          <a:solidFill>
            <a:srgbClr val="2457D6"/>
          </a:solidFill>
          <a:ln w="0">
            <a:solidFill>
              <a:srgbClr val="2457D6"/>
            </a:solidFill>
            <a:prstDash val="solid"/>
          </a:ln>
        </p:spPr>
        <p:txBody>
          <a:bodyPr/>
          <a:lstStyle/>
          <a:p>
            <a:endParaRPr/>
          </a:p>
        </p:txBody>
      </p:sp>
      <p:sp>
        <p:nvSpPr>
          <p:cNvPr id="41" name="矩形 40">
            <a:extLst>
              <a:ext uri="{FF2B5EF4-FFF2-40B4-BE49-F238E27FC236}">
                <a16:creationId xmlns:a16="http://schemas.microsoft.com/office/drawing/2014/main" id="{01B1C1E5-9C96-417B-86C3-9AA97F2B088C}"/>
              </a:ext>
            </a:extLst>
          </p:cNvPr>
          <p:cNvSpPr>
            <a:spLocks noGrp="1"/>
          </p:cNvSpPr>
          <p:nvPr/>
        </p:nvSpPr>
        <p:spPr>
          <a:xfrm>
            <a:off x="1485900" y="5153025"/>
            <a:ext cx="971550" cy="171450"/>
          </a:xfrm>
          <a:prstGeom prst="rect">
            <a:avLst/>
          </a:prstGeom>
          <a:noFill/>
          <a:ln w="0">
            <a:noFill/>
            <a:prstDash val="solid"/>
          </a:ln>
        </p:spPr>
        <p:txBody>
          <a:bodyPr lIns="0" tIns="0" rIns="0" bIns="0" anchor="t">
            <a:normAutofit/>
          </a:bodyPr>
          <a:lstStyle/>
          <a:p>
            <a:pPr algn="l">
              <a:buNone/>
              <a:defRPr sz="900" b="0">
                <a:solidFill>
                  <a:srgbClr val="5B6472"/>
                </a:solidFill>
                <a:latin typeface="Aptos"/>
                <a:ea typeface="Aptos"/>
                <a:cs typeface="Aptos"/>
              </a:defRPr>
            </a:pPr>
            <a:r>
              <a:rPr sz="900" b="0">
                <a:solidFill>
                  <a:srgbClr val="5B6472"/>
                </a:solidFill>
                <a:latin typeface="Aptos"/>
                <a:ea typeface="Aptos"/>
                <a:cs typeface="Aptos"/>
              </a:rPr>
              <a:t>Exact</a:t>
            </a:r>
          </a:p>
        </p:txBody>
      </p:sp>
      <p:sp>
        <p:nvSpPr>
          <p:cNvPr id="42" name="矩形 41">
            <a:extLst>
              <a:ext uri="{FF2B5EF4-FFF2-40B4-BE49-F238E27FC236}">
                <a16:creationId xmlns:a16="http://schemas.microsoft.com/office/drawing/2014/main" id="{3E3334AC-12D1-4A81-9E63-370B45D2E48C}"/>
              </a:ext>
            </a:extLst>
          </p:cNvPr>
          <p:cNvSpPr>
            <a:spLocks noGrp="1"/>
          </p:cNvSpPr>
          <p:nvPr/>
        </p:nvSpPr>
        <p:spPr>
          <a:xfrm>
            <a:off x="2514600" y="5181600"/>
            <a:ext cx="114300" cy="114300"/>
          </a:xfrm>
          <a:prstGeom prst="rect">
            <a:avLst/>
          </a:prstGeom>
          <a:solidFill>
            <a:srgbClr val="0F766E"/>
          </a:solidFill>
          <a:ln w="0">
            <a:solidFill>
              <a:srgbClr val="0F766E"/>
            </a:solidFill>
            <a:prstDash val="solid"/>
          </a:ln>
        </p:spPr>
        <p:txBody>
          <a:bodyPr/>
          <a:lstStyle/>
          <a:p>
            <a:endParaRPr/>
          </a:p>
        </p:txBody>
      </p:sp>
      <p:sp>
        <p:nvSpPr>
          <p:cNvPr id="43" name="矩形 42">
            <a:extLst>
              <a:ext uri="{FF2B5EF4-FFF2-40B4-BE49-F238E27FC236}">
                <a16:creationId xmlns:a16="http://schemas.microsoft.com/office/drawing/2014/main" id="{3B11EC0C-4F36-4CD9-942F-D8CBADC02BB2}"/>
              </a:ext>
            </a:extLst>
          </p:cNvPr>
          <p:cNvSpPr>
            <a:spLocks noGrp="1"/>
          </p:cNvSpPr>
          <p:nvPr/>
        </p:nvSpPr>
        <p:spPr>
          <a:xfrm>
            <a:off x="2686050" y="5153025"/>
            <a:ext cx="971550" cy="171450"/>
          </a:xfrm>
          <a:prstGeom prst="rect">
            <a:avLst/>
          </a:prstGeom>
          <a:noFill/>
          <a:ln w="0">
            <a:noFill/>
            <a:prstDash val="solid"/>
          </a:ln>
        </p:spPr>
        <p:txBody>
          <a:bodyPr lIns="0" tIns="0" rIns="0" bIns="0" anchor="t">
            <a:normAutofit/>
          </a:bodyPr>
          <a:lstStyle/>
          <a:p>
            <a:pPr algn="l">
              <a:buNone/>
              <a:defRPr sz="900" b="0">
                <a:solidFill>
                  <a:srgbClr val="5B6472"/>
                </a:solidFill>
                <a:latin typeface="Aptos"/>
                <a:ea typeface="Aptos"/>
                <a:cs typeface="Aptos"/>
              </a:defRPr>
            </a:pPr>
            <a:r>
              <a:rPr sz="900" b="0">
                <a:solidFill>
                  <a:srgbClr val="5B6472"/>
                </a:solidFill>
                <a:latin typeface="Aptos"/>
                <a:ea typeface="Aptos"/>
                <a:cs typeface="Aptos"/>
              </a:rPr>
              <a:t>COUNTRY</a:t>
            </a:r>
          </a:p>
        </p:txBody>
      </p:sp>
      <p:sp>
        <p:nvSpPr>
          <p:cNvPr id="44" name="矩形 43">
            <a:extLst>
              <a:ext uri="{FF2B5EF4-FFF2-40B4-BE49-F238E27FC236}">
                <a16:creationId xmlns:a16="http://schemas.microsoft.com/office/drawing/2014/main" id="{48FB5F3D-7DD4-4943-9092-E59724B4EFE5}"/>
              </a:ext>
            </a:extLst>
          </p:cNvPr>
          <p:cNvSpPr>
            <a:spLocks noGrp="1"/>
          </p:cNvSpPr>
          <p:nvPr/>
        </p:nvSpPr>
        <p:spPr>
          <a:xfrm>
            <a:off x="3714750" y="5181600"/>
            <a:ext cx="114300" cy="114300"/>
          </a:xfrm>
          <a:prstGeom prst="rect">
            <a:avLst/>
          </a:prstGeom>
          <a:solidFill>
            <a:srgbClr val="6D3CC7"/>
          </a:solidFill>
          <a:ln w="0">
            <a:solidFill>
              <a:srgbClr val="6D3CC7"/>
            </a:solidFill>
            <a:prstDash val="solid"/>
          </a:ln>
        </p:spPr>
        <p:txBody>
          <a:bodyPr/>
          <a:lstStyle/>
          <a:p>
            <a:endParaRPr/>
          </a:p>
        </p:txBody>
      </p:sp>
      <p:sp>
        <p:nvSpPr>
          <p:cNvPr id="45" name="矩形 44">
            <a:extLst>
              <a:ext uri="{FF2B5EF4-FFF2-40B4-BE49-F238E27FC236}">
                <a16:creationId xmlns:a16="http://schemas.microsoft.com/office/drawing/2014/main" id="{CC645E87-277B-4BB6-8ACB-4BF912ADEE7A}"/>
              </a:ext>
            </a:extLst>
          </p:cNvPr>
          <p:cNvSpPr>
            <a:spLocks noGrp="1"/>
          </p:cNvSpPr>
          <p:nvPr/>
        </p:nvSpPr>
        <p:spPr>
          <a:xfrm>
            <a:off x="3886200" y="5153025"/>
            <a:ext cx="971550" cy="171450"/>
          </a:xfrm>
          <a:prstGeom prst="rect">
            <a:avLst/>
          </a:prstGeom>
          <a:noFill/>
          <a:ln w="0">
            <a:noFill/>
            <a:prstDash val="solid"/>
          </a:ln>
        </p:spPr>
        <p:txBody>
          <a:bodyPr lIns="0" tIns="0" rIns="0" bIns="0" anchor="t">
            <a:normAutofit/>
          </a:bodyPr>
          <a:lstStyle/>
          <a:p>
            <a:pPr algn="l">
              <a:buNone/>
              <a:defRPr sz="900" b="0">
                <a:solidFill>
                  <a:srgbClr val="5B6472"/>
                </a:solidFill>
                <a:latin typeface="Aptos"/>
                <a:ea typeface="Aptos"/>
                <a:cs typeface="Aptos"/>
              </a:defRPr>
            </a:pPr>
            <a:r>
              <a:rPr sz="900" b="0">
                <a:solidFill>
                  <a:srgbClr val="5B6472"/>
                </a:solidFill>
                <a:latin typeface="Aptos"/>
                <a:ea typeface="Aptos"/>
                <a:cs typeface="Aptos"/>
              </a:rPr>
              <a:t>COLOR</a:t>
            </a:r>
          </a:p>
        </p:txBody>
      </p:sp>
      <p:sp>
        <p:nvSpPr>
          <p:cNvPr id="46" name="矩形 45">
            <a:extLst>
              <a:ext uri="{FF2B5EF4-FFF2-40B4-BE49-F238E27FC236}">
                <a16:creationId xmlns:a16="http://schemas.microsoft.com/office/drawing/2014/main" id="{CC524D43-0359-485F-B2AE-683EC790FD60}"/>
              </a:ext>
            </a:extLst>
          </p:cNvPr>
          <p:cNvSpPr>
            <a:spLocks noGrp="1"/>
          </p:cNvSpPr>
          <p:nvPr/>
        </p:nvSpPr>
        <p:spPr>
          <a:xfrm>
            <a:off x="8172450" y="1485900"/>
            <a:ext cx="3333750" cy="1047750"/>
          </a:xfrm>
          <a:prstGeom prst="rect">
            <a:avLst/>
          </a:prstGeom>
          <a:solidFill>
            <a:srgbClr val="FDECEC"/>
          </a:solidFill>
          <a:ln w="9525">
            <a:solidFill>
              <a:srgbClr val="D7DEE8"/>
            </a:solidFill>
            <a:prstDash val="solid"/>
          </a:ln>
        </p:spPr>
        <p:txBody>
          <a:bodyPr/>
          <a:lstStyle/>
          <a:p>
            <a:endParaRPr/>
          </a:p>
        </p:txBody>
      </p:sp>
      <p:sp>
        <p:nvSpPr>
          <p:cNvPr id="47" name="矩形 46">
            <a:extLst>
              <a:ext uri="{FF2B5EF4-FFF2-40B4-BE49-F238E27FC236}">
                <a16:creationId xmlns:a16="http://schemas.microsoft.com/office/drawing/2014/main" id="{2725C1C3-28FA-4269-A903-2982A4F4DBC3}"/>
              </a:ext>
            </a:extLst>
          </p:cNvPr>
          <p:cNvSpPr>
            <a:spLocks noGrp="1"/>
          </p:cNvSpPr>
          <p:nvPr/>
        </p:nvSpPr>
        <p:spPr>
          <a:xfrm>
            <a:off x="8172450" y="1485900"/>
            <a:ext cx="76200" cy="1047750"/>
          </a:xfrm>
          <a:prstGeom prst="rect">
            <a:avLst/>
          </a:prstGeom>
          <a:solidFill>
            <a:srgbClr val="B42318"/>
          </a:solidFill>
          <a:ln w="0">
            <a:solidFill>
              <a:srgbClr val="B42318"/>
            </a:solidFill>
            <a:prstDash val="solid"/>
          </a:ln>
        </p:spPr>
        <p:txBody>
          <a:bodyPr/>
          <a:lstStyle/>
          <a:p>
            <a:endParaRPr/>
          </a:p>
        </p:txBody>
      </p:sp>
      <p:sp>
        <p:nvSpPr>
          <p:cNvPr id="48" name="矩形 47">
            <a:extLst>
              <a:ext uri="{FF2B5EF4-FFF2-40B4-BE49-F238E27FC236}">
                <a16:creationId xmlns:a16="http://schemas.microsoft.com/office/drawing/2014/main" id="{0DEFEEAD-24B4-4DDF-9AC1-E718663396D0}"/>
              </a:ext>
            </a:extLst>
          </p:cNvPr>
          <p:cNvSpPr>
            <a:spLocks noGrp="1"/>
          </p:cNvSpPr>
          <p:nvPr/>
        </p:nvSpPr>
        <p:spPr>
          <a:xfrm>
            <a:off x="8401050" y="1638300"/>
            <a:ext cx="2971800" cy="361950"/>
          </a:xfrm>
          <a:prstGeom prst="rect">
            <a:avLst/>
          </a:prstGeom>
          <a:noFill/>
          <a:ln w="0">
            <a:noFill/>
            <a:prstDash val="solid"/>
          </a:ln>
        </p:spPr>
        <p:txBody>
          <a:bodyPr lIns="0" tIns="0" rIns="0" bIns="0" anchor="t">
            <a:normAutofit/>
          </a:bodyPr>
          <a:lstStyle/>
          <a:p>
            <a:pPr algn="l">
              <a:buNone/>
              <a:defRPr sz="2100" b="1">
                <a:solidFill>
                  <a:srgbClr val="111827"/>
                </a:solidFill>
                <a:latin typeface="Aptos"/>
                <a:ea typeface="Aptos"/>
                <a:cs typeface="Aptos"/>
              </a:defRPr>
            </a:pPr>
            <a:r>
              <a:rPr sz="2100" b="1">
                <a:solidFill>
                  <a:srgbClr val="111827"/>
                </a:solidFill>
                <a:latin typeface="Aptos"/>
                <a:ea typeface="Aptos"/>
                <a:cs typeface="Aptos"/>
              </a:rPr>
              <a:t>−8.097 pp</a:t>
            </a:r>
          </a:p>
        </p:txBody>
      </p:sp>
      <p:sp>
        <p:nvSpPr>
          <p:cNvPr id="49" name="矩形 48">
            <a:extLst>
              <a:ext uri="{FF2B5EF4-FFF2-40B4-BE49-F238E27FC236}">
                <a16:creationId xmlns:a16="http://schemas.microsoft.com/office/drawing/2014/main" id="{098A5548-40C7-4BF8-8E93-9AF60FD072C7}"/>
              </a:ext>
            </a:extLst>
          </p:cNvPr>
          <p:cNvSpPr>
            <a:spLocks noGrp="1"/>
          </p:cNvSpPr>
          <p:nvPr/>
        </p:nvSpPr>
        <p:spPr>
          <a:xfrm>
            <a:off x="8401050" y="1978890"/>
            <a:ext cx="2971800" cy="34290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Bus V2 − Projector</a:t>
            </a:r>
          </a:p>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Exact</a:t>
            </a:r>
          </a:p>
        </p:txBody>
      </p:sp>
      <p:sp>
        <p:nvSpPr>
          <p:cNvPr id="50" name="矩形 49">
            <a:extLst>
              <a:ext uri="{FF2B5EF4-FFF2-40B4-BE49-F238E27FC236}">
                <a16:creationId xmlns:a16="http://schemas.microsoft.com/office/drawing/2014/main" id="{39FDDF72-0DBD-4B3D-85AE-7CE1E083BD67}"/>
              </a:ext>
            </a:extLst>
          </p:cNvPr>
          <p:cNvSpPr>
            <a:spLocks noGrp="1"/>
          </p:cNvSpPr>
          <p:nvPr/>
        </p:nvSpPr>
        <p:spPr>
          <a:xfrm>
            <a:off x="8172450" y="2705100"/>
            <a:ext cx="3333750" cy="1047750"/>
          </a:xfrm>
          <a:prstGeom prst="rect">
            <a:avLst/>
          </a:prstGeom>
          <a:solidFill>
            <a:srgbClr val="FDECEC"/>
          </a:solidFill>
          <a:ln w="9525">
            <a:solidFill>
              <a:srgbClr val="D7DEE8"/>
            </a:solidFill>
            <a:prstDash val="solid"/>
          </a:ln>
        </p:spPr>
        <p:txBody>
          <a:bodyPr/>
          <a:lstStyle/>
          <a:p>
            <a:endParaRPr/>
          </a:p>
        </p:txBody>
      </p:sp>
      <p:sp>
        <p:nvSpPr>
          <p:cNvPr id="51" name="矩形 50">
            <a:extLst>
              <a:ext uri="{FF2B5EF4-FFF2-40B4-BE49-F238E27FC236}">
                <a16:creationId xmlns:a16="http://schemas.microsoft.com/office/drawing/2014/main" id="{1A34DADA-5B3F-463C-816B-6C1539F6290F}"/>
              </a:ext>
            </a:extLst>
          </p:cNvPr>
          <p:cNvSpPr>
            <a:spLocks noGrp="1"/>
          </p:cNvSpPr>
          <p:nvPr/>
        </p:nvSpPr>
        <p:spPr>
          <a:xfrm>
            <a:off x="8172450" y="2705100"/>
            <a:ext cx="76200" cy="1047750"/>
          </a:xfrm>
          <a:prstGeom prst="rect">
            <a:avLst/>
          </a:prstGeom>
          <a:solidFill>
            <a:srgbClr val="B42318"/>
          </a:solidFill>
          <a:ln w="0">
            <a:solidFill>
              <a:srgbClr val="B42318"/>
            </a:solidFill>
            <a:prstDash val="solid"/>
          </a:ln>
        </p:spPr>
        <p:txBody>
          <a:bodyPr/>
          <a:lstStyle/>
          <a:p>
            <a:endParaRPr/>
          </a:p>
        </p:txBody>
      </p:sp>
      <p:sp>
        <p:nvSpPr>
          <p:cNvPr id="52" name="矩形 51">
            <a:extLst>
              <a:ext uri="{FF2B5EF4-FFF2-40B4-BE49-F238E27FC236}">
                <a16:creationId xmlns:a16="http://schemas.microsoft.com/office/drawing/2014/main" id="{BFE79EAB-9987-4934-9632-D49232AF4933}"/>
              </a:ext>
            </a:extLst>
          </p:cNvPr>
          <p:cNvSpPr>
            <a:spLocks noGrp="1"/>
          </p:cNvSpPr>
          <p:nvPr/>
        </p:nvSpPr>
        <p:spPr>
          <a:xfrm>
            <a:off x="8401050" y="2857500"/>
            <a:ext cx="2971800" cy="361950"/>
          </a:xfrm>
          <a:prstGeom prst="rect">
            <a:avLst/>
          </a:prstGeom>
          <a:noFill/>
          <a:ln w="0">
            <a:noFill/>
            <a:prstDash val="solid"/>
          </a:ln>
        </p:spPr>
        <p:txBody>
          <a:bodyPr lIns="0" tIns="0" rIns="0" bIns="0" anchor="t">
            <a:normAutofit/>
          </a:bodyPr>
          <a:lstStyle/>
          <a:p>
            <a:pPr algn="l">
              <a:buNone/>
              <a:defRPr sz="2100" b="1">
                <a:solidFill>
                  <a:srgbClr val="111827"/>
                </a:solidFill>
                <a:latin typeface="Aptos"/>
                <a:ea typeface="Aptos"/>
                <a:cs typeface="Aptos"/>
              </a:defRPr>
            </a:pPr>
            <a:r>
              <a:rPr sz="2100" b="1">
                <a:solidFill>
                  <a:srgbClr val="111827"/>
                </a:solidFill>
                <a:latin typeface="Aptos"/>
                <a:ea typeface="Aptos"/>
                <a:cs typeface="Aptos"/>
              </a:rPr>
              <a:t>−8.873 pp</a:t>
            </a:r>
          </a:p>
        </p:txBody>
      </p:sp>
      <p:sp>
        <p:nvSpPr>
          <p:cNvPr id="53" name="矩形 52">
            <a:extLst>
              <a:ext uri="{FF2B5EF4-FFF2-40B4-BE49-F238E27FC236}">
                <a16:creationId xmlns:a16="http://schemas.microsoft.com/office/drawing/2014/main" id="{49305600-35F3-4C59-A428-B77CF719D9D3}"/>
              </a:ext>
            </a:extLst>
          </p:cNvPr>
          <p:cNvSpPr>
            <a:spLocks noGrp="1"/>
          </p:cNvSpPr>
          <p:nvPr/>
        </p:nvSpPr>
        <p:spPr>
          <a:xfrm>
            <a:off x="8420100" y="3209924"/>
            <a:ext cx="2971800" cy="34290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Bus V2 − Projector</a:t>
            </a:r>
          </a:p>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COUNTRY</a:t>
            </a:r>
          </a:p>
        </p:txBody>
      </p:sp>
      <p:sp>
        <p:nvSpPr>
          <p:cNvPr id="54" name="矩形 53">
            <a:extLst>
              <a:ext uri="{FF2B5EF4-FFF2-40B4-BE49-F238E27FC236}">
                <a16:creationId xmlns:a16="http://schemas.microsoft.com/office/drawing/2014/main" id="{A3D35D43-3078-4D38-B583-86C87EE098E4}"/>
              </a:ext>
            </a:extLst>
          </p:cNvPr>
          <p:cNvSpPr>
            <a:spLocks noGrp="1"/>
          </p:cNvSpPr>
          <p:nvPr/>
        </p:nvSpPr>
        <p:spPr>
          <a:xfrm>
            <a:off x="8172450" y="3924300"/>
            <a:ext cx="3333750" cy="1047750"/>
          </a:xfrm>
          <a:prstGeom prst="rect">
            <a:avLst/>
          </a:prstGeom>
          <a:solidFill>
            <a:srgbClr val="FDECEC"/>
          </a:solidFill>
          <a:ln w="9525">
            <a:solidFill>
              <a:srgbClr val="D7DEE8"/>
            </a:solidFill>
            <a:prstDash val="solid"/>
          </a:ln>
        </p:spPr>
        <p:txBody>
          <a:bodyPr/>
          <a:lstStyle/>
          <a:p>
            <a:endParaRPr/>
          </a:p>
        </p:txBody>
      </p:sp>
      <p:sp>
        <p:nvSpPr>
          <p:cNvPr id="55" name="矩形 54">
            <a:extLst>
              <a:ext uri="{FF2B5EF4-FFF2-40B4-BE49-F238E27FC236}">
                <a16:creationId xmlns:a16="http://schemas.microsoft.com/office/drawing/2014/main" id="{E1E1CC83-B575-4506-88AD-E25E22486931}"/>
              </a:ext>
            </a:extLst>
          </p:cNvPr>
          <p:cNvSpPr>
            <a:spLocks noGrp="1"/>
          </p:cNvSpPr>
          <p:nvPr/>
        </p:nvSpPr>
        <p:spPr>
          <a:xfrm>
            <a:off x="8172450" y="3924300"/>
            <a:ext cx="76200" cy="1047750"/>
          </a:xfrm>
          <a:prstGeom prst="rect">
            <a:avLst/>
          </a:prstGeom>
          <a:solidFill>
            <a:srgbClr val="B42318"/>
          </a:solidFill>
          <a:ln w="0">
            <a:solidFill>
              <a:srgbClr val="B42318"/>
            </a:solidFill>
            <a:prstDash val="solid"/>
          </a:ln>
        </p:spPr>
        <p:txBody>
          <a:bodyPr/>
          <a:lstStyle/>
          <a:p>
            <a:endParaRPr/>
          </a:p>
        </p:txBody>
      </p:sp>
      <p:sp>
        <p:nvSpPr>
          <p:cNvPr id="56" name="矩形 55">
            <a:extLst>
              <a:ext uri="{FF2B5EF4-FFF2-40B4-BE49-F238E27FC236}">
                <a16:creationId xmlns:a16="http://schemas.microsoft.com/office/drawing/2014/main" id="{01599828-AB88-44F6-8663-0798ABE22583}"/>
              </a:ext>
            </a:extLst>
          </p:cNvPr>
          <p:cNvSpPr>
            <a:spLocks noGrp="1"/>
          </p:cNvSpPr>
          <p:nvPr/>
        </p:nvSpPr>
        <p:spPr>
          <a:xfrm>
            <a:off x="8401050" y="4076700"/>
            <a:ext cx="2971800" cy="361950"/>
          </a:xfrm>
          <a:prstGeom prst="rect">
            <a:avLst/>
          </a:prstGeom>
          <a:noFill/>
          <a:ln w="0">
            <a:noFill/>
            <a:prstDash val="solid"/>
          </a:ln>
        </p:spPr>
        <p:txBody>
          <a:bodyPr lIns="0" tIns="0" rIns="0" bIns="0" anchor="t">
            <a:normAutofit/>
          </a:bodyPr>
          <a:lstStyle/>
          <a:p>
            <a:pPr algn="l">
              <a:buNone/>
              <a:defRPr sz="2100" b="1">
                <a:solidFill>
                  <a:srgbClr val="111827"/>
                </a:solidFill>
                <a:latin typeface="Aptos"/>
                <a:ea typeface="Aptos"/>
                <a:cs typeface="Aptos"/>
              </a:defRPr>
            </a:pPr>
            <a:r>
              <a:rPr sz="2100" b="1">
                <a:solidFill>
                  <a:srgbClr val="111827"/>
                </a:solidFill>
                <a:latin typeface="Aptos"/>
                <a:ea typeface="Aptos"/>
                <a:cs typeface="Aptos"/>
              </a:rPr>
              <a:t>−6.011 pp</a:t>
            </a:r>
          </a:p>
        </p:txBody>
      </p:sp>
      <p:sp>
        <p:nvSpPr>
          <p:cNvPr id="57" name="矩形 56">
            <a:extLst>
              <a:ext uri="{FF2B5EF4-FFF2-40B4-BE49-F238E27FC236}">
                <a16:creationId xmlns:a16="http://schemas.microsoft.com/office/drawing/2014/main" id="{13E6F98C-9B7C-48ED-A606-51F899270D8E}"/>
              </a:ext>
            </a:extLst>
          </p:cNvPr>
          <p:cNvSpPr>
            <a:spLocks noGrp="1"/>
          </p:cNvSpPr>
          <p:nvPr/>
        </p:nvSpPr>
        <p:spPr>
          <a:xfrm>
            <a:off x="8420100" y="4419600"/>
            <a:ext cx="2971800" cy="34290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Bus V2 − Projector</a:t>
            </a:r>
          </a:p>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concept Macro-F1</a:t>
            </a:r>
          </a:p>
        </p:txBody>
      </p:sp>
      <p:sp>
        <p:nvSpPr>
          <p:cNvPr id="58" name="矩形 57">
            <a:extLst>
              <a:ext uri="{FF2B5EF4-FFF2-40B4-BE49-F238E27FC236}">
                <a16:creationId xmlns:a16="http://schemas.microsoft.com/office/drawing/2014/main" id="{91B9122E-1C70-4707-859A-462F5EB073C8}"/>
              </a:ext>
            </a:extLst>
          </p:cNvPr>
          <p:cNvSpPr>
            <a:spLocks noGrp="1"/>
          </p:cNvSpPr>
          <p:nvPr/>
        </p:nvSpPr>
        <p:spPr>
          <a:xfrm>
            <a:off x="609600" y="5905500"/>
            <a:ext cx="10839450" cy="285750"/>
          </a:xfrm>
          <a:prstGeom prst="rect">
            <a:avLst/>
          </a:prstGeom>
          <a:noFill/>
          <a:ln w="0">
            <a:noFill/>
            <a:prstDash val="solid"/>
          </a:ln>
        </p:spPr>
        <p:txBody>
          <a:bodyPr lIns="0" tIns="0" rIns="0" bIns="0" anchor="t">
            <a:noAutofit/>
          </a:bodyPr>
          <a:lstStyle/>
          <a:p>
            <a:pPr algn="ctr">
              <a:buNone/>
              <a:defRPr sz="1275" b="1">
                <a:solidFill>
                  <a:srgbClr val="111827"/>
                </a:solidFill>
                <a:latin typeface="Aptos"/>
                <a:ea typeface="Aptos"/>
                <a:cs typeface="Aptos"/>
              </a:defRPr>
            </a:pPr>
            <a:r>
              <a:rPr sz="1600" b="1" dirty="0">
                <a:solidFill>
                  <a:srgbClr val="111827"/>
                </a:solidFill>
                <a:latin typeface="Aptos"/>
                <a:ea typeface="Aptos"/>
                <a:cs typeface="Aptos"/>
              </a:rPr>
              <a:t>All three paired seeds show the same direction, but exact tests have limited power at n = 3; none are significant after Holm correction.</a:t>
            </a:r>
          </a:p>
        </p:txBody>
      </p:sp>
    </p:spTree>
    <p:extLst>
      <p:ext uri="{BB962C8B-B14F-4D97-AF65-F5344CB8AC3E}">
        <p14:creationId xmlns:p14="http://schemas.microsoft.com/office/powerpoint/2010/main" val="15675461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AB254C62-76E2-4928-B525-9FC54C7C4D51}"/>
              </a:ext>
            </a:extLst>
          </p:cNvPr>
          <p:cNvSpPr>
            <a:spLocks noGrp="1"/>
          </p:cNvSpPr>
          <p:nvPr/>
        </p:nvSpPr>
        <p:spPr>
          <a:xfrm>
            <a:off x="533400" y="266700"/>
            <a:ext cx="5905500" cy="209550"/>
          </a:xfrm>
          <a:prstGeom prst="rect">
            <a:avLst/>
          </a:prstGeom>
          <a:noFill/>
          <a:ln w="0">
            <a:noFill/>
            <a:prstDash val="solid"/>
          </a:ln>
        </p:spPr>
        <p:txBody>
          <a:bodyPr lIns="0" tIns="0" rIns="0" bIns="0" anchor="t">
            <a:normAutofit/>
          </a:bodyPr>
          <a:lstStyle/>
          <a:p>
            <a:pPr algn="l">
              <a:buNone/>
              <a:defRPr sz="1125" b="1">
                <a:solidFill>
                  <a:srgbClr val="2457D6"/>
                </a:solidFill>
                <a:latin typeface="Aptos"/>
                <a:ea typeface="Aptos"/>
                <a:cs typeface="Aptos"/>
              </a:defRPr>
            </a:pPr>
            <a:r>
              <a:rPr sz="1200" b="1">
                <a:solidFill>
                  <a:srgbClr val="2457D6"/>
                </a:solidFill>
                <a:latin typeface="Aptos"/>
                <a:ea typeface="Aptos"/>
                <a:cs typeface="Aptos"/>
              </a:rPr>
              <a:t>Experiment 4: causal results and conclusion</a:t>
            </a:r>
          </a:p>
        </p:txBody>
      </p:sp>
      <p:sp>
        <p:nvSpPr>
          <p:cNvPr id="2" name="矩形 1">
            <a:extLst>
              <a:ext uri="{FF2B5EF4-FFF2-40B4-BE49-F238E27FC236}">
                <a16:creationId xmlns:a16="http://schemas.microsoft.com/office/drawing/2014/main" id="{BC396F80-A2A5-4060-B8E7-1E5D331A8048}"/>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79259" lnSpcReduction="10000"/>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Concept slots can be zeroed and swapped, but extra communication does not improve necessity or locality</a:t>
            </a:r>
          </a:p>
        </p:txBody>
      </p:sp>
      <p:sp>
        <p:nvSpPr>
          <p:cNvPr id="3" name="直接连接符 2">
            <a:extLst>
              <a:ext uri="{FF2B5EF4-FFF2-40B4-BE49-F238E27FC236}">
                <a16:creationId xmlns:a16="http://schemas.microsoft.com/office/drawing/2014/main" id="{9ABEB498-0468-45CA-B52C-7709FCB3B8EB}"/>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A7D0CA78-AEA0-4672-9D66-83594AF6E31B}"/>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28</a:t>
            </a:r>
          </a:p>
        </p:txBody>
      </p:sp>
      <p:sp>
        <p:nvSpPr>
          <p:cNvPr id="5" name="矩形 4">
            <a:extLst>
              <a:ext uri="{FF2B5EF4-FFF2-40B4-BE49-F238E27FC236}">
                <a16:creationId xmlns:a16="http://schemas.microsoft.com/office/drawing/2014/main" id="{098B77FD-692B-4A28-A9F0-98D2C099FD8C}"/>
              </a:ext>
            </a:extLst>
          </p:cNvPr>
          <p:cNvSpPr>
            <a:spLocks noGrp="1"/>
          </p:cNvSpPr>
          <p:nvPr/>
        </p:nvSpPr>
        <p:spPr>
          <a:xfrm>
            <a:off x="533400" y="1485900"/>
            <a:ext cx="5219700" cy="3143250"/>
          </a:xfrm>
          <a:prstGeom prst="rect">
            <a:avLst/>
          </a:prstGeom>
          <a:solidFill>
            <a:srgbClr val="FFFFFF"/>
          </a:solidFill>
          <a:ln w="9525">
            <a:solidFill>
              <a:srgbClr val="D7DEE8"/>
            </a:solidFill>
            <a:prstDash val="solid"/>
          </a:ln>
        </p:spPr>
        <p:txBody>
          <a:bodyPr/>
          <a:lstStyle/>
          <a:p>
            <a:endParaRPr/>
          </a:p>
        </p:txBody>
      </p:sp>
      <p:sp>
        <p:nvSpPr>
          <p:cNvPr id="6" name="矩形 5">
            <a:extLst>
              <a:ext uri="{FF2B5EF4-FFF2-40B4-BE49-F238E27FC236}">
                <a16:creationId xmlns:a16="http://schemas.microsoft.com/office/drawing/2014/main" id="{3A078BD3-1ED9-4BBE-8C27-98CB53592FC6}"/>
              </a:ext>
            </a:extLst>
          </p:cNvPr>
          <p:cNvSpPr>
            <a:spLocks noGrp="1"/>
          </p:cNvSpPr>
          <p:nvPr/>
        </p:nvSpPr>
        <p:spPr>
          <a:xfrm>
            <a:off x="5981700" y="1485900"/>
            <a:ext cx="5657850" cy="3143250"/>
          </a:xfrm>
          <a:prstGeom prst="rect">
            <a:avLst/>
          </a:prstGeom>
          <a:solidFill>
            <a:srgbClr val="FFFFFF"/>
          </a:solidFill>
          <a:ln w="9525">
            <a:solidFill>
              <a:srgbClr val="D7DEE8"/>
            </a:solidFill>
            <a:prstDash val="solid"/>
          </a:ln>
        </p:spPr>
        <p:txBody>
          <a:bodyPr/>
          <a:lstStyle/>
          <a:p>
            <a:endParaRPr/>
          </a:p>
        </p:txBody>
      </p:sp>
      <p:sp>
        <p:nvSpPr>
          <p:cNvPr id="7" name="矩形 6">
            <a:extLst>
              <a:ext uri="{FF2B5EF4-FFF2-40B4-BE49-F238E27FC236}">
                <a16:creationId xmlns:a16="http://schemas.microsoft.com/office/drawing/2014/main" id="{214ADB93-7219-459F-8940-DAD33010BE8D}"/>
              </a:ext>
            </a:extLst>
          </p:cNvPr>
          <p:cNvSpPr>
            <a:spLocks noGrp="1"/>
          </p:cNvSpPr>
          <p:nvPr/>
        </p:nvSpPr>
        <p:spPr>
          <a:xfrm>
            <a:off x="704850" y="1657350"/>
            <a:ext cx="4857750" cy="228600"/>
          </a:xfrm>
          <a:prstGeom prst="rect">
            <a:avLst/>
          </a:prstGeom>
          <a:noFill/>
          <a:ln w="0">
            <a:noFill/>
            <a:prstDash val="solid"/>
          </a:ln>
        </p:spPr>
        <p:txBody>
          <a:bodyPr lIns="0" tIns="0" rIns="0" bIns="0" anchor="t">
            <a:normAutofit/>
          </a:bodyPr>
          <a:lstStyle/>
          <a:p>
            <a:pPr algn="ctr">
              <a:buNone/>
              <a:defRPr sz="1275" b="1">
                <a:solidFill>
                  <a:srgbClr val="111827"/>
                </a:solidFill>
                <a:latin typeface="Aptos"/>
                <a:ea typeface="Aptos"/>
                <a:cs typeface="Aptos"/>
              </a:defRPr>
            </a:pPr>
            <a:r>
              <a:rPr sz="1275" b="1">
                <a:solidFill>
                  <a:srgbClr val="111827"/>
                </a:solidFill>
                <a:latin typeface="Aptos"/>
                <a:ea typeface="Aptos"/>
                <a:cs typeface="Aptos"/>
              </a:rPr>
              <a:t>COUNTRY swap success rate</a:t>
            </a:r>
          </a:p>
        </p:txBody>
      </p:sp>
      <p:sp>
        <p:nvSpPr>
          <p:cNvPr id="8" name="矩形 7">
            <a:extLst>
              <a:ext uri="{FF2B5EF4-FFF2-40B4-BE49-F238E27FC236}">
                <a16:creationId xmlns:a16="http://schemas.microsoft.com/office/drawing/2014/main" id="{C87A9815-A68D-43A0-A716-D474F516B05A}"/>
              </a:ext>
            </a:extLst>
          </p:cNvPr>
          <p:cNvSpPr>
            <a:spLocks noGrp="1"/>
          </p:cNvSpPr>
          <p:nvPr/>
        </p:nvSpPr>
        <p:spPr>
          <a:xfrm>
            <a:off x="6172200" y="1657350"/>
            <a:ext cx="5276850" cy="228600"/>
          </a:xfrm>
          <a:prstGeom prst="rect">
            <a:avLst/>
          </a:prstGeom>
          <a:noFill/>
          <a:ln w="0">
            <a:noFill/>
            <a:prstDash val="solid"/>
          </a:ln>
        </p:spPr>
        <p:txBody>
          <a:bodyPr lIns="0" tIns="0" rIns="0" bIns="0" anchor="t">
            <a:normAutofit/>
          </a:bodyPr>
          <a:lstStyle/>
          <a:p>
            <a:pPr algn="ctr">
              <a:buNone/>
              <a:defRPr sz="1275" b="1">
                <a:solidFill>
                  <a:srgbClr val="111827"/>
                </a:solidFill>
                <a:latin typeface="Aptos"/>
                <a:ea typeface="Aptos"/>
                <a:cs typeface="Aptos"/>
              </a:defRPr>
            </a:pPr>
            <a:r>
              <a:rPr sz="1275" b="1">
                <a:solidFill>
                  <a:srgbClr val="111827"/>
                </a:solidFill>
                <a:latin typeface="Aptos"/>
                <a:ea typeface="Aptos"/>
                <a:cs typeface="Aptos"/>
              </a:rPr>
              <a:t>Side effect on COLOR after swapping COUNTRY</a:t>
            </a:r>
          </a:p>
        </p:txBody>
      </p:sp>
      <p:pic>
        <p:nvPicPr>
          <p:cNvPr id="34" name="图片 30"/>
          <p:cNvPicPr>
            <a:picLocks noChangeAspect="1"/>
          </p:cNvPicPr>
          <p:nvPr/>
        </p:nvPicPr>
        <p:blipFill>
          <a:blip r:embed="rId3"/>
          <a:stretch/>
        </p:blipFill>
        <p:spPr>
          <a:xfrm>
            <a:off x="6134100" y="2029420"/>
            <a:ext cx="5353050" cy="2341959"/>
          </a:xfrm>
          <a:prstGeom prst="rect">
            <a:avLst/>
          </a:prstGeom>
        </p:spPr>
      </p:pic>
      <p:pic>
        <p:nvPicPr>
          <p:cNvPr id="35" name="图片 31"/>
          <p:cNvPicPr>
            <a:picLocks noChangeAspect="1"/>
          </p:cNvPicPr>
          <p:nvPr/>
        </p:nvPicPr>
        <p:blipFill>
          <a:blip r:embed="rId4"/>
          <a:stretch/>
        </p:blipFill>
        <p:spPr>
          <a:xfrm>
            <a:off x="685800" y="2125266"/>
            <a:ext cx="4914900" cy="2150269"/>
          </a:xfrm>
          <a:prstGeom prst="rect">
            <a:avLst/>
          </a:prstGeom>
        </p:spPr>
      </p:pic>
      <p:sp>
        <p:nvSpPr>
          <p:cNvPr id="11" name="矩形 10">
            <a:extLst>
              <a:ext uri="{FF2B5EF4-FFF2-40B4-BE49-F238E27FC236}">
                <a16:creationId xmlns:a16="http://schemas.microsoft.com/office/drawing/2014/main" id="{78768DE7-E44C-495D-9691-5AF6F7DBE598}"/>
              </a:ext>
            </a:extLst>
          </p:cNvPr>
          <p:cNvSpPr>
            <a:spLocks noGrp="1"/>
          </p:cNvSpPr>
          <p:nvPr/>
        </p:nvSpPr>
        <p:spPr>
          <a:xfrm>
            <a:off x="533400" y="4857750"/>
            <a:ext cx="3390900" cy="1047750"/>
          </a:xfrm>
          <a:prstGeom prst="rect">
            <a:avLst/>
          </a:prstGeom>
          <a:solidFill>
            <a:srgbClr val="E7F7F3"/>
          </a:solidFill>
          <a:ln w="9525">
            <a:solidFill>
              <a:srgbClr val="D7DEE8"/>
            </a:solidFill>
            <a:prstDash val="solid"/>
          </a:ln>
        </p:spPr>
        <p:txBody>
          <a:bodyPr/>
          <a:lstStyle/>
          <a:p>
            <a:endParaRPr/>
          </a:p>
        </p:txBody>
      </p:sp>
      <p:sp>
        <p:nvSpPr>
          <p:cNvPr id="12" name="矩形 11">
            <a:extLst>
              <a:ext uri="{FF2B5EF4-FFF2-40B4-BE49-F238E27FC236}">
                <a16:creationId xmlns:a16="http://schemas.microsoft.com/office/drawing/2014/main" id="{108FCE24-E15F-4382-A867-68F7F1DCC8AE}"/>
              </a:ext>
            </a:extLst>
          </p:cNvPr>
          <p:cNvSpPr>
            <a:spLocks noGrp="1"/>
          </p:cNvSpPr>
          <p:nvPr/>
        </p:nvSpPr>
        <p:spPr>
          <a:xfrm>
            <a:off x="533400" y="4857750"/>
            <a:ext cx="76200" cy="1047750"/>
          </a:xfrm>
          <a:prstGeom prst="rect">
            <a:avLst/>
          </a:prstGeom>
          <a:solidFill>
            <a:srgbClr val="0F766E"/>
          </a:solidFill>
          <a:ln w="0">
            <a:solidFill>
              <a:srgbClr val="0F766E"/>
            </a:solidFill>
            <a:prstDash val="solid"/>
          </a:ln>
        </p:spPr>
        <p:txBody>
          <a:bodyPr/>
          <a:lstStyle/>
          <a:p>
            <a:endParaRPr/>
          </a:p>
        </p:txBody>
      </p:sp>
      <p:sp>
        <p:nvSpPr>
          <p:cNvPr id="13" name="矩形 12">
            <a:extLst>
              <a:ext uri="{FF2B5EF4-FFF2-40B4-BE49-F238E27FC236}">
                <a16:creationId xmlns:a16="http://schemas.microsoft.com/office/drawing/2014/main" id="{92F26B17-EB9C-4910-9E52-0FF65EB40F06}"/>
              </a:ext>
            </a:extLst>
          </p:cNvPr>
          <p:cNvSpPr>
            <a:spLocks noGrp="1"/>
          </p:cNvSpPr>
          <p:nvPr/>
        </p:nvSpPr>
        <p:spPr>
          <a:xfrm>
            <a:off x="762000" y="5010150"/>
            <a:ext cx="3028950" cy="361950"/>
          </a:xfrm>
          <a:prstGeom prst="rect">
            <a:avLst/>
          </a:prstGeom>
          <a:noFill/>
          <a:ln w="0">
            <a:noFill/>
            <a:prstDash val="solid"/>
          </a:ln>
        </p:spPr>
        <p:txBody>
          <a:bodyPr lIns="0" tIns="0" rIns="0" bIns="0" anchor="t">
            <a:normAutofit/>
          </a:bodyPr>
          <a:lstStyle/>
          <a:p>
            <a:pPr algn="l">
              <a:buNone/>
              <a:defRPr sz="2100" b="1">
                <a:solidFill>
                  <a:srgbClr val="111827"/>
                </a:solidFill>
                <a:latin typeface="Aptos"/>
                <a:ea typeface="Aptos"/>
                <a:cs typeface="Aptos"/>
              </a:defRPr>
            </a:pPr>
            <a:r>
              <a:rPr sz="2100" b="1">
                <a:solidFill>
                  <a:srgbClr val="111827"/>
                </a:solidFill>
                <a:latin typeface="Aptos"/>
                <a:ea typeface="Aptos"/>
                <a:cs typeface="Aptos"/>
              </a:rPr>
              <a:t>98.721%</a:t>
            </a:r>
          </a:p>
        </p:txBody>
      </p:sp>
      <p:sp>
        <p:nvSpPr>
          <p:cNvPr id="14" name="矩形 13">
            <a:extLst>
              <a:ext uri="{FF2B5EF4-FFF2-40B4-BE49-F238E27FC236}">
                <a16:creationId xmlns:a16="http://schemas.microsoft.com/office/drawing/2014/main" id="{43E7DD4D-F041-4FAC-8701-C953D299A341}"/>
              </a:ext>
            </a:extLst>
          </p:cNvPr>
          <p:cNvSpPr>
            <a:spLocks noGrp="1"/>
          </p:cNvSpPr>
          <p:nvPr/>
        </p:nvSpPr>
        <p:spPr>
          <a:xfrm>
            <a:off x="752475" y="5353050"/>
            <a:ext cx="3028950" cy="34290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Projector COUNTRY swap success</a:t>
            </a:r>
          </a:p>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V2: 87.340%</a:t>
            </a:r>
          </a:p>
        </p:txBody>
      </p:sp>
      <p:sp>
        <p:nvSpPr>
          <p:cNvPr id="15" name="矩形 14">
            <a:extLst>
              <a:ext uri="{FF2B5EF4-FFF2-40B4-BE49-F238E27FC236}">
                <a16:creationId xmlns:a16="http://schemas.microsoft.com/office/drawing/2014/main" id="{46C5A1C3-6EAD-4557-9D9D-C3559B872342}"/>
              </a:ext>
            </a:extLst>
          </p:cNvPr>
          <p:cNvSpPr>
            <a:spLocks noGrp="1"/>
          </p:cNvSpPr>
          <p:nvPr/>
        </p:nvSpPr>
        <p:spPr>
          <a:xfrm>
            <a:off x="4114800" y="4857750"/>
            <a:ext cx="3619500" cy="1047750"/>
          </a:xfrm>
          <a:prstGeom prst="rect">
            <a:avLst/>
          </a:prstGeom>
          <a:solidFill>
            <a:srgbClr val="EAF1FF"/>
          </a:solidFill>
          <a:ln w="9525">
            <a:solidFill>
              <a:srgbClr val="D7DEE8"/>
            </a:solidFill>
            <a:prstDash val="solid"/>
          </a:ln>
        </p:spPr>
        <p:txBody>
          <a:bodyPr/>
          <a:lstStyle/>
          <a:p>
            <a:endParaRPr/>
          </a:p>
        </p:txBody>
      </p:sp>
      <p:sp>
        <p:nvSpPr>
          <p:cNvPr id="16" name="矩形 15">
            <a:extLst>
              <a:ext uri="{FF2B5EF4-FFF2-40B4-BE49-F238E27FC236}">
                <a16:creationId xmlns:a16="http://schemas.microsoft.com/office/drawing/2014/main" id="{B49F662B-3EE7-4536-A2E1-8B8ACF4337C2}"/>
              </a:ext>
            </a:extLst>
          </p:cNvPr>
          <p:cNvSpPr>
            <a:spLocks noGrp="1"/>
          </p:cNvSpPr>
          <p:nvPr/>
        </p:nvSpPr>
        <p:spPr>
          <a:xfrm>
            <a:off x="4114800" y="4857750"/>
            <a:ext cx="76200" cy="1047750"/>
          </a:xfrm>
          <a:prstGeom prst="rect">
            <a:avLst/>
          </a:prstGeom>
          <a:solidFill>
            <a:srgbClr val="2457D6"/>
          </a:solidFill>
          <a:ln w="0">
            <a:solidFill>
              <a:srgbClr val="2457D6"/>
            </a:solidFill>
            <a:prstDash val="solid"/>
          </a:ln>
        </p:spPr>
        <p:txBody>
          <a:bodyPr/>
          <a:lstStyle/>
          <a:p>
            <a:endParaRPr/>
          </a:p>
        </p:txBody>
      </p:sp>
      <p:sp>
        <p:nvSpPr>
          <p:cNvPr id="17" name="矩形 16">
            <a:extLst>
              <a:ext uri="{FF2B5EF4-FFF2-40B4-BE49-F238E27FC236}">
                <a16:creationId xmlns:a16="http://schemas.microsoft.com/office/drawing/2014/main" id="{A4AA47C2-1161-4A28-AB77-F64AA946CA99}"/>
              </a:ext>
            </a:extLst>
          </p:cNvPr>
          <p:cNvSpPr>
            <a:spLocks noGrp="1"/>
          </p:cNvSpPr>
          <p:nvPr/>
        </p:nvSpPr>
        <p:spPr>
          <a:xfrm>
            <a:off x="4343400" y="5010150"/>
            <a:ext cx="3257550" cy="361950"/>
          </a:xfrm>
          <a:prstGeom prst="rect">
            <a:avLst/>
          </a:prstGeom>
          <a:noFill/>
          <a:ln w="0">
            <a:noFill/>
            <a:prstDash val="solid"/>
          </a:ln>
        </p:spPr>
        <p:txBody>
          <a:bodyPr lIns="0" tIns="0" rIns="0" bIns="0" anchor="t">
            <a:normAutofit/>
          </a:bodyPr>
          <a:lstStyle/>
          <a:p>
            <a:pPr algn="l">
              <a:buNone/>
              <a:defRPr sz="2100" b="1">
                <a:solidFill>
                  <a:srgbClr val="111827"/>
                </a:solidFill>
                <a:latin typeface="Aptos"/>
                <a:ea typeface="Aptos"/>
                <a:cs typeface="Aptos"/>
              </a:defRPr>
            </a:pPr>
            <a:r>
              <a:rPr sz="2100" b="1">
                <a:solidFill>
                  <a:srgbClr val="111827"/>
                </a:solidFill>
                <a:latin typeface="Aptos"/>
                <a:ea typeface="Aptos"/>
                <a:cs typeface="Aptos"/>
              </a:rPr>
              <a:t>0.333%</a:t>
            </a:r>
          </a:p>
        </p:txBody>
      </p:sp>
      <p:sp>
        <p:nvSpPr>
          <p:cNvPr id="18" name="矩形 17">
            <a:extLst>
              <a:ext uri="{FF2B5EF4-FFF2-40B4-BE49-F238E27FC236}">
                <a16:creationId xmlns:a16="http://schemas.microsoft.com/office/drawing/2014/main" id="{66CEC2AF-0BC7-4259-97AA-6130B3449B00}"/>
              </a:ext>
            </a:extLst>
          </p:cNvPr>
          <p:cNvSpPr>
            <a:spLocks noGrp="1"/>
          </p:cNvSpPr>
          <p:nvPr/>
        </p:nvSpPr>
        <p:spPr>
          <a:xfrm>
            <a:off x="4343400" y="5372100"/>
            <a:ext cx="3257550" cy="34290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Projector non-target COLOR changes</a:t>
            </a:r>
          </a:p>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V2: 0.617%; lower is better</a:t>
            </a:r>
          </a:p>
        </p:txBody>
      </p:sp>
      <p:sp>
        <p:nvSpPr>
          <p:cNvPr id="19" name="矩形 18">
            <a:extLst>
              <a:ext uri="{FF2B5EF4-FFF2-40B4-BE49-F238E27FC236}">
                <a16:creationId xmlns:a16="http://schemas.microsoft.com/office/drawing/2014/main" id="{B560E06D-9A47-4076-945A-F3C4629CA076}"/>
              </a:ext>
            </a:extLst>
          </p:cNvPr>
          <p:cNvSpPr>
            <a:spLocks noGrp="1"/>
          </p:cNvSpPr>
          <p:nvPr/>
        </p:nvSpPr>
        <p:spPr>
          <a:xfrm>
            <a:off x="7924800" y="4857750"/>
            <a:ext cx="3714750" cy="1047750"/>
          </a:xfrm>
          <a:prstGeom prst="rect">
            <a:avLst/>
          </a:prstGeom>
          <a:solidFill>
            <a:srgbClr val="F1ECFF"/>
          </a:solidFill>
          <a:ln w="9525">
            <a:solidFill>
              <a:srgbClr val="D7DEE8"/>
            </a:solidFill>
            <a:prstDash val="solid"/>
          </a:ln>
        </p:spPr>
        <p:txBody>
          <a:bodyPr/>
          <a:lstStyle/>
          <a:p>
            <a:endParaRPr/>
          </a:p>
        </p:txBody>
      </p:sp>
      <p:sp>
        <p:nvSpPr>
          <p:cNvPr id="20" name="矩形 19">
            <a:extLst>
              <a:ext uri="{FF2B5EF4-FFF2-40B4-BE49-F238E27FC236}">
                <a16:creationId xmlns:a16="http://schemas.microsoft.com/office/drawing/2014/main" id="{586351D4-8A8B-48B0-8EC5-71F39889E6E4}"/>
              </a:ext>
            </a:extLst>
          </p:cNvPr>
          <p:cNvSpPr>
            <a:spLocks noGrp="1"/>
          </p:cNvSpPr>
          <p:nvPr/>
        </p:nvSpPr>
        <p:spPr>
          <a:xfrm>
            <a:off x="7924800" y="4857750"/>
            <a:ext cx="76200" cy="1047750"/>
          </a:xfrm>
          <a:prstGeom prst="rect">
            <a:avLst/>
          </a:prstGeom>
          <a:solidFill>
            <a:srgbClr val="6D3CC7"/>
          </a:solidFill>
          <a:ln w="0">
            <a:solidFill>
              <a:srgbClr val="6D3CC7"/>
            </a:solidFill>
            <a:prstDash val="solid"/>
          </a:ln>
        </p:spPr>
        <p:txBody>
          <a:bodyPr/>
          <a:lstStyle/>
          <a:p>
            <a:endParaRPr/>
          </a:p>
        </p:txBody>
      </p:sp>
      <p:sp>
        <p:nvSpPr>
          <p:cNvPr id="21" name="矩形 20">
            <a:extLst>
              <a:ext uri="{FF2B5EF4-FFF2-40B4-BE49-F238E27FC236}">
                <a16:creationId xmlns:a16="http://schemas.microsoft.com/office/drawing/2014/main" id="{575DFA98-85D5-4DDA-9EC2-B442CE563A51}"/>
              </a:ext>
            </a:extLst>
          </p:cNvPr>
          <p:cNvSpPr>
            <a:spLocks noGrp="1"/>
          </p:cNvSpPr>
          <p:nvPr/>
        </p:nvSpPr>
        <p:spPr>
          <a:xfrm>
            <a:off x="8153400" y="5010150"/>
            <a:ext cx="3352800" cy="361950"/>
          </a:xfrm>
          <a:prstGeom prst="rect">
            <a:avLst/>
          </a:prstGeom>
          <a:noFill/>
          <a:ln w="0">
            <a:noFill/>
            <a:prstDash val="solid"/>
          </a:ln>
        </p:spPr>
        <p:txBody>
          <a:bodyPr lIns="0" tIns="0" rIns="0" bIns="0" anchor="t">
            <a:normAutofit/>
          </a:bodyPr>
          <a:lstStyle/>
          <a:p>
            <a:pPr algn="l">
              <a:buNone/>
              <a:defRPr sz="2100" b="1">
                <a:solidFill>
                  <a:srgbClr val="111827"/>
                </a:solidFill>
                <a:latin typeface="Aptos"/>
                <a:ea typeface="Aptos"/>
                <a:cs typeface="Aptos"/>
              </a:defRPr>
            </a:pPr>
            <a:r>
              <a:rPr sz="2100" b="1">
                <a:solidFill>
                  <a:srgbClr val="111827"/>
                </a:solidFill>
                <a:latin typeface="Aptos"/>
                <a:ea typeface="Aptos"/>
                <a:cs typeface="Aptos"/>
              </a:rPr>
              <a:t>12.900 pp</a:t>
            </a:r>
          </a:p>
        </p:txBody>
      </p:sp>
      <p:sp>
        <p:nvSpPr>
          <p:cNvPr id="22" name="矩形 21">
            <a:extLst>
              <a:ext uri="{FF2B5EF4-FFF2-40B4-BE49-F238E27FC236}">
                <a16:creationId xmlns:a16="http://schemas.microsoft.com/office/drawing/2014/main" id="{D8700CC2-36A5-484F-9D28-1E9889B91AC5}"/>
              </a:ext>
            </a:extLst>
          </p:cNvPr>
          <p:cNvSpPr>
            <a:spLocks noGrp="1"/>
          </p:cNvSpPr>
          <p:nvPr/>
        </p:nvSpPr>
        <p:spPr>
          <a:xfrm>
            <a:off x="8153400" y="5353050"/>
            <a:ext cx="3486150" cy="342900"/>
          </a:xfrm>
          <a:prstGeom prst="rect">
            <a:avLst/>
          </a:prstGeom>
          <a:noFill/>
          <a:ln w="0">
            <a:noFill/>
            <a:prstDash val="solid"/>
          </a:ln>
        </p:spPr>
        <p:txBody>
          <a:bodyPr lIns="0" tIns="0" rIns="0" bIns="0" anchor="t">
            <a:noAutofit/>
          </a:bodyPr>
          <a:lstStyle/>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Exact drop after zeroing the full Projector bus</a:t>
            </a:r>
          </a:p>
          <a:p>
            <a:pPr algn="l">
              <a:buNone/>
              <a:defRPr sz="1125" b="0">
                <a:solidFill>
                  <a:srgbClr val="5B6472"/>
                </a:solidFill>
                <a:latin typeface="Aptos"/>
                <a:ea typeface="Aptos"/>
                <a:cs typeface="Aptos"/>
              </a:defRPr>
            </a:pPr>
            <a:r>
              <a:rPr sz="1400" b="0" dirty="0">
                <a:solidFill>
                  <a:srgbClr val="5B6472"/>
                </a:solidFill>
                <a:latin typeface="Aptos"/>
                <a:ea typeface="Aptos"/>
                <a:cs typeface="Aptos"/>
              </a:rPr>
              <a:t>V2: 9.317 pp</a:t>
            </a:r>
          </a:p>
        </p:txBody>
      </p:sp>
    </p:spTree>
    <p:extLst>
      <p:ext uri="{BB962C8B-B14F-4D97-AF65-F5344CB8AC3E}">
        <p14:creationId xmlns:p14="http://schemas.microsoft.com/office/powerpoint/2010/main" val="4226632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CB370B2-FE2B-4160-9686-B484D44862BF}"/>
              </a:ext>
            </a:extLst>
          </p:cNvPr>
          <p:cNvSpPr>
            <a:spLocks noGrp="1"/>
          </p:cNvSpPr>
          <p:nvPr/>
        </p:nvSpPr>
        <p:spPr>
          <a:xfrm>
            <a:off x="533400" y="542925"/>
            <a:ext cx="10858500" cy="590550"/>
          </a:xfrm>
          <a:prstGeom prst="rect">
            <a:avLst/>
          </a:prstGeom>
          <a:noFill/>
          <a:ln w="0">
            <a:noFill/>
            <a:prstDash val="solid"/>
          </a:ln>
        </p:spPr>
        <p:txBody>
          <a:bodyPr lIns="0" tIns="0" rIns="0" bIns="0" anchor="t">
            <a:normAutofit fontScale="79682" lnSpcReduction="20000"/>
          </a:bodyPr>
          <a:lstStyle/>
          <a:p>
            <a:pPr algn="l">
              <a:buNone/>
              <a:defRPr sz="2700" b="1">
                <a:solidFill>
                  <a:srgbClr val="111827"/>
                </a:solidFill>
                <a:latin typeface="Aptos"/>
                <a:ea typeface="Aptos"/>
                <a:cs typeface="Aptos"/>
              </a:defRPr>
            </a:pPr>
            <a:r>
              <a:rPr sz="2700" b="1">
                <a:solidFill>
                  <a:srgbClr val="111827"/>
                </a:solidFill>
                <a:latin typeface="Aptos"/>
                <a:ea typeface="Aptos"/>
                <a:cs typeface="Aptos"/>
              </a:rPr>
              <a:t>Projector forms a controllable interface, but the scope of generalisation remains limited</a:t>
            </a:r>
          </a:p>
        </p:txBody>
      </p:sp>
      <p:sp>
        <p:nvSpPr>
          <p:cNvPr id="3" name="直接连接符 2">
            <a:extLst>
              <a:ext uri="{FF2B5EF4-FFF2-40B4-BE49-F238E27FC236}">
                <a16:creationId xmlns:a16="http://schemas.microsoft.com/office/drawing/2014/main" id="{4CA92A5A-CAC9-4182-B9DE-D72654A2ED3D}"/>
              </a:ext>
            </a:extLst>
          </p:cNvPr>
          <p:cNvSpPr>
            <a:spLocks noGrp="1"/>
          </p:cNvSpPr>
          <p:nvPr/>
        </p:nvSpPr>
        <p:spPr>
          <a:xfrm>
            <a:off x="533400" y="1257300"/>
            <a:ext cx="11125200" cy="0"/>
          </a:xfrm>
          <a:prstGeom prst="line">
            <a:avLst/>
          </a:prstGeom>
          <a:noFill/>
          <a:ln w="9525">
            <a:solidFill>
              <a:srgbClr val="D7DEE8"/>
            </a:solidFill>
            <a:prstDash val="solid"/>
          </a:ln>
        </p:spPr>
        <p:txBody>
          <a:bodyPr/>
          <a:lstStyle/>
          <a:p>
            <a:endParaRPr/>
          </a:p>
        </p:txBody>
      </p:sp>
      <p:sp>
        <p:nvSpPr>
          <p:cNvPr id="4" name="矩形 3">
            <a:extLst>
              <a:ext uri="{FF2B5EF4-FFF2-40B4-BE49-F238E27FC236}">
                <a16:creationId xmlns:a16="http://schemas.microsoft.com/office/drawing/2014/main" id="{7501FF13-12E7-4E3E-B690-7CE71CC6D1C8}"/>
              </a:ext>
            </a:extLst>
          </p:cNvPr>
          <p:cNvSpPr>
            <a:spLocks noGrp="1"/>
          </p:cNvSpPr>
          <p:nvPr/>
        </p:nvSpPr>
        <p:spPr>
          <a:xfrm>
            <a:off x="9620250" y="6438900"/>
            <a:ext cx="20383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COMP9992  ·  29</a:t>
            </a:r>
          </a:p>
        </p:txBody>
      </p:sp>
      <p:sp>
        <p:nvSpPr>
          <p:cNvPr id="5" name="矩形 4">
            <a:extLst>
              <a:ext uri="{FF2B5EF4-FFF2-40B4-BE49-F238E27FC236}">
                <a16:creationId xmlns:a16="http://schemas.microsoft.com/office/drawing/2014/main" id="{5732BC7C-6A08-4699-BD35-26250BBC1872}"/>
              </a:ext>
            </a:extLst>
          </p:cNvPr>
          <p:cNvSpPr>
            <a:spLocks noGrp="1"/>
          </p:cNvSpPr>
          <p:nvPr/>
        </p:nvSpPr>
        <p:spPr>
          <a:xfrm>
            <a:off x="609600" y="1562100"/>
            <a:ext cx="4000500" cy="285750"/>
          </a:xfrm>
          <a:prstGeom prst="rect">
            <a:avLst/>
          </a:prstGeom>
          <a:noFill/>
          <a:ln w="0">
            <a:noFill/>
            <a:prstDash val="solid"/>
          </a:ln>
        </p:spPr>
        <p:txBody>
          <a:bodyPr lIns="0" tIns="0" rIns="0" bIns="0" anchor="t">
            <a:normAutofit/>
          </a:bodyPr>
          <a:lstStyle/>
          <a:p>
            <a:pPr algn="l">
              <a:buNone/>
              <a:defRPr sz="1725" b="1">
                <a:solidFill>
                  <a:srgbClr val="B42318"/>
                </a:solidFill>
                <a:latin typeface="Aptos"/>
                <a:ea typeface="Aptos"/>
                <a:cs typeface="Aptos"/>
              </a:defRPr>
            </a:pPr>
            <a:r>
              <a:rPr sz="1725" b="1" dirty="0">
                <a:solidFill>
                  <a:srgbClr val="B42318"/>
                </a:solidFill>
                <a:latin typeface="Aptos"/>
                <a:ea typeface="Aptos"/>
                <a:cs typeface="Aptos"/>
              </a:rPr>
              <a:t>Current limitations</a:t>
            </a:r>
          </a:p>
        </p:txBody>
      </p:sp>
      <p:sp>
        <p:nvSpPr>
          <p:cNvPr id="6" name="矩形 5">
            <a:extLst>
              <a:ext uri="{FF2B5EF4-FFF2-40B4-BE49-F238E27FC236}">
                <a16:creationId xmlns:a16="http://schemas.microsoft.com/office/drawing/2014/main" id="{48CE6EC8-449D-4A9B-B0D1-6847DBC3326B}"/>
              </a:ext>
            </a:extLst>
          </p:cNvPr>
          <p:cNvSpPr>
            <a:spLocks noGrp="1"/>
          </p:cNvSpPr>
          <p:nvPr/>
        </p:nvSpPr>
        <p:spPr>
          <a:xfrm>
            <a:off x="6419850" y="1562100"/>
            <a:ext cx="4000500" cy="285750"/>
          </a:xfrm>
          <a:prstGeom prst="rect">
            <a:avLst/>
          </a:prstGeom>
          <a:noFill/>
          <a:ln w="0">
            <a:noFill/>
            <a:prstDash val="solid"/>
          </a:ln>
        </p:spPr>
        <p:txBody>
          <a:bodyPr lIns="0" tIns="0" rIns="0" bIns="0" anchor="t">
            <a:normAutofit/>
          </a:bodyPr>
          <a:lstStyle/>
          <a:p>
            <a:pPr algn="l">
              <a:buNone/>
              <a:defRPr sz="1725" b="1">
                <a:solidFill>
                  <a:srgbClr val="2457D6"/>
                </a:solidFill>
                <a:latin typeface="Aptos"/>
                <a:ea typeface="Aptos"/>
                <a:cs typeface="Aptos"/>
              </a:defRPr>
            </a:pPr>
            <a:r>
              <a:rPr sz="1725" b="1">
                <a:solidFill>
                  <a:srgbClr val="2457D6"/>
                </a:solidFill>
                <a:latin typeface="Aptos"/>
                <a:ea typeface="Aptos"/>
                <a:cs typeface="Aptos"/>
              </a:rPr>
              <a:t>Next steps</a:t>
            </a:r>
          </a:p>
        </p:txBody>
      </p:sp>
      <p:sp>
        <p:nvSpPr>
          <p:cNvPr id="7" name="矩形 6">
            <a:extLst>
              <a:ext uri="{FF2B5EF4-FFF2-40B4-BE49-F238E27FC236}">
                <a16:creationId xmlns:a16="http://schemas.microsoft.com/office/drawing/2014/main" id="{2FA1FED7-6E17-4184-A7BD-F56701526246}"/>
              </a:ext>
            </a:extLst>
          </p:cNvPr>
          <p:cNvSpPr>
            <a:spLocks noGrp="1"/>
          </p:cNvSpPr>
          <p:nvPr/>
        </p:nvSpPr>
        <p:spPr>
          <a:xfrm>
            <a:off x="609600" y="2076450"/>
            <a:ext cx="66675" cy="666750"/>
          </a:xfrm>
          <a:prstGeom prst="rect">
            <a:avLst/>
          </a:prstGeom>
          <a:solidFill>
            <a:srgbClr val="B42318"/>
          </a:solidFill>
          <a:ln w="0">
            <a:solidFill>
              <a:srgbClr val="B42318"/>
            </a:solidFill>
            <a:prstDash val="solid"/>
          </a:ln>
        </p:spPr>
        <p:txBody>
          <a:bodyPr/>
          <a:lstStyle/>
          <a:p>
            <a:endParaRPr/>
          </a:p>
        </p:txBody>
      </p:sp>
      <p:sp>
        <p:nvSpPr>
          <p:cNvPr id="8" name="矩形 7">
            <a:extLst>
              <a:ext uri="{FF2B5EF4-FFF2-40B4-BE49-F238E27FC236}">
                <a16:creationId xmlns:a16="http://schemas.microsoft.com/office/drawing/2014/main" id="{D6A02A84-608A-4B38-9579-E895BE8462EF}"/>
              </a:ext>
            </a:extLst>
          </p:cNvPr>
          <p:cNvSpPr>
            <a:spLocks noGrp="1"/>
          </p:cNvSpPr>
          <p:nvPr/>
        </p:nvSpPr>
        <p:spPr>
          <a:xfrm>
            <a:off x="838200" y="20383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The task is highly controlled</a:t>
            </a:r>
          </a:p>
        </p:txBody>
      </p:sp>
      <p:sp>
        <p:nvSpPr>
          <p:cNvPr id="9" name="矩形 8">
            <a:extLst>
              <a:ext uri="{FF2B5EF4-FFF2-40B4-BE49-F238E27FC236}">
                <a16:creationId xmlns:a16="http://schemas.microsoft.com/office/drawing/2014/main" id="{4B295633-2602-4C32-A9D1-CC000ED1BFFC}"/>
              </a:ext>
            </a:extLst>
          </p:cNvPr>
          <p:cNvSpPr>
            <a:spLocks noGrp="1"/>
          </p:cNvSpPr>
          <p:nvPr/>
        </p:nvSpPr>
        <p:spPr>
          <a:xfrm>
            <a:off x="2571750" y="2038350"/>
            <a:ext cx="32194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err="1">
                <a:solidFill>
                  <a:srgbClr val="5B6472"/>
                </a:solidFill>
                <a:latin typeface="Aptos"/>
                <a:ea typeface="Aptos"/>
                <a:cs typeface="Aptos"/>
              </a:rPr>
              <a:t>DualTag</a:t>
            </a:r>
            <a:r>
              <a:rPr sz="1400" b="0" dirty="0">
                <a:solidFill>
                  <a:srgbClr val="5B6472"/>
                </a:solidFill>
                <a:latin typeface="Aptos"/>
                <a:ea typeface="Aptos"/>
                <a:cs typeface="Aptos"/>
              </a:rPr>
              <a:t> enables precise causal audits, but may overestimate how clear concept boundaries are in real text.</a:t>
            </a:r>
          </a:p>
        </p:txBody>
      </p:sp>
      <p:sp>
        <p:nvSpPr>
          <p:cNvPr id="10" name="矩形 9">
            <a:extLst>
              <a:ext uri="{FF2B5EF4-FFF2-40B4-BE49-F238E27FC236}">
                <a16:creationId xmlns:a16="http://schemas.microsoft.com/office/drawing/2014/main" id="{6484D14C-350F-4E7C-8580-CF09447C4C1F}"/>
              </a:ext>
            </a:extLst>
          </p:cNvPr>
          <p:cNvSpPr>
            <a:spLocks noGrp="1"/>
          </p:cNvSpPr>
          <p:nvPr/>
        </p:nvSpPr>
        <p:spPr>
          <a:xfrm>
            <a:off x="609600" y="3105150"/>
            <a:ext cx="66675" cy="666750"/>
          </a:xfrm>
          <a:prstGeom prst="rect">
            <a:avLst/>
          </a:prstGeom>
          <a:solidFill>
            <a:srgbClr val="B42318"/>
          </a:solidFill>
          <a:ln w="0">
            <a:solidFill>
              <a:srgbClr val="B42318"/>
            </a:solidFill>
            <a:prstDash val="solid"/>
          </a:ln>
        </p:spPr>
        <p:txBody>
          <a:bodyPr/>
          <a:lstStyle/>
          <a:p>
            <a:endParaRPr/>
          </a:p>
        </p:txBody>
      </p:sp>
      <p:sp>
        <p:nvSpPr>
          <p:cNvPr id="11" name="矩形 10">
            <a:extLst>
              <a:ext uri="{FF2B5EF4-FFF2-40B4-BE49-F238E27FC236}">
                <a16:creationId xmlns:a16="http://schemas.microsoft.com/office/drawing/2014/main" id="{C05F69F0-C091-4FB8-8A40-3FEE7EB6A1AE}"/>
              </a:ext>
            </a:extLst>
          </p:cNvPr>
          <p:cNvSpPr>
            <a:spLocks noGrp="1"/>
          </p:cNvSpPr>
          <p:nvPr/>
        </p:nvSpPr>
        <p:spPr>
          <a:xfrm>
            <a:off x="838200" y="30670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Two concepts only</a:t>
            </a:r>
          </a:p>
        </p:txBody>
      </p:sp>
      <p:sp>
        <p:nvSpPr>
          <p:cNvPr id="12" name="矩形 11">
            <a:extLst>
              <a:ext uri="{FF2B5EF4-FFF2-40B4-BE49-F238E27FC236}">
                <a16:creationId xmlns:a16="http://schemas.microsoft.com/office/drawing/2014/main" id="{06126A5A-4446-4B0C-AD8F-9A96FB22A81D}"/>
              </a:ext>
            </a:extLst>
          </p:cNvPr>
          <p:cNvSpPr>
            <a:spLocks noGrp="1"/>
          </p:cNvSpPr>
          <p:nvPr/>
        </p:nvSpPr>
        <p:spPr>
          <a:xfrm>
            <a:off x="2571750" y="3067050"/>
            <a:ext cx="3219450" cy="6858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Only fixed COUNTRY and COLOR slots are tested; more concepts and explicit hierarchical composition remain unverified.</a:t>
            </a:r>
          </a:p>
        </p:txBody>
      </p:sp>
      <p:sp>
        <p:nvSpPr>
          <p:cNvPr id="13" name="矩形 12">
            <a:extLst>
              <a:ext uri="{FF2B5EF4-FFF2-40B4-BE49-F238E27FC236}">
                <a16:creationId xmlns:a16="http://schemas.microsoft.com/office/drawing/2014/main" id="{F688A498-9427-4ADA-BB21-C4F1C1E365DA}"/>
              </a:ext>
            </a:extLst>
          </p:cNvPr>
          <p:cNvSpPr>
            <a:spLocks noGrp="1"/>
          </p:cNvSpPr>
          <p:nvPr/>
        </p:nvSpPr>
        <p:spPr>
          <a:xfrm>
            <a:off x="609600" y="4133850"/>
            <a:ext cx="66675" cy="666750"/>
          </a:xfrm>
          <a:prstGeom prst="rect">
            <a:avLst/>
          </a:prstGeom>
          <a:solidFill>
            <a:srgbClr val="B42318"/>
          </a:solidFill>
          <a:ln w="0">
            <a:solidFill>
              <a:srgbClr val="B42318"/>
            </a:solidFill>
            <a:prstDash val="solid"/>
          </a:ln>
        </p:spPr>
        <p:txBody>
          <a:bodyPr/>
          <a:lstStyle/>
          <a:p>
            <a:endParaRPr/>
          </a:p>
        </p:txBody>
      </p:sp>
      <p:sp>
        <p:nvSpPr>
          <p:cNvPr id="14" name="矩形 13">
            <a:extLst>
              <a:ext uri="{FF2B5EF4-FFF2-40B4-BE49-F238E27FC236}">
                <a16:creationId xmlns:a16="http://schemas.microsoft.com/office/drawing/2014/main" id="{35798FA7-4AFD-47F9-9D60-5D962901688E}"/>
              </a:ext>
            </a:extLst>
          </p:cNvPr>
          <p:cNvSpPr>
            <a:spLocks noGrp="1"/>
          </p:cNvSpPr>
          <p:nvPr/>
        </p:nvSpPr>
        <p:spPr>
          <a:xfrm>
            <a:off x="838200" y="40957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Limited </a:t>
            </a:r>
            <a:r>
              <a:rPr sz="1600" b="1" dirty="0" err="1">
                <a:solidFill>
                  <a:srgbClr val="111827"/>
                </a:solidFill>
                <a:latin typeface="Aptos"/>
                <a:ea typeface="Aptos"/>
                <a:cs typeface="Aptos"/>
              </a:rPr>
              <a:t>generalisation</a:t>
            </a:r>
            <a:endParaRPr sz="1600" b="1" dirty="0">
              <a:solidFill>
                <a:srgbClr val="111827"/>
              </a:solidFill>
              <a:latin typeface="Aptos"/>
              <a:ea typeface="Aptos"/>
              <a:cs typeface="Aptos"/>
            </a:endParaRPr>
          </a:p>
        </p:txBody>
      </p:sp>
      <p:sp>
        <p:nvSpPr>
          <p:cNvPr id="15" name="矩形 14">
            <a:extLst>
              <a:ext uri="{FF2B5EF4-FFF2-40B4-BE49-F238E27FC236}">
                <a16:creationId xmlns:a16="http://schemas.microsoft.com/office/drawing/2014/main" id="{BEEFCC7B-1E0A-496A-86BE-05AE4CE6A710}"/>
              </a:ext>
            </a:extLst>
          </p:cNvPr>
          <p:cNvSpPr>
            <a:spLocks noGrp="1"/>
          </p:cNvSpPr>
          <p:nvPr/>
        </p:nvSpPr>
        <p:spPr>
          <a:xfrm>
            <a:off x="2571750" y="4095750"/>
            <a:ext cx="3219450" cy="685800"/>
          </a:xfrm>
          <a:prstGeom prst="rect">
            <a:avLst/>
          </a:prstGeom>
          <a:noFill/>
          <a:ln w="0">
            <a:noFill/>
            <a:prstDash val="solid"/>
          </a:ln>
        </p:spPr>
        <p:txBody>
          <a:bodyPr lIns="0" tIns="0" rIns="0" bIns="0" anchor="t">
            <a:no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Tests with three model seeds have limited power, and the results cannot be directly </a:t>
            </a:r>
            <a:r>
              <a:rPr sz="1400" b="0" dirty="0" err="1">
                <a:solidFill>
                  <a:srgbClr val="5B6472"/>
                </a:solidFill>
                <a:latin typeface="Aptos"/>
                <a:ea typeface="Aptos"/>
                <a:cs typeface="Aptos"/>
              </a:rPr>
              <a:t>generalised</a:t>
            </a:r>
            <a:r>
              <a:rPr sz="1400" b="0" dirty="0">
                <a:solidFill>
                  <a:srgbClr val="5B6472"/>
                </a:solidFill>
                <a:latin typeface="Aptos"/>
                <a:ea typeface="Aptos"/>
                <a:cs typeface="Aptos"/>
              </a:rPr>
              <a:t> to larger models or open-domain corpora.</a:t>
            </a:r>
          </a:p>
        </p:txBody>
      </p:sp>
      <p:sp>
        <p:nvSpPr>
          <p:cNvPr id="16" name="矩形 15">
            <a:extLst>
              <a:ext uri="{FF2B5EF4-FFF2-40B4-BE49-F238E27FC236}">
                <a16:creationId xmlns:a16="http://schemas.microsoft.com/office/drawing/2014/main" id="{1C8F0296-981B-4293-8E7D-0CE196C90A46}"/>
              </a:ext>
            </a:extLst>
          </p:cNvPr>
          <p:cNvSpPr>
            <a:spLocks noGrp="1"/>
          </p:cNvSpPr>
          <p:nvPr/>
        </p:nvSpPr>
        <p:spPr>
          <a:xfrm>
            <a:off x="6419850" y="2076450"/>
            <a:ext cx="66675" cy="666750"/>
          </a:xfrm>
          <a:prstGeom prst="rect">
            <a:avLst/>
          </a:prstGeom>
          <a:solidFill>
            <a:srgbClr val="2457D6"/>
          </a:solidFill>
          <a:ln w="0">
            <a:solidFill>
              <a:srgbClr val="2457D6"/>
            </a:solidFill>
            <a:prstDash val="solid"/>
          </a:ln>
        </p:spPr>
        <p:txBody>
          <a:bodyPr/>
          <a:lstStyle/>
          <a:p>
            <a:endParaRPr/>
          </a:p>
        </p:txBody>
      </p:sp>
      <p:sp>
        <p:nvSpPr>
          <p:cNvPr id="17" name="矩形 16">
            <a:extLst>
              <a:ext uri="{FF2B5EF4-FFF2-40B4-BE49-F238E27FC236}">
                <a16:creationId xmlns:a16="http://schemas.microsoft.com/office/drawing/2014/main" id="{682BE070-7EC9-4777-B539-FED18EA2B901}"/>
              </a:ext>
            </a:extLst>
          </p:cNvPr>
          <p:cNvSpPr>
            <a:spLocks noGrp="1"/>
          </p:cNvSpPr>
          <p:nvPr/>
        </p:nvSpPr>
        <p:spPr>
          <a:xfrm>
            <a:off x="6648450" y="20383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Extend Projector first</a:t>
            </a:r>
          </a:p>
        </p:txBody>
      </p:sp>
      <p:sp>
        <p:nvSpPr>
          <p:cNvPr id="18" name="矩形 17">
            <a:extLst>
              <a:ext uri="{FF2B5EF4-FFF2-40B4-BE49-F238E27FC236}">
                <a16:creationId xmlns:a16="http://schemas.microsoft.com/office/drawing/2014/main" id="{F3F1A3EA-F6D8-499A-B9EC-938B23D8FD7C}"/>
              </a:ext>
            </a:extLst>
          </p:cNvPr>
          <p:cNvSpPr>
            <a:spLocks noGrp="1"/>
          </p:cNvSpPr>
          <p:nvPr/>
        </p:nvSpPr>
        <p:spPr>
          <a:xfrm>
            <a:off x="8382000" y="2038350"/>
            <a:ext cx="31051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Use simple projection as a strong baseline and replicate on real text and additional model scales.</a:t>
            </a:r>
          </a:p>
        </p:txBody>
      </p:sp>
      <p:sp>
        <p:nvSpPr>
          <p:cNvPr id="19" name="矩形 18">
            <a:extLst>
              <a:ext uri="{FF2B5EF4-FFF2-40B4-BE49-F238E27FC236}">
                <a16:creationId xmlns:a16="http://schemas.microsoft.com/office/drawing/2014/main" id="{AFD2D6F6-B87C-480E-806D-90CD9F7FD609}"/>
              </a:ext>
            </a:extLst>
          </p:cNvPr>
          <p:cNvSpPr>
            <a:spLocks noGrp="1"/>
          </p:cNvSpPr>
          <p:nvPr/>
        </p:nvSpPr>
        <p:spPr>
          <a:xfrm>
            <a:off x="6419850" y="3105150"/>
            <a:ext cx="66675" cy="666750"/>
          </a:xfrm>
          <a:prstGeom prst="rect">
            <a:avLst/>
          </a:prstGeom>
          <a:solidFill>
            <a:srgbClr val="2457D6"/>
          </a:solidFill>
          <a:ln w="0">
            <a:solidFill>
              <a:srgbClr val="2457D6"/>
            </a:solidFill>
            <a:prstDash val="solid"/>
          </a:ln>
        </p:spPr>
        <p:txBody>
          <a:bodyPr/>
          <a:lstStyle/>
          <a:p>
            <a:endParaRPr/>
          </a:p>
        </p:txBody>
      </p:sp>
      <p:sp>
        <p:nvSpPr>
          <p:cNvPr id="20" name="矩形 19">
            <a:extLst>
              <a:ext uri="{FF2B5EF4-FFF2-40B4-BE49-F238E27FC236}">
                <a16:creationId xmlns:a16="http://schemas.microsoft.com/office/drawing/2014/main" id="{B36F0728-B9D3-44D9-9BF0-1B6F50165A7D}"/>
              </a:ext>
            </a:extLst>
          </p:cNvPr>
          <p:cNvSpPr>
            <a:spLocks noGrp="1"/>
          </p:cNvSpPr>
          <p:nvPr/>
        </p:nvSpPr>
        <p:spPr>
          <a:xfrm>
            <a:off x="6648450" y="30670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Audit leakage and hierarchy</a:t>
            </a:r>
          </a:p>
        </p:txBody>
      </p:sp>
      <p:sp>
        <p:nvSpPr>
          <p:cNvPr id="21" name="矩形 20">
            <a:extLst>
              <a:ext uri="{FF2B5EF4-FFF2-40B4-BE49-F238E27FC236}">
                <a16:creationId xmlns:a16="http://schemas.microsoft.com/office/drawing/2014/main" id="{1C18F66F-C70B-47DD-A857-6D0AD341DB96}"/>
              </a:ext>
            </a:extLst>
          </p:cNvPr>
          <p:cNvSpPr>
            <a:spLocks noGrp="1"/>
          </p:cNvSpPr>
          <p:nvPr/>
        </p:nvSpPr>
        <p:spPr>
          <a:xfrm>
            <a:off x="8382000" y="3067050"/>
            <a:ext cx="31051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Increase concept count and audit parent–child composition, coverage, and non-target side effects.</a:t>
            </a:r>
          </a:p>
        </p:txBody>
      </p:sp>
      <p:sp>
        <p:nvSpPr>
          <p:cNvPr id="22" name="矩形 21">
            <a:extLst>
              <a:ext uri="{FF2B5EF4-FFF2-40B4-BE49-F238E27FC236}">
                <a16:creationId xmlns:a16="http://schemas.microsoft.com/office/drawing/2014/main" id="{F9E46582-3924-4F7B-9A57-C828D68AA99F}"/>
              </a:ext>
            </a:extLst>
          </p:cNvPr>
          <p:cNvSpPr>
            <a:spLocks noGrp="1"/>
          </p:cNvSpPr>
          <p:nvPr/>
        </p:nvSpPr>
        <p:spPr>
          <a:xfrm>
            <a:off x="6419850" y="4133850"/>
            <a:ext cx="66675" cy="666750"/>
          </a:xfrm>
          <a:prstGeom prst="rect">
            <a:avLst/>
          </a:prstGeom>
          <a:solidFill>
            <a:srgbClr val="2457D6"/>
          </a:solidFill>
          <a:ln w="0">
            <a:solidFill>
              <a:srgbClr val="2457D6"/>
            </a:solidFill>
            <a:prstDash val="solid"/>
          </a:ln>
        </p:spPr>
        <p:txBody>
          <a:bodyPr/>
          <a:lstStyle/>
          <a:p>
            <a:endParaRPr/>
          </a:p>
        </p:txBody>
      </p:sp>
      <p:sp>
        <p:nvSpPr>
          <p:cNvPr id="23" name="矩形 22">
            <a:extLst>
              <a:ext uri="{FF2B5EF4-FFF2-40B4-BE49-F238E27FC236}">
                <a16:creationId xmlns:a16="http://schemas.microsoft.com/office/drawing/2014/main" id="{C45C7415-3179-45FF-AD51-AE497315B35A}"/>
              </a:ext>
            </a:extLst>
          </p:cNvPr>
          <p:cNvSpPr>
            <a:spLocks noGrp="1"/>
          </p:cNvSpPr>
          <p:nvPr/>
        </p:nvSpPr>
        <p:spPr>
          <a:xfrm>
            <a:off x="6648450" y="4095750"/>
            <a:ext cx="1619250" cy="266700"/>
          </a:xfrm>
          <a:prstGeom prst="rect">
            <a:avLst/>
          </a:prstGeom>
          <a:noFill/>
          <a:ln w="0">
            <a:noFill/>
            <a:prstDash val="solid"/>
          </a:ln>
        </p:spPr>
        <p:txBody>
          <a:bodyPr lIns="0" tIns="0" rIns="0" bIns="0" anchor="t">
            <a:noAutofit/>
          </a:bodyPr>
          <a:lstStyle/>
          <a:p>
            <a:pPr algn="l">
              <a:buNone/>
              <a:defRPr sz="1350" b="1">
                <a:solidFill>
                  <a:srgbClr val="111827"/>
                </a:solidFill>
                <a:latin typeface="Aptos"/>
                <a:ea typeface="Aptos"/>
                <a:cs typeface="Aptos"/>
              </a:defRPr>
            </a:pPr>
            <a:r>
              <a:rPr sz="1600" b="1" dirty="0">
                <a:solidFill>
                  <a:srgbClr val="111827"/>
                </a:solidFill>
                <a:latin typeface="Aptos"/>
                <a:ea typeface="Aptos"/>
                <a:cs typeface="Aptos"/>
              </a:rPr>
              <a:t>Ablate bus complexity</a:t>
            </a:r>
          </a:p>
        </p:txBody>
      </p:sp>
      <p:sp>
        <p:nvSpPr>
          <p:cNvPr id="24" name="矩形 23">
            <a:extLst>
              <a:ext uri="{FF2B5EF4-FFF2-40B4-BE49-F238E27FC236}">
                <a16:creationId xmlns:a16="http://schemas.microsoft.com/office/drawing/2014/main" id="{E86DE8B4-C3B5-4A49-B127-3B448922E11D}"/>
              </a:ext>
            </a:extLst>
          </p:cNvPr>
          <p:cNvSpPr>
            <a:spLocks noGrp="1"/>
          </p:cNvSpPr>
          <p:nvPr/>
        </p:nvSpPr>
        <p:spPr>
          <a:xfrm>
            <a:off x="8382000" y="4095750"/>
            <a:ext cx="3105150" cy="685800"/>
          </a:xfrm>
          <a:prstGeom prst="rect">
            <a:avLst/>
          </a:prstGeom>
          <a:noFill/>
          <a:ln w="0">
            <a:noFill/>
            <a:prstDash val="solid"/>
          </a:ln>
        </p:spPr>
        <p:txBody>
          <a:bodyPr lIns="0" tIns="0" rIns="0" bIns="0" anchor="t">
            <a:normAutofit/>
          </a:bodyPr>
          <a:lstStyle/>
          <a:p>
            <a:pPr algn="l">
              <a:buNone/>
              <a:defRPr sz="1200" b="0">
                <a:solidFill>
                  <a:srgbClr val="5B6472"/>
                </a:solidFill>
                <a:latin typeface="Aptos"/>
                <a:ea typeface="Aptos"/>
                <a:cs typeface="Aptos"/>
              </a:defRPr>
            </a:pPr>
            <a:r>
              <a:rPr sz="1400" b="0" dirty="0">
                <a:solidFill>
                  <a:srgbClr val="5B6472"/>
                </a:solidFill>
                <a:latin typeface="Aptos"/>
                <a:ea typeface="Aptos"/>
                <a:cs typeface="Aptos"/>
              </a:rPr>
              <a:t>Ablate communication range, slot width, and write-back separately; retain only components with independent benefits.</a:t>
            </a:r>
          </a:p>
        </p:txBody>
      </p:sp>
      <p:sp>
        <p:nvSpPr>
          <p:cNvPr id="25" name="矩形 24">
            <a:extLst>
              <a:ext uri="{FF2B5EF4-FFF2-40B4-BE49-F238E27FC236}">
                <a16:creationId xmlns:a16="http://schemas.microsoft.com/office/drawing/2014/main" id="{53901474-C384-44FF-9135-684BFC8ADCBF}"/>
              </a:ext>
            </a:extLst>
          </p:cNvPr>
          <p:cNvSpPr>
            <a:spLocks noGrp="1"/>
          </p:cNvSpPr>
          <p:nvPr/>
        </p:nvSpPr>
        <p:spPr>
          <a:xfrm>
            <a:off x="609600" y="5429250"/>
            <a:ext cx="10934700" cy="704850"/>
          </a:xfrm>
          <a:prstGeom prst="rect">
            <a:avLst/>
          </a:prstGeom>
          <a:solidFill>
            <a:srgbClr val="111A2E"/>
          </a:solidFill>
          <a:ln w="0">
            <a:solidFill>
              <a:srgbClr val="111A2E"/>
            </a:solidFill>
            <a:prstDash val="solid"/>
          </a:ln>
        </p:spPr>
        <p:txBody>
          <a:bodyPr/>
          <a:lstStyle/>
          <a:p>
            <a:endParaRPr/>
          </a:p>
        </p:txBody>
      </p:sp>
      <p:sp>
        <p:nvSpPr>
          <p:cNvPr id="26" name="矩形 25">
            <a:extLst>
              <a:ext uri="{FF2B5EF4-FFF2-40B4-BE49-F238E27FC236}">
                <a16:creationId xmlns:a16="http://schemas.microsoft.com/office/drawing/2014/main" id="{29146057-77DB-40B1-81E7-C62B4875D28D}"/>
              </a:ext>
            </a:extLst>
          </p:cNvPr>
          <p:cNvSpPr>
            <a:spLocks noGrp="1"/>
          </p:cNvSpPr>
          <p:nvPr/>
        </p:nvSpPr>
        <p:spPr>
          <a:xfrm>
            <a:off x="838200" y="5591175"/>
            <a:ext cx="10477500" cy="285750"/>
          </a:xfrm>
          <a:prstGeom prst="rect">
            <a:avLst/>
          </a:prstGeom>
          <a:noFill/>
          <a:ln w="0">
            <a:noFill/>
            <a:prstDash val="solid"/>
          </a:ln>
        </p:spPr>
        <p:txBody>
          <a:bodyPr lIns="0" tIns="0" rIns="0" bIns="0" anchor="t">
            <a:noAutofit/>
          </a:bodyPr>
          <a:lstStyle/>
          <a:p>
            <a:pPr algn="ctr">
              <a:buNone/>
              <a:defRPr sz="1350" b="1">
                <a:solidFill>
                  <a:srgbClr val="FFFFFF"/>
                </a:solidFill>
                <a:latin typeface="Aptos"/>
                <a:ea typeface="Aptos"/>
                <a:cs typeface="Aptos"/>
              </a:defRPr>
            </a:pPr>
            <a:r>
              <a:rPr sz="1600" b="1" dirty="0">
                <a:solidFill>
                  <a:srgbClr val="FFFFFF"/>
                </a:solidFill>
                <a:latin typeface="Aptos"/>
                <a:ea typeface="Aptos"/>
                <a:cs typeface="Aptos"/>
              </a:rPr>
              <a:t>The most reliable direction is to establish a strong, simple concept projector first, then prove the necessity of each added communication mechanism.</a:t>
            </a:r>
          </a:p>
        </p:txBody>
      </p:sp>
      <p:sp>
        <p:nvSpPr>
          <p:cNvPr id="27" name="矩形 26">
            <a:extLst>
              <a:ext uri="{FF2B5EF4-FFF2-40B4-BE49-F238E27FC236}">
                <a16:creationId xmlns:a16="http://schemas.microsoft.com/office/drawing/2014/main" id="{73F2A025-5F56-4CD2-A66E-BA1BDB3FBDB9}"/>
              </a:ext>
            </a:extLst>
          </p:cNvPr>
          <p:cNvSpPr>
            <a:spLocks noGrp="1"/>
          </p:cNvSpPr>
          <p:nvPr/>
        </p:nvSpPr>
        <p:spPr>
          <a:xfrm>
            <a:off x="9486900" y="6324600"/>
            <a:ext cx="2171700" cy="285750"/>
          </a:xfrm>
          <a:prstGeom prst="rect">
            <a:avLst/>
          </a:prstGeom>
          <a:solidFill>
            <a:srgbClr val="F8FAFC"/>
          </a:solidFill>
          <a:ln w="0">
            <a:solidFill>
              <a:srgbClr val="F8FAFC"/>
            </a:solidFill>
            <a:prstDash val="solid"/>
          </a:ln>
        </p:spPr>
        <p:txBody>
          <a:bodyPr/>
          <a:lstStyle/>
          <a:p>
            <a:endParaRPr/>
          </a:p>
        </p:txBody>
      </p:sp>
      <p:sp>
        <p:nvSpPr>
          <p:cNvPr id="28" name="矩形 27">
            <a:extLst>
              <a:ext uri="{FF2B5EF4-FFF2-40B4-BE49-F238E27FC236}">
                <a16:creationId xmlns:a16="http://schemas.microsoft.com/office/drawing/2014/main" id="{B9E30165-6301-498C-9AA5-359D6234506D}"/>
              </a:ext>
            </a:extLst>
          </p:cNvPr>
          <p:cNvSpPr>
            <a:spLocks noGrp="1"/>
          </p:cNvSpPr>
          <p:nvPr/>
        </p:nvSpPr>
        <p:spPr>
          <a:xfrm>
            <a:off x="10572750" y="6153150"/>
            <a:ext cx="1085850" cy="152400"/>
          </a:xfrm>
          <a:prstGeom prst="rect">
            <a:avLst/>
          </a:prstGeom>
          <a:noFill/>
          <a:ln w="0">
            <a:noFill/>
            <a:prstDash val="solid"/>
          </a:ln>
        </p:spPr>
        <p:txBody>
          <a:bodyPr lIns="0" tIns="0" rIns="0" bIns="0" anchor="t">
            <a:normAutofit/>
          </a:bodyPr>
          <a:lstStyle/>
          <a:p>
            <a:pPr algn="r">
              <a:buNone/>
              <a:defRPr sz="825" b="0">
                <a:solidFill>
                  <a:srgbClr val="8B95A5"/>
                </a:solidFill>
                <a:latin typeface="Aptos"/>
                <a:ea typeface="Aptos"/>
                <a:cs typeface="Aptos"/>
              </a:defRPr>
            </a:pPr>
            <a:r>
              <a:rPr sz="825" b="0">
                <a:solidFill>
                  <a:srgbClr val="8B95A5"/>
                </a:solidFill>
                <a:latin typeface="Aptos"/>
                <a:ea typeface="Aptos"/>
                <a:cs typeface="Aptos"/>
              </a:rPr>
              <a:t>Page 29</a:t>
            </a:r>
          </a:p>
        </p:txBody>
      </p:sp>
      <p:sp>
        <p:nvSpPr>
          <p:cNvPr id="29" name="矩形 28">
            <a:extLst>
              <a:ext uri="{FF2B5EF4-FFF2-40B4-BE49-F238E27FC236}">
                <a16:creationId xmlns:a16="http://schemas.microsoft.com/office/drawing/2014/main" id="{9E8C0EB2-C83C-4060-A515-786AA54E98D5}"/>
              </a:ext>
            </a:extLst>
          </p:cNvPr>
          <p:cNvSpPr>
            <a:spLocks noGrp="1"/>
          </p:cNvSpPr>
          <p:nvPr/>
        </p:nvSpPr>
        <p:spPr>
          <a:xfrm>
            <a:off x="609600" y="6410325"/>
            <a:ext cx="1714500" cy="190500"/>
          </a:xfrm>
          <a:prstGeom prst="rect">
            <a:avLst/>
          </a:prstGeom>
          <a:noFill/>
          <a:ln w="0">
            <a:noFill/>
            <a:prstDash val="solid"/>
          </a:ln>
        </p:spPr>
        <p:txBody>
          <a:bodyPr lIns="0" tIns="0" rIns="0" bIns="0" anchor="t">
            <a:normAutofit/>
          </a:bodyPr>
          <a:lstStyle/>
          <a:p>
            <a:pPr algn="l">
              <a:buNone/>
              <a:defRPr sz="900" b="0">
                <a:solidFill>
                  <a:srgbClr val="8B95A5"/>
                </a:solidFill>
                <a:latin typeface="Aptos"/>
                <a:ea typeface="Aptos"/>
                <a:cs typeface="Aptos"/>
              </a:defRPr>
            </a:pPr>
            <a:r>
              <a:rPr sz="1050" b="0">
                <a:solidFill>
                  <a:srgbClr val="8B95A5"/>
                </a:solidFill>
                <a:latin typeface="Aptos"/>
                <a:ea typeface="Aptos"/>
                <a:cs typeface="Aptos"/>
              </a:rPr>
              <a:t>Questions and discussion</a:t>
            </a:r>
          </a:p>
        </p:txBody>
      </p:sp>
      <p:sp>
        <p:nvSpPr>
          <p:cNvPr id="30" name="Experiment 4 section kicker">
            <a:extLst>
              <a:ext uri="{FF2B5EF4-FFF2-40B4-BE49-F238E27FC236}">
                <a16:creationId xmlns:a16="http://schemas.microsoft.com/office/drawing/2014/main" id="{A8C3E9AE-A9A7-4CBD-8B6D-01CD7FC43DF7}"/>
              </a:ext>
            </a:extLst>
          </p:cNvPr>
          <p:cNvSpPr>
            <a:spLocks noGrp="1"/>
          </p:cNvSpPr>
          <p:nvPr/>
        </p:nvSpPr>
        <p:spPr>
          <a:xfrm>
            <a:off x="533400" y="266700"/>
            <a:ext cx="5905500" cy="228600"/>
          </a:xfrm>
          <a:prstGeom prst="rect">
            <a:avLst/>
          </a:prstGeom>
          <a:noFill/>
          <a:ln w="0">
            <a:noFill/>
            <a:prstDash val="solid"/>
          </a:ln>
        </p:spPr>
        <p:txBody>
          <a:bodyPr lIns="0" tIns="0" rIns="0" bIns="0" anchor="t">
            <a:normAutofit/>
          </a:bodyPr>
          <a:lstStyle/>
          <a:p>
            <a:pPr algn="l">
              <a:defRPr sz="1200" b="1">
                <a:solidFill>
                  <a:srgbClr val="2457D6"/>
                </a:solidFill>
                <a:latin typeface="Aptos"/>
                <a:ea typeface="Aptos"/>
                <a:cs typeface="Aptos"/>
              </a:defRPr>
            </a:pPr>
            <a:r>
              <a:rPr sz="1200" b="1">
                <a:solidFill>
                  <a:srgbClr val="2457D6"/>
                </a:solidFill>
                <a:latin typeface="Aptos"/>
                <a:ea typeface="Aptos"/>
                <a:cs typeface="Aptos"/>
              </a:rPr>
              <a:t>Experiment 4: limitations and next steps</a:t>
            </a:r>
          </a:p>
        </p:txBody>
      </p:sp>
    </p:spTree>
    <p:extLst>
      <p:ext uri="{BB962C8B-B14F-4D97-AF65-F5344CB8AC3E}">
        <p14:creationId xmlns:p14="http://schemas.microsoft.com/office/powerpoint/2010/main" val="1476181030"/>
      </p:ext>
    </p:extLst>
  </p:cSld>
  <p:clrMapOvr>
    <a:masterClrMapping/>
  </p:clrMapOvr>
</p:sld>
</file>

<file path=ppt/theme/theme1.xml><?xml version="1.0" encoding="utf-8"?>
<a:theme xmlns:a="http://schemas.openxmlformats.org/drawingml/2006/main" name="Research Presentation">
  <a:themeElements>
    <a:clrScheme name="Research Presentation">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Research Presentati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Research Presentation">
  <a:themeElements>
    <a:clrScheme name="Research Presentation">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Research Presentatio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6193</Words>
  <Application>Microsoft Office PowerPoint</Application>
  <DocSecurity>0</DocSecurity>
  <PresentationFormat>宽屏</PresentationFormat>
  <Paragraphs>496</Paragraphs>
  <Slides>29</Slides>
  <Notes>29</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29</vt:i4>
      </vt:variant>
    </vt:vector>
  </HeadingPairs>
  <TitlesOfParts>
    <vt:vector size="32" baseType="lpstr">
      <vt:lpstr>Aptos</vt:lpstr>
      <vt:lpstr>Calibri</vt:lpstr>
      <vt:lpstr>Research Presentation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haoxian you</cp:lastModifiedBy>
  <cp:revision>1</cp:revision>
  <dcterms:created xsi:type="dcterms:W3CDTF">2026-08-13T23:00:00Z</dcterms:created>
  <dcterms:modified xsi:type="dcterms:W3CDTF">2026-08-13T23:25:58Z</dcterms:modified>
</cp:coreProperties>
</file>